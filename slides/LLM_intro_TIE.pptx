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1" r:id="rId1"/>
    <p:sldMasterId id="2147483677" r:id="rId2"/>
  </p:sldMasterIdLst>
  <p:notesMasterIdLst>
    <p:notesMasterId r:id="rId28"/>
  </p:notesMasterIdLst>
  <p:sldIdLst>
    <p:sldId id="257" r:id="rId3"/>
    <p:sldId id="292" r:id="rId4"/>
    <p:sldId id="1802" r:id="rId5"/>
    <p:sldId id="1819" r:id="rId6"/>
    <p:sldId id="1805" r:id="rId7"/>
    <p:sldId id="1820" r:id="rId8"/>
    <p:sldId id="1778" r:id="rId9"/>
    <p:sldId id="1785" r:id="rId10"/>
    <p:sldId id="1813" r:id="rId11"/>
    <p:sldId id="1814" r:id="rId12"/>
    <p:sldId id="1815" r:id="rId13"/>
    <p:sldId id="1816" r:id="rId14"/>
    <p:sldId id="1817" r:id="rId15"/>
    <p:sldId id="1818" r:id="rId16"/>
    <p:sldId id="1811" r:id="rId17"/>
    <p:sldId id="1797" r:id="rId18"/>
    <p:sldId id="1798" r:id="rId19"/>
    <p:sldId id="1790" r:id="rId20"/>
    <p:sldId id="1791" r:id="rId21"/>
    <p:sldId id="1808" r:id="rId22"/>
    <p:sldId id="1809" r:id="rId23"/>
    <p:sldId id="1810" r:id="rId24"/>
    <p:sldId id="1792" r:id="rId25"/>
    <p:sldId id="1793" r:id="rId26"/>
    <p:sldId id="295" r:id="rId2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8600"/>
    <a:srgbClr val="F18600"/>
    <a:srgbClr val="EEEEEE"/>
    <a:srgbClr val="2B75B5"/>
    <a:srgbClr val="0E9ED5"/>
    <a:srgbClr val="6E629A"/>
    <a:srgbClr val="4974A1"/>
    <a:srgbClr val="7CA7D9"/>
    <a:srgbClr val="F6F9FE"/>
    <a:srgbClr val="9494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18"/>
    <p:restoredTop sz="94660"/>
  </p:normalViewPr>
  <p:slideViewPr>
    <p:cSldViewPr snapToGrid="0">
      <p:cViewPr varScale="1">
        <p:scale>
          <a:sx n="158" d="100"/>
          <a:sy n="158" d="100"/>
        </p:scale>
        <p:origin x="27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9" d="100"/>
        <a:sy n="19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9" name="Google Shape;10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>
            <a:spLocks noGrp="1"/>
          </p:cNvSpPr>
          <p:nvPr>
            <p:ph type="ctrTitle"/>
          </p:nvPr>
        </p:nvSpPr>
        <p:spPr>
          <a:xfrm>
            <a:off x="452734" y="1287379"/>
            <a:ext cx="4251613" cy="137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subTitle" idx="1"/>
          </p:nvPr>
        </p:nvSpPr>
        <p:spPr>
          <a:xfrm>
            <a:off x="452734" y="2658980"/>
            <a:ext cx="4251613" cy="818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1260"/>
              <a:buNone/>
              <a:defRPr sz="1575">
                <a:solidFill>
                  <a:srgbClr val="F2F2F2"/>
                </a:solidFill>
              </a:defRPr>
            </a:lvl1pPr>
            <a:lvl2pPr lvl="1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84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418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>
            <a:spLocks noGrp="1"/>
          </p:cNvSpPr>
          <p:nvPr>
            <p:ph type="title"/>
          </p:nvPr>
        </p:nvSpPr>
        <p:spPr>
          <a:xfrm>
            <a:off x="513159" y="169693"/>
            <a:ext cx="824583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body" idx="1" hasCustomPrompt="1"/>
          </p:nvPr>
        </p:nvSpPr>
        <p:spPr>
          <a:xfrm>
            <a:off x="513159" y="1438645"/>
            <a:ext cx="8245830" cy="271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394332" lvl="0" indent="-25717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50000"/>
              <a:buFont typeface="Arial" panose="020B0604020202020204" pitchFamily="34" charset="0"/>
              <a:buChar char="•"/>
              <a:defRPr sz="1800"/>
            </a:lvl1pPr>
            <a:lvl2pPr marL="808658" lvl="1" indent="-214313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Font typeface="Arial" panose="020B0604020202020204" pitchFamily="34" charset="0"/>
              <a:buChar char="•"/>
              <a:defRPr/>
            </a:lvl2pPr>
            <a:lvl3pPr marL="1371566" lvl="2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Font typeface="Wingdings" pitchFamily="2" charset="2"/>
              <a:buChar char="§"/>
              <a:defRPr/>
            </a:lvl3pPr>
            <a:lvl4pPr marL="1828754" lvl="3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Font typeface="Wingdings" pitchFamily="2" charset="2"/>
              <a:buChar char="Ø"/>
              <a:defRPr/>
            </a:lvl4pPr>
            <a:lvl5pPr marL="2285943" lvl="4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5pPr>
            <a:lvl6pPr marL="2743132" lvl="5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6pPr>
            <a:lvl7pPr marL="3200320" lvl="6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7pPr>
            <a:lvl8pPr marL="3657509" lvl="7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8pPr>
            <a:lvl9pPr marL="4114697" lvl="8" indent="-320032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440"/>
              <a:buChar char="▶"/>
              <a:defRPr/>
            </a:lvl9pPr>
          </a:lstStyle>
          <a:p>
            <a:r>
              <a:rPr lang="en-US" dirty="0"/>
              <a:t>A</a:t>
            </a:r>
          </a:p>
          <a:p>
            <a:pPr lvl="3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	</a:t>
            </a:r>
            <a:endParaRPr dirty="0"/>
          </a:p>
        </p:txBody>
      </p:sp>
      <p:sp>
        <p:nvSpPr>
          <p:cNvPr id="23" name="Google Shape;23;p22"/>
          <p:cNvSpPr txBox="1">
            <a:spLocks noGrp="1"/>
          </p:cNvSpPr>
          <p:nvPr>
            <p:ph type="dt" idx="10"/>
          </p:nvPr>
        </p:nvSpPr>
        <p:spPr>
          <a:xfrm>
            <a:off x="7930268" y="4874218"/>
            <a:ext cx="587277" cy="16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22"/>
          <p:cNvSpPr txBox="1">
            <a:spLocks noGrp="1"/>
          </p:cNvSpPr>
          <p:nvPr>
            <p:ph type="sldNum" idx="12"/>
          </p:nvPr>
        </p:nvSpPr>
        <p:spPr>
          <a:xfrm>
            <a:off x="8731471" y="4874218"/>
            <a:ext cx="388616" cy="16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883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513159" y="514351"/>
            <a:ext cx="6400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dt" idx="10"/>
          </p:nvPr>
        </p:nvSpPr>
        <p:spPr>
          <a:xfrm>
            <a:off x="7930268" y="4874218"/>
            <a:ext cx="587277" cy="16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23"/>
          <p:cNvSpPr txBox="1">
            <a:spLocks noGrp="1"/>
          </p:cNvSpPr>
          <p:nvPr>
            <p:ph type="sldNum" idx="12"/>
          </p:nvPr>
        </p:nvSpPr>
        <p:spPr>
          <a:xfrm>
            <a:off x="8749759" y="4874218"/>
            <a:ext cx="388616" cy="16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68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+Text">
  <p:cSld name="Header+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391239" y="276860"/>
            <a:ext cx="8214281" cy="607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entury Gothic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dt" idx="10"/>
          </p:nvPr>
        </p:nvSpPr>
        <p:spPr>
          <a:xfrm>
            <a:off x="7255058" y="4769780"/>
            <a:ext cx="9918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8363166" y="4769787"/>
            <a:ext cx="656339" cy="27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023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>
            <a:spLocks noGrp="1"/>
          </p:cNvSpPr>
          <p:nvPr>
            <p:ph type="title"/>
          </p:nvPr>
        </p:nvSpPr>
        <p:spPr>
          <a:xfrm>
            <a:off x="513159" y="179071"/>
            <a:ext cx="7543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body" idx="1"/>
          </p:nvPr>
        </p:nvSpPr>
        <p:spPr>
          <a:xfrm>
            <a:off x="513160" y="1442388"/>
            <a:ext cx="3703241" cy="271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189" lvl="0" indent="-32003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378" lvl="1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2pPr>
            <a:lvl3pPr marL="1371566" lvl="2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3pPr>
            <a:lvl4pPr marL="1828754" lvl="3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4pPr>
            <a:lvl5pPr marL="2285943" lvl="4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5pPr>
            <a:lvl6pPr marL="2743132" lvl="5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6pPr>
            <a:lvl7pPr marL="3200320" lvl="6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7pPr>
            <a:lvl8pPr marL="3657509" lvl="7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8pPr>
            <a:lvl9pPr marL="4114697" lvl="8" indent="-320032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body" idx="2"/>
          </p:nvPr>
        </p:nvSpPr>
        <p:spPr>
          <a:xfrm>
            <a:off x="4356101" y="1442388"/>
            <a:ext cx="3700859" cy="271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189" lvl="0" indent="-32003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378" lvl="1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2pPr>
            <a:lvl3pPr marL="1371566" lvl="2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3pPr>
            <a:lvl4pPr marL="1828754" lvl="3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4pPr>
            <a:lvl5pPr marL="2285943" lvl="4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5pPr>
            <a:lvl6pPr marL="2743132" lvl="5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6pPr>
            <a:lvl7pPr marL="3200320" lvl="6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7pPr>
            <a:lvl8pPr marL="3657509" lvl="7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8pPr>
            <a:lvl9pPr marL="4114697" lvl="8" indent="-320032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44" name="Google Shape;44;p27"/>
          <p:cNvSpPr txBox="1">
            <a:spLocks noGrp="1"/>
          </p:cNvSpPr>
          <p:nvPr>
            <p:ph type="dt" idx="10"/>
          </p:nvPr>
        </p:nvSpPr>
        <p:spPr>
          <a:xfrm>
            <a:off x="7930268" y="4874218"/>
            <a:ext cx="587277" cy="16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" name="Google Shape;45;p27"/>
          <p:cNvSpPr txBox="1">
            <a:spLocks noGrp="1"/>
          </p:cNvSpPr>
          <p:nvPr>
            <p:ph type="sldNum" idx="12"/>
          </p:nvPr>
        </p:nvSpPr>
        <p:spPr>
          <a:xfrm>
            <a:off x="8731471" y="4874218"/>
            <a:ext cx="388616" cy="16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748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8"/>
          <p:cNvSpPr txBox="1">
            <a:spLocks noGrp="1"/>
          </p:cNvSpPr>
          <p:nvPr>
            <p:ph type="title"/>
          </p:nvPr>
        </p:nvSpPr>
        <p:spPr>
          <a:xfrm>
            <a:off x="513159" y="339961"/>
            <a:ext cx="6400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body" idx="1"/>
          </p:nvPr>
        </p:nvSpPr>
        <p:spPr>
          <a:xfrm>
            <a:off x="513159" y="1784349"/>
            <a:ext cx="3703242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189" lvl="0" indent="-228594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680"/>
              <a:buNone/>
              <a:defRPr sz="2100" b="0">
                <a:solidFill>
                  <a:schemeClr val="lt1"/>
                </a:solidFill>
              </a:defRPr>
            </a:lvl1pPr>
            <a:lvl2pPr marL="914378" lvl="1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566" lvl="2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350" b="1"/>
            </a:lvl3pPr>
            <a:lvl4pPr marL="1828754" lvl="3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 b="1"/>
            </a:lvl4pPr>
            <a:lvl5pPr marL="2285943" lvl="4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 b="1"/>
            </a:lvl5pPr>
            <a:lvl6pPr marL="2743132" lvl="5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 b="1"/>
            </a:lvl6pPr>
            <a:lvl7pPr marL="3200320" lvl="6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 b="1"/>
            </a:lvl7pPr>
            <a:lvl8pPr marL="3657509" lvl="7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 b="1"/>
            </a:lvl8pPr>
            <a:lvl9pPr marL="4114697" lvl="8" indent="-228594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96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28"/>
          <p:cNvSpPr txBox="1">
            <a:spLocks noGrp="1"/>
          </p:cNvSpPr>
          <p:nvPr>
            <p:ph type="body" idx="2"/>
          </p:nvPr>
        </p:nvSpPr>
        <p:spPr>
          <a:xfrm>
            <a:off x="513160" y="2222896"/>
            <a:ext cx="3703241" cy="2272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2003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378" lvl="1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2pPr>
            <a:lvl3pPr marL="1371566" lvl="2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3pPr>
            <a:lvl4pPr marL="1828754" lvl="3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4pPr>
            <a:lvl5pPr marL="2285943" lvl="4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5pPr>
            <a:lvl6pPr marL="2743132" lvl="5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6pPr>
            <a:lvl7pPr marL="3200320" lvl="6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7pPr>
            <a:lvl8pPr marL="3657509" lvl="7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8pPr>
            <a:lvl9pPr marL="4114697" lvl="8" indent="-320032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50" name="Google Shape;50;p28"/>
          <p:cNvSpPr txBox="1">
            <a:spLocks noGrp="1"/>
          </p:cNvSpPr>
          <p:nvPr>
            <p:ph type="body" idx="3"/>
          </p:nvPr>
        </p:nvSpPr>
        <p:spPr>
          <a:xfrm>
            <a:off x="4354910" y="1784349"/>
            <a:ext cx="3703241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189" lvl="0" indent="-228594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680"/>
              <a:buNone/>
              <a:defRPr sz="2100" b="0">
                <a:solidFill>
                  <a:schemeClr val="lt1"/>
                </a:solidFill>
              </a:defRPr>
            </a:lvl1pPr>
            <a:lvl2pPr marL="914378" lvl="1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566" lvl="2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350" b="1"/>
            </a:lvl3pPr>
            <a:lvl4pPr marL="1828754" lvl="3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 b="1"/>
            </a:lvl4pPr>
            <a:lvl5pPr marL="2285943" lvl="4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 b="1"/>
            </a:lvl5pPr>
            <a:lvl6pPr marL="2743132" lvl="5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 b="1"/>
            </a:lvl6pPr>
            <a:lvl7pPr marL="3200320" lvl="6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 b="1"/>
            </a:lvl7pPr>
            <a:lvl8pPr marL="3657509" lvl="7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 b="1"/>
            </a:lvl8pPr>
            <a:lvl9pPr marL="4114697" lvl="8" indent="-228594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96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body" idx="4"/>
          </p:nvPr>
        </p:nvSpPr>
        <p:spPr>
          <a:xfrm>
            <a:off x="4354910" y="2216545"/>
            <a:ext cx="3696891" cy="2272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2003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378" lvl="1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2pPr>
            <a:lvl3pPr marL="1371566" lvl="2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3pPr>
            <a:lvl4pPr marL="1828754" lvl="3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4pPr>
            <a:lvl5pPr marL="2285943" lvl="4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5pPr>
            <a:lvl6pPr marL="2743132" lvl="5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6pPr>
            <a:lvl7pPr marL="3200320" lvl="6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7pPr>
            <a:lvl8pPr marL="3657509" lvl="7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8pPr>
            <a:lvl9pPr marL="4114697" lvl="8" indent="-320032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dt" idx="10"/>
          </p:nvPr>
        </p:nvSpPr>
        <p:spPr>
          <a:xfrm>
            <a:off x="7930268" y="4874218"/>
            <a:ext cx="587277" cy="16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731471" y="4874218"/>
            <a:ext cx="388616" cy="16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35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dt" idx="10"/>
          </p:nvPr>
        </p:nvSpPr>
        <p:spPr>
          <a:xfrm>
            <a:off x="7930268" y="4874218"/>
            <a:ext cx="587277" cy="16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29"/>
          <p:cNvSpPr txBox="1">
            <a:spLocks noGrp="1"/>
          </p:cNvSpPr>
          <p:nvPr>
            <p:ph type="sldNum" idx="12"/>
          </p:nvPr>
        </p:nvSpPr>
        <p:spPr>
          <a:xfrm>
            <a:off x="8722327" y="4874218"/>
            <a:ext cx="388616" cy="16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7" name="Google Shape;57;p29"/>
          <p:cNvSpPr/>
          <p:nvPr/>
        </p:nvSpPr>
        <p:spPr>
          <a:xfrm>
            <a:off x="0" y="0"/>
            <a:ext cx="9144000" cy="469750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" name="Google Shape;58;p29"/>
          <p:cNvSpPr txBox="1">
            <a:spLocks noGrp="1"/>
          </p:cNvSpPr>
          <p:nvPr>
            <p:ph type="body" idx="1"/>
          </p:nvPr>
        </p:nvSpPr>
        <p:spPr>
          <a:xfrm>
            <a:off x="513160" y="1012192"/>
            <a:ext cx="3754040" cy="340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262626"/>
                </a:solidFill>
              </a:defRPr>
            </a:lvl1pPr>
            <a:lvl2pPr marL="914378" lvl="1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350">
                <a:solidFill>
                  <a:schemeClr val="lt1"/>
                </a:solidFill>
              </a:defRPr>
            </a:lvl2pPr>
            <a:lvl3pPr marL="1371566" lvl="2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>
                <a:solidFill>
                  <a:schemeClr val="lt1"/>
                </a:solidFill>
              </a:defRPr>
            </a:lvl3pPr>
            <a:lvl4pPr marL="1828754" lvl="3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4pPr>
            <a:lvl5pPr marL="2285943" lvl="4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5pPr>
            <a:lvl6pPr marL="2743132" lvl="5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6pPr>
            <a:lvl7pPr marL="3200320" lvl="6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7pPr>
            <a:lvl8pPr marL="3657509" lvl="7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8pPr>
            <a:lvl9pPr marL="4114697" lvl="8" indent="-228594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840"/>
              <a:buNone/>
              <a:defRPr sz="10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body" idx="2"/>
          </p:nvPr>
        </p:nvSpPr>
        <p:spPr>
          <a:xfrm>
            <a:off x="4828580" y="1012190"/>
            <a:ext cx="3754040" cy="340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262626"/>
                </a:solidFill>
              </a:defRPr>
            </a:lvl1pPr>
            <a:lvl2pPr marL="914378" lvl="1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350">
                <a:solidFill>
                  <a:schemeClr val="lt1"/>
                </a:solidFill>
              </a:defRPr>
            </a:lvl2pPr>
            <a:lvl3pPr marL="1371566" lvl="2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>
                <a:solidFill>
                  <a:schemeClr val="lt1"/>
                </a:solidFill>
              </a:defRPr>
            </a:lvl3pPr>
            <a:lvl4pPr marL="1828754" lvl="3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4pPr>
            <a:lvl5pPr marL="2285943" lvl="4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5pPr>
            <a:lvl6pPr marL="2743132" lvl="5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6pPr>
            <a:lvl7pPr marL="3200320" lvl="6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7pPr>
            <a:lvl8pPr marL="3657509" lvl="7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8pPr>
            <a:lvl9pPr marL="4114697" lvl="8" indent="-228594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840"/>
              <a:buNone/>
              <a:defRPr sz="10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title"/>
          </p:nvPr>
        </p:nvSpPr>
        <p:spPr>
          <a:xfrm>
            <a:off x="513160" y="243843"/>
            <a:ext cx="8069460" cy="672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1800" b="1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29998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5313759" y="514350"/>
            <a:ext cx="27432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  <a:defRPr sz="1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 txBox="1">
            <a:spLocks noGrp="1"/>
          </p:cNvSpPr>
          <p:nvPr>
            <p:ph type="body" idx="1"/>
          </p:nvPr>
        </p:nvSpPr>
        <p:spPr>
          <a:xfrm>
            <a:off x="513160" y="514350"/>
            <a:ext cx="4457701" cy="398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189" lvl="0" indent="-32003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378" lvl="1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2pPr>
            <a:lvl3pPr marL="1371566" lvl="2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3pPr>
            <a:lvl4pPr marL="1828754" lvl="3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4pPr>
            <a:lvl5pPr marL="2285943" lvl="4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5pPr>
            <a:lvl6pPr marL="2743132" lvl="5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6pPr>
            <a:lvl7pPr marL="3200320" lvl="6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7pPr>
            <a:lvl8pPr marL="3657509" lvl="7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8pPr>
            <a:lvl9pPr marL="4114697" lvl="8" indent="-320032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64" name="Google Shape;64;p30"/>
          <p:cNvSpPr txBox="1">
            <a:spLocks noGrp="1"/>
          </p:cNvSpPr>
          <p:nvPr>
            <p:ph type="body" idx="2"/>
          </p:nvPr>
        </p:nvSpPr>
        <p:spPr>
          <a:xfrm>
            <a:off x="5313759" y="1657351"/>
            <a:ext cx="2743200" cy="156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960"/>
              <a:buNone/>
              <a:defRPr sz="1200"/>
            </a:lvl1pPr>
            <a:lvl2pPr marL="914378" lvl="1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720"/>
              <a:buNone/>
              <a:defRPr sz="900"/>
            </a:lvl2pPr>
            <a:lvl3pPr marL="1371566" lvl="2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00"/>
              <a:buNone/>
              <a:defRPr sz="750"/>
            </a:lvl3pPr>
            <a:lvl4pPr marL="1828754" lvl="3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40"/>
              <a:buNone/>
              <a:defRPr sz="675"/>
            </a:lvl4pPr>
            <a:lvl5pPr marL="2285943" lvl="4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40"/>
              <a:buNone/>
              <a:defRPr sz="675"/>
            </a:lvl5pPr>
            <a:lvl6pPr marL="2743132" lvl="5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40"/>
              <a:buNone/>
              <a:defRPr sz="675"/>
            </a:lvl6pPr>
            <a:lvl7pPr marL="3200320" lvl="6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40"/>
              <a:buNone/>
              <a:defRPr sz="675"/>
            </a:lvl7pPr>
            <a:lvl8pPr marL="3657509" lvl="7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40"/>
              <a:buNone/>
              <a:defRPr sz="675"/>
            </a:lvl8pPr>
            <a:lvl9pPr marL="4114697" lvl="8" indent="-228594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540"/>
              <a:buNone/>
              <a:defRPr sz="675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7930268" y="4874218"/>
            <a:ext cx="587277" cy="16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30"/>
          <p:cNvSpPr txBox="1">
            <a:spLocks noGrp="1"/>
          </p:cNvSpPr>
          <p:nvPr>
            <p:ph type="sldNum" idx="12"/>
          </p:nvPr>
        </p:nvSpPr>
        <p:spPr>
          <a:xfrm>
            <a:off x="8740615" y="4874218"/>
            <a:ext cx="388616" cy="16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673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1"/>
          <p:cNvSpPr txBox="1">
            <a:spLocks noGrp="1"/>
          </p:cNvSpPr>
          <p:nvPr>
            <p:ph type="title"/>
          </p:nvPr>
        </p:nvSpPr>
        <p:spPr>
          <a:xfrm>
            <a:off x="3542109" y="1085850"/>
            <a:ext cx="45148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sz="21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1"/>
          <p:cNvSpPr>
            <a:spLocks noGrp="1"/>
          </p:cNvSpPr>
          <p:nvPr>
            <p:ph type="pic" idx="2"/>
          </p:nvPr>
        </p:nvSpPr>
        <p:spPr>
          <a:xfrm>
            <a:off x="741760" y="685800"/>
            <a:ext cx="2460731" cy="3429000"/>
          </a:xfrm>
          <a:prstGeom prst="snip2DiagRect">
            <a:avLst>
              <a:gd name="adj1" fmla="val 10815"/>
              <a:gd name="adj2" fmla="val 0"/>
            </a:avLst>
          </a:prstGeom>
          <a:noFill/>
          <a:ln w="15875" cap="flat" cmpd="sng">
            <a:solidFill>
              <a:schemeClr val="l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>
            <a:off x="3542110" y="2082800"/>
            <a:ext cx="4516041" cy="1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080"/>
              <a:buNone/>
              <a:defRPr sz="1350"/>
            </a:lvl1pPr>
            <a:lvl2pPr marL="914378" lvl="1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720"/>
              <a:buNone/>
              <a:defRPr sz="900"/>
            </a:lvl2pPr>
            <a:lvl3pPr marL="1371566" lvl="2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00"/>
              <a:buNone/>
              <a:defRPr sz="750"/>
            </a:lvl3pPr>
            <a:lvl4pPr marL="1828754" lvl="3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40"/>
              <a:buNone/>
              <a:defRPr sz="675"/>
            </a:lvl4pPr>
            <a:lvl5pPr marL="2285943" lvl="4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40"/>
              <a:buNone/>
              <a:defRPr sz="675"/>
            </a:lvl5pPr>
            <a:lvl6pPr marL="2743132" lvl="5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40"/>
              <a:buNone/>
              <a:defRPr sz="675"/>
            </a:lvl6pPr>
            <a:lvl7pPr marL="3200320" lvl="6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40"/>
              <a:buNone/>
              <a:defRPr sz="675"/>
            </a:lvl7pPr>
            <a:lvl8pPr marL="3657509" lvl="7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40"/>
              <a:buNone/>
              <a:defRPr sz="675"/>
            </a:lvl8pPr>
            <a:lvl9pPr marL="4114697" lvl="8" indent="-228594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540"/>
              <a:buNone/>
              <a:defRPr sz="675"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7930268" y="4874218"/>
            <a:ext cx="587277" cy="16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31"/>
          <p:cNvSpPr txBox="1">
            <a:spLocks noGrp="1"/>
          </p:cNvSpPr>
          <p:nvPr>
            <p:ph type="sldNum" idx="12"/>
          </p:nvPr>
        </p:nvSpPr>
        <p:spPr>
          <a:xfrm>
            <a:off x="8740615" y="4874218"/>
            <a:ext cx="388616" cy="16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456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2"/>
          <p:cNvSpPr txBox="1">
            <a:spLocks noGrp="1"/>
          </p:cNvSpPr>
          <p:nvPr>
            <p:ph type="title"/>
          </p:nvPr>
        </p:nvSpPr>
        <p:spPr>
          <a:xfrm>
            <a:off x="513159" y="514351"/>
            <a:ext cx="6400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2"/>
          <p:cNvSpPr>
            <a:spLocks noGrp="1"/>
          </p:cNvSpPr>
          <p:nvPr>
            <p:ph type="pic" idx="2"/>
          </p:nvPr>
        </p:nvSpPr>
        <p:spPr>
          <a:xfrm>
            <a:off x="514351" y="400050"/>
            <a:ext cx="8114109" cy="2343150"/>
          </a:xfrm>
          <a:prstGeom prst="snip2DiagRect">
            <a:avLst>
              <a:gd name="adj1" fmla="val 10815"/>
              <a:gd name="adj2" fmla="val 0"/>
            </a:avLst>
          </a:prstGeom>
          <a:noFill/>
          <a:ln w="15875" cap="flat" cmpd="sng">
            <a:solidFill>
              <a:schemeClr val="l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>
            <a:off x="685801" y="2882900"/>
            <a:ext cx="622815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960"/>
              <a:buFont typeface="Century Gothic"/>
              <a:buNone/>
              <a:defRPr sz="1200"/>
            </a:lvl1pPr>
            <a:lvl2pPr marL="914378" lvl="1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0"/>
              <a:buFont typeface="Century Gothic"/>
              <a:buNone/>
              <a:defRPr/>
            </a:lvl2pPr>
            <a:lvl3pPr marL="1371566" lvl="2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Font typeface="Century Gothic"/>
              <a:buNone/>
              <a:defRPr/>
            </a:lvl3pPr>
            <a:lvl4pPr marL="1828754" lvl="3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Font typeface="Century Gothic"/>
              <a:buNone/>
              <a:defRPr/>
            </a:lvl4pPr>
            <a:lvl5pPr marL="2285943" lvl="4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Font typeface="Century Gothic"/>
              <a:buNone/>
              <a:defRPr/>
            </a:lvl5pPr>
            <a:lvl6pPr marL="2743132" lvl="5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6pPr>
            <a:lvl7pPr marL="3200320" lvl="6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7pPr>
            <a:lvl8pPr marL="3657509" lvl="7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8pPr>
            <a:lvl9pPr marL="4114697" lvl="8" indent="-320032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7930268" y="4874218"/>
            <a:ext cx="587277" cy="16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32"/>
          <p:cNvSpPr txBox="1">
            <a:spLocks noGrp="1"/>
          </p:cNvSpPr>
          <p:nvPr>
            <p:ph type="sldNum" idx="12"/>
          </p:nvPr>
        </p:nvSpPr>
        <p:spPr>
          <a:xfrm>
            <a:off x="8722327" y="4874218"/>
            <a:ext cx="388616" cy="16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870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3"/>
          <p:cNvSpPr txBox="1">
            <a:spLocks noGrp="1"/>
          </p:cNvSpPr>
          <p:nvPr>
            <p:ph type="title"/>
          </p:nvPr>
        </p:nvSpPr>
        <p:spPr>
          <a:xfrm>
            <a:off x="856060" y="514350"/>
            <a:ext cx="6858001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 b="1" i="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3"/>
          <p:cNvSpPr txBox="1">
            <a:spLocks noGrp="1"/>
          </p:cNvSpPr>
          <p:nvPr>
            <p:ph type="body" idx="1"/>
          </p:nvPr>
        </p:nvSpPr>
        <p:spPr>
          <a:xfrm>
            <a:off x="1084659" y="2571750"/>
            <a:ext cx="6400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189" lvl="0" indent="-22859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1pPr>
            <a:lvl2pPr marL="914378" lvl="1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0"/>
              <a:buFont typeface="Century Gothic"/>
              <a:buNone/>
              <a:defRPr/>
            </a:lvl2pPr>
            <a:lvl3pPr marL="1371566" lvl="2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Font typeface="Century Gothic"/>
              <a:buNone/>
              <a:defRPr/>
            </a:lvl3pPr>
            <a:lvl4pPr marL="1828754" lvl="3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Font typeface="Century Gothic"/>
              <a:buNone/>
              <a:defRPr/>
            </a:lvl4pPr>
            <a:lvl5pPr marL="2285943" lvl="4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Font typeface="Century Gothic"/>
              <a:buNone/>
              <a:defRPr/>
            </a:lvl5pPr>
            <a:lvl6pPr marL="2743132" lvl="5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6pPr>
            <a:lvl7pPr marL="3200320" lvl="6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7pPr>
            <a:lvl8pPr marL="3657509" lvl="7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8pPr>
            <a:lvl9pPr marL="4114697" lvl="8" indent="-320032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82" name="Google Shape;82;p33"/>
          <p:cNvSpPr txBox="1">
            <a:spLocks noGrp="1"/>
          </p:cNvSpPr>
          <p:nvPr>
            <p:ph type="body" idx="2"/>
          </p:nvPr>
        </p:nvSpPr>
        <p:spPr>
          <a:xfrm>
            <a:off x="513160" y="3225802"/>
            <a:ext cx="6400800" cy="1263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189" lvl="0" indent="-22859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F2F2F2"/>
                </a:solidFill>
              </a:defRPr>
            </a:lvl1pPr>
            <a:lvl2pPr marL="914378" lvl="1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350">
                <a:solidFill>
                  <a:schemeClr val="lt1"/>
                </a:solidFill>
              </a:defRPr>
            </a:lvl2pPr>
            <a:lvl3pPr marL="1371566" lvl="2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>
                <a:solidFill>
                  <a:schemeClr val="lt1"/>
                </a:solidFill>
              </a:defRPr>
            </a:lvl3pPr>
            <a:lvl4pPr marL="1828754" lvl="3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4pPr>
            <a:lvl5pPr marL="2285943" lvl="4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5pPr>
            <a:lvl6pPr marL="2743132" lvl="5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6pPr>
            <a:lvl7pPr marL="3200320" lvl="6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7pPr>
            <a:lvl8pPr marL="3657509" lvl="7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8pPr>
            <a:lvl9pPr marL="4114697" lvl="8" indent="-228594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840"/>
              <a:buNone/>
              <a:defRPr sz="10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3"/>
          <p:cNvSpPr txBox="1">
            <a:spLocks noGrp="1"/>
          </p:cNvSpPr>
          <p:nvPr>
            <p:ph type="dt" idx="10"/>
          </p:nvPr>
        </p:nvSpPr>
        <p:spPr>
          <a:xfrm>
            <a:off x="7930268" y="4874218"/>
            <a:ext cx="587277" cy="16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4" name="Google Shape;84;p33"/>
          <p:cNvSpPr txBox="1">
            <a:spLocks noGrp="1"/>
          </p:cNvSpPr>
          <p:nvPr>
            <p:ph type="sldNum" idx="12"/>
          </p:nvPr>
        </p:nvSpPr>
        <p:spPr>
          <a:xfrm>
            <a:off x="8731471" y="4874218"/>
            <a:ext cx="388616" cy="16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5" name="Google Shape;85;p33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0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3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0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6093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4"/>
          <p:cNvSpPr txBox="1">
            <a:spLocks noGrp="1"/>
          </p:cNvSpPr>
          <p:nvPr>
            <p:ph type="title"/>
          </p:nvPr>
        </p:nvSpPr>
        <p:spPr>
          <a:xfrm>
            <a:off x="513159" y="2571750"/>
            <a:ext cx="6400800" cy="1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4"/>
          <p:cNvSpPr txBox="1">
            <a:spLocks noGrp="1"/>
          </p:cNvSpPr>
          <p:nvPr>
            <p:ph type="body" idx="1"/>
          </p:nvPr>
        </p:nvSpPr>
        <p:spPr>
          <a:xfrm>
            <a:off x="513159" y="3849736"/>
            <a:ext cx="6401993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D8D8D8"/>
                </a:solidFill>
              </a:defRPr>
            </a:lvl1pPr>
            <a:lvl2pPr marL="914378" lvl="1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350">
                <a:solidFill>
                  <a:schemeClr val="lt1"/>
                </a:solidFill>
              </a:defRPr>
            </a:lvl2pPr>
            <a:lvl3pPr marL="1371566" lvl="2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>
                <a:solidFill>
                  <a:schemeClr val="lt1"/>
                </a:solidFill>
              </a:defRPr>
            </a:lvl3pPr>
            <a:lvl4pPr marL="1828754" lvl="3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4pPr>
            <a:lvl5pPr marL="2285943" lvl="4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5pPr>
            <a:lvl6pPr marL="2743132" lvl="5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6pPr>
            <a:lvl7pPr marL="3200320" lvl="6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7pPr>
            <a:lvl8pPr marL="3657509" lvl="7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8pPr>
            <a:lvl9pPr marL="4114697" lvl="8" indent="-228594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840"/>
              <a:buNone/>
              <a:defRPr sz="10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34"/>
          <p:cNvSpPr txBox="1">
            <a:spLocks noGrp="1"/>
          </p:cNvSpPr>
          <p:nvPr>
            <p:ph type="dt" idx="10"/>
          </p:nvPr>
        </p:nvSpPr>
        <p:spPr>
          <a:xfrm>
            <a:off x="7930268" y="4874218"/>
            <a:ext cx="587277" cy="16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1" name="Google Shape;91;p34"/>
          <p:cNvSpPr txBox="1">
            <a:spLocks noGrp="1"/>
          </p:cNvSpPr>
          <p:nvPr>
            <p:ph type="sldNum" idx="12"/>
          </p:nvPr>
        </p:nvSpPr>
        <p:spPr>
          <a:xfrm>
            <a:off x="8722327" y="4874218"/>
            <a:ext cx="388616" cy="16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16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5"/>
          <p:cNvSpPr txBox="1">
            <a:spLocks noGrp="1"/>
          </p:cNvSpPr>
          <p:nvPr>
            <p:ph type="title"/>
          </p:nvPr>
        </p:nvSpPr>
        <p:spPr>
          <a:xfrm>
            <a:off x="856060" y="514350"/>
            <a:ext cx="68580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 b="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5"/>
          <p:cNvSpPr txBox="1">
            <a:spLocks noGrp="1"/>
          </p:cNvSpPr>
          <p:nvPr>
            <p:ph type="body" idx="1"/>
          </p:nvPr>
        </p:nvSpPr>
        <p:spPr>
          <a:xfrm>
            <a:off x="513160" y="2946400"/>
            <a:ext cx="6400801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 sz="1800" b="0" cap="none">
                <a:solidFill>
                  <a:schemeClr val="lt1"/>
                </a:solidFill>
              </a:defRPr>
            </a:lvl1pPr>
            <a:lvl2pPr marL="914378" lvl="1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2pPr>
            <a:lvl3pPr marL="1371566" lvl="2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3pPr>
            <a:lvl4pPr marL="1828754" lvl="3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4pPr>
            <a:lvl5pPr marL="2285943" lvl="4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5pPr>
            <a:lvl6pPr marL="2743132" lvl="5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6pPr>
            <a:lvl7pPr marL="3200320" lvl="6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7pPr>
            <a:lvl8pPr marL="3657509" lvl="7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8pPr>
            <a:lvl9pPr marL="4114697" lvl="8" indent="-320032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95" name="Google Shape;95;p35"/>
          <p:cNvSpPr txBox="1">
            <a:spLocks noGrp="1"/>
          </p:cNvSpPr>
          <p:nvPr>
            <p:ph type="body" idx="2"/>
          </p:nvPr>
        </p:nvSpPr>
        <p:spPr>
          <a:xfrm>
            <a:off x="513160" y="3733800"/>
            <a:ext cx="6400801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D8D8D8"/>
                </a:solidFill>
              </a:defRPr>
            </a:lvl1pPr>
            <a:lvl2pPr marL="914378" lvl="1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350">
                <a:solidFill>
                  <a:schemeClr val="lt1"/>
                </a:solidFill>
              </a:defRPr>
            </a:lvl2pPr>
            <a:lvl3pPr marL="1371566" lvl="2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>
                <a:solidFill>
                  <a:schemeClr val="lt1"/>
                </a:solidFill>
              </a:defRPr>
            </a:lvl3pPr>
            <a:lvl4pPr marL="1828754" lvl="3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4pPr>
            <a:lvl5pPr marL="2285943" lvl="4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5pPr>
            <a:lvl6pPr marL="2743132" lvl="5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6pPr>
            <a:lvl7pPr marL="3200320" lvl="6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7pPr>
            <a:lvl8pPr marL="3657509" lvl="7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8pPr>
            <a:lvl9pPr marL="4114697" lvl="8" indent="-228594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840"/>
              <a:buNone/>
              <a:defRPr sz="10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35"/>
          <p:cNvSpPr txBox="1">
            <a:spLocks noGrp="1"/>
          </p:cNvSpPr>
          <p:nvPr>
            <p:ph type="dt" idx="10"/>
          </p:nvPr>
        </p:nvSpPr>
        <p:spPr>
          <a:xfrm>
            <a:off x="7930268" y="4874218"/>
            <a:ext cx="587277" cy="16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7" name="Google Shape;97;p35"/>
          <p:cNvSpPr txBox="1">
            <a:spLocks noGrp="1"/>
          </p:cNvSpPr>
          <p:nvPr>
            <p:ph type="sldNum" idx="12"/>
          </p:nvPr>
        </p:nvSpPr>
        <p:spPr>
          <a:xfrm>
            <a:off x="8749759" y="4874218"/>
            <a:ext cx="388616" cy="16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8" name="Google Shape;98;p35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0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5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0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158022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6"/>
          <p:cNvSpPr txBox="1"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entury Gothic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6"/>
          <p:cNvSpPr txBox="1">
            <a:spLocks noGrp="1"/>
          </p:cNvSpPr>
          <p:nvPr>
            <p:ph type="body" idx="1"/>
          </p:nvPr>
        </p:nvSpPr>
        <p:spPr>
          <a:xfrm>
            <a:off x="513159" y="2946401"/>
            <a:ext cx="64008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 sz="1800" b="0" cap="none">
                <a:solidFill>
                  <a:schemeClr val="lt1"/>
                </a:solidFill>
              </a:defRPr>
            </a:lvl1pPr>
            <a:lvl2pPr marL="914378" lvl="1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2pPr>
            <a:lvl3pPr marL="1371566" lvl="2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3pPr>
            <a:lvl4pPr marL="1828754" lvl="3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4pPr>
            <a:lvl5pPr marL="2285943" lvl="4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5pPr>
            <a:lvl6pPr marL="2743132" lvl="5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6pPr>
            <a:lvl7pPr marL="3200320" lvl="6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7pPr>
            <a:lvl8pPr marL="3657509" lvl="7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8pPr>
            <a:lvl9pPr marL="4114697" lvl="8" indent="-320032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03" name="Google Shape;103;p36"/>
          <p:cNvSpPr txBox="1">
            <a:spLocks noGrp="1"/>
          </p:cNvSpPr>
          <p:nvPr>
            <p:ph type="body" idx="2"/>
          </p:nvPr>
        </p:nvSpPr>
        <p:spPr>
          <a:xfrm>
            <a:off x="513160" y="3575049"/>
            <a:ext cx="6400801" cy="92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F2F2F2"/>
                </a:solidFill>
              </a:defRPr>
            </a:lvl1pPr>
            <a:lvl2pPr marL="914378" lvl="1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350">
                <a:solidFill>
                  <a:schemeClr val="lt1"/>
                </a:solidFill>
              </a:defRPr>
            </a:lvl2pPr>
            <a:lvl3pPr marL="1371566" lvl="2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>
                <a:solidFill>
                  <a:schemeClr val="lt1"/>
                </a:solidFill>
              </a:defRPr>
            </a:lvl3pPr>
            <a:lvl4pPr marL="1828754" lvl="3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4pPr>
            <a:lvl5pPr marL="2285943" lvl="4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5pPr>
            <a:lvl6pPr marL="2743132" lvl="5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6pPr>
            <a:lvl7pPr marL="3200320" lvl="6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7pPr>
            <a:lvl8pPr marL="3657509" lvl="7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8pPr>
            <a:lvl9pPr marL="4114697" lvl="8" indent="-228594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840"/>
              <a:buNone/>
              <a:defRPr sz="10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36"/>
          <p:cNvSpPr txBox="1">
            <a:spLocks noGrp="1"/>
          </p:cNvSpPr>
          <p:nvPr>
            <p:ph type="dt" idx="10"/>
          </p:nvPr>
        </p:nvSpPr>
        <p:spPr>
          <a:xfrm>
            <a:off x="7930268" y="4874218"/>
            <a:ext cx="587277" cy="16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5" name="Google Shape;105;p36"/>
          <p:cNvSpPr txBox="1">
            <a:spLocks noGrp="1"/>
          </p:cNvSpPr>
          <p:nvPr>
            <p:ph type="sldNum" idx="12"/>
          </p:nvPr>
        </p:nvSpPr>
        <p:spPr>
          <a:xfrm>
            <a:off x="8731471" y="4874218"/>
            <a:ext cx="388616" cy="16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7986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type="tx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>
            <a:spLocks noGrp="1"/>
          </p:cNvSpPr>
          <p:nvPr>
            <p:ph type="title"/>
          </p:nvPr>
        </p:nvSpPr>
        <p:spPr>
          <a:xfrm>
            <a:off x="513159" y="514351"/>
            <a:ext cx="6400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body" idx="1"/>
          </p:nvPr>
        </p:nvSpPr>
        <p:spPr>
          <a:xfrm>
            <a:off x="513159" y="1786524"/>
            <a:ext cx="6400800" cy="271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189" lvl="0" indent="-32003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Font typeface="Arial" panose="020B0604020202020204" pitchFamily="34" charset="0"/>
              <a:buChar char="•"/>
              <a:defRPr/>
            </a:lvl1pPr>
            <a:lvl2pPr marL="914378" lvl="1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2pPr>
            <a:lvl3pPr marL="1371566" lvl="2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3pPr>
            <a:lvl4pPr marL="1828754" lvl="3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4pPr>
            <a:lvl5pPr marL="2285943" lvl="4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5pPr>
            <a:lvl6pPr marL="2743132" lvl="5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6pPr>
            <a:lvl7pPr marL="3200320" lvl="6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7pPr>
            <a:lvl8pPr marL="3657509" lvl="7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8pPr>
            <a:lvl9pPr marL="4114697" lvl="8" indent="-320032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440"/>
              <a:buChar char="▶"/>
              <a:defRPr/>
            </a:lvl9pPr>
          </a:lstStyle>
          <a:p>
            <a:endParaRPr dirty="0"/>
          </a:p>
        </p:txBody>
      </p:sp>
      <p:sp>
        <p:nvSpPr>
          <p:cNvPr id="28" name="Google Shape;28;p21"/>
          <p:cNvSpPr txBox="1">
            <a:spLocks noGrp="1"/>
          </p:cNvSpPr>
          <p:nvPr>
            <p:ph type="sldNum" idx="12"/>
          </p:nvPr>
        </p:nvSpPr>
        <p:spPr>
          <a:xfrm>
            <a:off x="8714233" y="4904138"/>
            <a:ext cx="305270" cy="139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3924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>
            <a:spLocks noGrp="1"/>
          </p:cNvSpPr>
          <p:nvPr>
            <p:ph type="ctrTitle"/>
          </p:nvPr>
        </p:nvSpPr>
        <p:spPr>
          <a:xfrm>
            <a:off x="452734" y="1287379"/>
            <a:ext cx="4251613" cy="137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subTitle" idx="1"/>
          </p:nvPr>
        </p:nvSpPr>
        <p:spPr>
          <a:xfrm>
            <a:off x="452734" y="2658980"/>
            <a:ext cx="4251613" cy="818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1260"/>
              <a:buNone/>
              <a:defRPr sz="1575">
                <a:solidFill>
                  <a:srgbClr val="F2F2F2"/>
                </a:solidFill>
              </a:defRPr>
            </a:lvl1pPr>
            <a:lvl2pPr lvl="1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84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8896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type="tx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>
            <a:spLocks noGrp="1"/>
          </p:cNvSpPr>
          <p:nvPr>
            <p:ph type="title"/>
          </p:nvPr>
        </p:nvSpPr>
        <p:spPr>
          <a:xfrm>
            <a:off x="513159" y="514351"/>
            <a:ext cx="6400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body" idx="1"/>
          </p:nvPr>
        </p:nvSpPr>
        <p:spPr>
          <a:xfrm>
            <a:off x="513159" y="1786524"/>
            <a:ext cx="6400800" cy="271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189" lvl="0" indent="-32003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Font typeface="Arial" panose="020B0604020202020204" pitchFamily="34" charset="0"/>
              <a:buChar char="•"/>
              <a:defRPr/>
            </a:lvl1pPr>
            <a:lvl2pPr marL="914378" lvl="1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2pPr>
            <a:lvl3pPr marL="1371566" lvl="2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3pPr>
            <a:lvl4pPr marL="1828754" lvl="3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4pPr>
            <a:lvl5pPr marL="2285943" lvl="4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5pPr>
            <a:lvl6pPr marL="2743132" lvl="5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6pPr>
            <a:lvl7pPr marL="3200320" lvl="6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7pPr>
            <a:lvl8pPr marL="3657509" lvl="7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8pPr>
            <a:lvl9pPr marL="4114697" lvl="8" indent="-320032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440"/>
              <a:buChar char="▶"/>
              <a:defRPr/>
            </a:lvl9pPr>
          </a:lstStyle>
          <a:p>
            <a:endParaRPr dirty="0"/>
          </a:p>
        </p:txBody>
      </p:sp>
      <p:sp>
        <p:nvSpPr>
          <p:cNvPr id="28" name="Google Shape;28;p21"/>
          <p:cNvSpPr txBox="1">
            <a:spLocks noGrp="1"/>
          </p:cNvSpPr>
          <p:nvPr>
            <p:ph type="sldNum" idx="12"/>
          </p:nvPr>
        </p:nvSpPr>
        <p:spPr>
          <a:xfrm>
            <a:off x="8714233" y="4904138"/>
            <a:ext cx="305270" cy="139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7400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>
            <a:spLocks noGrp="1"/>
          </p:cNvSpPr>
          <p:nvPr>
            <p:ph type="dt" idx="10"/>
          </p:nvPr>
        </p:nvSpPr>
        <p:spPr>
          <a:xfrm>
            <a:off x="7930268" y="4874218"/>
            <a:ext cx="587277" cy="16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" name="Google Shape;35;p24"/>
          <p:cNvSpPr txBox="1">
            <a:spLocks noGrp="1"/>
          </p:cNvSpPr>
          <p:nvPr>
            <p:ph type="sldNum" idx="12"/>
          </p:nvPr>
        </p:nvSpPr>
        <p:spPr>
          <a:xfrm>
            <a:off x="8722327" y="4874218"/>
            <a:ext cx="388616" cy="16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1242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+Text">
  <p:cSld name="Header+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391239" y="276860"/>
            <a:ext cx="8214281" cy="607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entury Gothic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dt" idx="10"/>
          </p:nvPr>
        </p:nvSpPr>
        <p:spPr>
          <a:xfrm>
            <a:off x="7255058" y="4769780"/>
            <a:ext cx="99185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8363166" y="4769787"/>
            <a:ext cx="656339" cy="27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7132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>
            <a:spLocks noGrp="1"/>
          </p:cNvSpPr>
          <p:nvPr>
            <p:ph type="title"/>
          </p:nvPr>
        </p:nvSpPr>
        <p:spPr>
          <a:xfrm>
            <a:off x="513159" y="179071"/>
            <a:ext cx="7543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body" idx="1"/>
          </p:nvPr>
        </p:nvSpPr>
        <p:spPr>
          <a:xfrm>
            <a:off x="513160" y="1442388"/>
            <a:ext cx="3703241" cy="271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189" lvl="0" indent="-32003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378" lvl="1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2pPr>
            <a:lvl3pPr marL="1371566" lvl="2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3pPr>
            <a:lvl4pPr marL="1828754" lvl="3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4pPr>
            <a:lvl5pPr marL="2285943" lvl="4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5pPr>
            <a:lvl6pPr marL="2743132" lvl="5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6pPr>
            <a:lvl7pPr marL="3200320" lvl="6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7pPr>
            <a:lvl8pPr marL="3657509" lvl="7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8pPr>
            <a:lvl9pPr marL="4114697" lvl="8" indent="-320032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body" idx="2"/>
          </p:nvPr>
        </p:nvSpPr>
        <p:spPr>
          <a:xfrm>
            <a:off x="4356101" y="1442388"/>
            <a:ext cx="3700859" cy="271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189" lvl="0" indent="-32003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378" lvl="1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2pPr>
            <a:lvl3pPr marL="1371566" lvl="2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3pPr>
            <a:lvl4pPr marL="1828754" lvl="3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4pPr>
            <a:lvl5pPr marL="2285943" lvl="4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5pPr>
            <a:lvl6pPr marL="2743132" lvl="5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6pPr>
            <a:lvl7pPr marL="3200320" lvl="6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7pPr>
            <a:lvl8pPr marL="3657509" lvl="7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8pPr>
            <a:lvl9pPr marL="4114697" lvl="8" indent="-320032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44" name="Google Shape;44;p27"/>
          <p:cNvSpPr txBox="1">
            <a:spLocks noGrp="1"/>
          </p:cNvSpPr>
          <p:nvPr>
            <p:ph type="dt" idx="10"/>
          </p:nvPr>
        </p:nvSpPr>
        <p:spPr>
          <a:xfrm>
            <a:off x="7930268" y="4874218"/>
            <a:ext cx="587277" cy="16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" name="Google Shape;45;p27"/>
          <p:cNvSpPr txBox="1">
            <a:spLocks noGrp="1"/>
          </p:cNvSpPr>
          <p:nvPr>
            <p:ph type="sldNum" idx="12"/>
          </p:nvPr>
        </p:nvSpPr>
        <p:spPr>
          <a:xfrm>
            <a:off x="8731471" y="4874218"/>
            <a:ext cx="388616" cy="16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2172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8"/>
          <p:cNvSpPr txBox="1">
            <a:spLocks noGrp="1"/>
          </p:cNvSpPr>
          <p:nvPr>
            <p:ph type="title"/>
          </p:nvPr>
        </p:nvSpPr>
        <p:spPr>
          <a:xfrm>
            <a:off x="513159" y="339961"/>
            <a:ext cx="6400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body" idx="1"/>
          </p:nvPr>
        </p:nvSpPr>
        <p:spPr>
          <a:xfrm>
            <a:off x="513159" y="1784349"/>
            <a:ext cx="3703242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189" lvl="0" indent="-228594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680"/>
              <a:buNone/>
              <a:defRPr sz="2100" b="0">
                <a:solidFill>
                  <a:schemeClr val="lt1"/>
                </a:solidFill>
              </a:defRPr>
            </a:lvl1pPr>
            <a:lvl2pPr marL="914378" lvl="1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566" lvl="2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350" b="1"/>
            </a:lvl3pPr>
            <a:lvl4pPr marL="1828754" lvl="3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 b="1"/>
            </a:lvl4pPr>
            <a:lvl5pPr marL="2285943" lvl="4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 b="1"/>
            </a:lvl5pPr>
            <a:lvl6pPr marL="2743132" lvl="5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 b="1"/>
            </a:lvl6pPr>
            <a:lvl7pPr marL="3200320" lvl="6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 b="1"/>
            </a:lvl7pPr>
            <a:lvl8pPr marL="3657509" lvl="7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 b="1"/>
            </a:lvl8pPr>
            <a:lvl9pPr marL="4114697" lvl="8" indent="-228594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96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28"/>
          <p:cNvSpPr txBox="1">
            <a:spLocks noGrp="1"/>
          </p:cNvSpPr>
          <p:nvPr>
            <p:ph type="body" idx="2"/>
          </p:nvPr>
        </p:nvSpPr>
        <p:spPr>
          <a:xfrm>
            <a:off x="513160" y="2222896"/>
            <a:ext cx="3703241" cy="2272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2003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378" lvl="1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2pPr>
            <a:lvl3pPr marL="1371566" lvl="2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3pPr>
            <a:lvl4pPr marL="1828754" lvl="3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4pPr>
            <a:lvl5pPr marL="2285943" lvl="4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5pPr>
            <a:lvl6pPr marL="2743132" lvl="5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6pPr>
            <a:lvl7pPr marL="3200320" lvl="6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7pPr>
            <a:lvl8pPr marL="3657509" lvl="7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8pPr>
            <a:lvl9pPr marL="4114697" lvl="8" indent="-320032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50" name="Google Shape;50;p28"/>
          <p:cNvSpPr txBox="1">
            <a:spLocks noGrp="1"/>
          </p:cNvSpPr>
          <p:nvPr>
            <p:ph type="body" idx="3"/>
          </p:nvPr>
        </p:nvSpPr>
        <p:spPr>
          <a:xfrm>
            <a:off x="4354910" y="1784349"/>
            <a:ext cx="3703241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189" lvl="0" indent="-228594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680"/>
              <a:buNone/>
              <a:defRPr sz="2100" b="0">
                <a:solidFill>
                  <a:schemeClr val="lt1"/>
                </a:solidFill>
              </a:defRPr>
            </a:lvl1pPr>
            <a:lvl2pPr marL="914378" lvl="1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566" lvl="2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350" b="1"/>
            </a:lvl3pPr>
            <a:lvl4pPr marL="1828754" lvl="3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 b="1"/>
            </a:lvl4pPr>
            <a:lvl5pPr marL="2285943" lvl="4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 b="1"/>
            </a:lvl5pPr>
            <a:lvl6pPr marL="2743132" lvl="5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 b="1"/>
            </a:lvl6pPr>
            <a:lvl7pPr marL="3200320" lvl="6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 b="1"/>
            </a:lvl7pPr>
            <a:lvl8pPr marL="3657509" lvl="7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 b="1"/>
            </a:lvl8pPr>
            <a:lvl9pPr marL="4114697" lvl="8" indent="-228594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96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body" idx="4"/>
          </p:nvPr>
        </p:nvSpPr>
        <p:spPr>
          <a:xfrm>
            <a:off x="4354910" y="2216545"/>
            <a:ext cx="3696891" cy="2272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2003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378" lvl="1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2pPr>
            <a:lvl3pPr marL="1371566" lvl="2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3pPr>
            <a:lvl4pPr marL="1828754" lvl="3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4pPr>
            <a:lvl5pPr marL="2285943" lvl="4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5pPr>
            <a:lvl6pPr marL="2743132" lvl="5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6pPr>
            <a:lvl7pPr marL="3200320" lvl="6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7pPr>
            <a:lvl8pPr marL="3657509" lvl="7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8pPr>
            <a:lvl9pPr marL="4114697" lvl="8" indent="-320032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dt" idx="10"/>
          </p:nvPr>
        </p:nvSpPr>
        <p:spPr>
          <a:xfrm>
            <a:off x="7930268" y="4874218"/>
            <a:ext cx="587277" cy="16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731471" y="4874218"/>
            <a:ext cx="388616" cy="16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2403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dt" idx="10"/>
          </p:nvPr>
        </p:nvSpPr>
        <p:spPr>
          <a:xfrm>
            <a:off x="7930268" y="4874218"/>
            <a:ext cx="587277" cy="16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29"/>
          <p:cNvSpPr txBox="1">
            <a:spLocks noGrp="1"/>
          </p:cNvSpPr>
          <p:nvPr>
            <p:ph type="sldNum" idx="12"/>
          </p:nvPr>
        </p:nvSpPr>
        <p:spPr>
          <a:xfrm>
            <a:off x="8722327" y="4874218"/>
            <a:ext cx="388616" cy="16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7" name="Google Shape;57;p29"/>
          <p:cNvSpPr/>
          <p:nvPr/>
        </p:nvSpPr>
        <p:spPr>
          <a:xfrm>
            <a:off x="0" y="0"/>
            <a:ext cx="9144000" cy="469750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" name="Google Shape;58;p29"/>
          <p:cNvSpPr txBox="1">
            <a:spLocks noGrp="1"/>
          </p:cNvSpPr>
          <p:nvPr>
            <p:ph type="body" idx="1"/>
          </p:nvPr>
        </p:nvSpPr>
        <p:spPr>
          <a:xfrm>
            <a:off x="513160" y="1012192"/>
            <a:ext cx="3754040" cy="340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262626"/>
                </a:solidFill>
              </a:defRPr>
            </a:lvl1pPr>
            <a:lvl2pPr marL="914378" lvl="1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350">
                <a:solidFill>
                  <a:schemeClr val="lt1"/>
                </a:solidFill>
              </a:defRPr>
            </a:lvl2pPr>
            <a:lvl3pPr marL="1371566" lvl="2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>
                <a:solidFill>
                  <a:schemeClr val="lt1"/>
                </a:solidFill>
              </a:defRPr>
            </a:lvl3pPr>
            <a:lvl4pPr marL="1828754" lvl="3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4pPr>
            <a:lvl5pPr marL="2285943" lvl="4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5pPr>
            <a:lvl6pPr marL="2743132" lvl="5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6pPr>
            <a:lvl7pPr marL="3200320" lvl="6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7pPr>
            <a:lvl8pPr marL="3657509" lvl="7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8pPr>
            <a:lvl9pPr marL="4114697" lvl="8" indent="-228594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840"/>
              <a:buNone/>
              <a:defRPr sz="10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body" idx="2"/>
          </p:nvPr>
        </p:nvSpPr>
        <p:spPr>
          <a:xfrm>
            <a:off x="4828580" y="1012190"/>
            <a:ext cx="3754040" cy="340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262626"/>
                </a:solidFill>
              </a:defRPr>
            </a:lvl1pPr>
            <a:lvl2pPr marL="914378" lvl="1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350">
                <a:solidFill>
                  <a:schemeClr val="lt1"/>
                </a:solidFill>
              </a:defRPr>
            </a:lvl2pPr>
            <a:lvl3pPr marL="1371566" lvl="2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>
                <a:solidFill>
                  <a:schemeClr val="lt1"/>
                </a:solidFill>
              </a:defRPr>
            </a:lvl3pPr>
            <a:lvl4pPr marL="1828754" lvl="3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4pPr>
            <a:lvl5pPr marL="2285943" lvl="4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5pPr>
            <a:lvl6pPr marL="2743132" lvl="5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6pPr>
            <a:lvl7pPr marL="3200320" lvl="6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7pPr>
            <a:lvl8pPr marL="3657509" lvl="7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8pPr>
            <a:lvl9pPr marL="4114697" lvl="8" indent="-228594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840"/>
              <a:buNone/>
              <a:defRPr sz="10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title"/>
          </p:nvPr>
        </p:nvSpPr>
        <p:spPr>
          <a:xfrm>
            <a:off x="513160" y="243843"/>
            <a:ext cx="8069460" cy="672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1800" b="1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852540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5313759" y="514350"/>
            <a:ext cx="27432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  <a:defRPr sz="1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 txBox="1">
            <a:spLocks noGrp="1"/>
          </p:cNvSpPr>
          <p:nvPr>
            <p:ph type="body" idx="1"/>
          </p:nvPr>
        </p:nvSpPr>
        <p:spPr>
          <a:xfrm>
            <a:off x="513160" y="514350"/>
            <a:ext cx="4457701" cy="398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189" lvl="0" indent="-32003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378" lvl="1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2pPr>
            <a:lvl3pPr marL="1371566" lvl="2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3pPr>
            <a:lvl4pPr marL="1828754" lvl="3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4pPr>
            <a:lvl5pPr marL="2285943" lvl="4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5pPr>
            <a:lvl6pPr marL="2743132" lvl="5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6pPr>
            <a:lvl7pPr marL="3200320" lvl="6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7pPr>
            <a:lvl8pPr marL="3657509" lvl="7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8pPr>
            <a:lvl9pPr marL="4114697" lvl="8" indent="-320032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64" name="Google Shape;64;p30"/>
          <p:cNvSpPr txBox="1">
            <a:spLocks noGrp="1"/>
          </p:cNvSpPr>
          <p:nvPr>
            <p:ph type="body" idx="2"/>
          </p:nvPr>
        </p:nvSpPr>
        <p:spPr>
          <a:xfrm>
            <a:off x="5313759" y="1657351"/>
            <a:ext cx="2743200" cy="156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960"/>
              <a:buNone/>
              <a:defRPr sz="1200"/>
            </a:lvl1pPr>
            <a:lvl2pPr marL="914378" lvl="1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720"/>
              <a:buNone/>
              <a:defRPr sz="900"/>
            </a:lvl2pPr>
            <a:lvl3pPr marL="1371566" lvl="2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00"/>
              <a:buNone/>
              <a:defRPr sz="750"/>
            </a:lvl3pPr>
            <a:lvl4pPr marL="1828754" lvl="3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40"/>
              <a:buNone/>
              <a:defRPr sz="675"/>
            </a:lvl4pPr>
            <a:lvl5pPr marL="2285943" lvl="4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40"/>
              <a:buNone/>
              <a:defRPr sz="675"/>
            </a:lvl5pPr>
            <a:lvl6pPr marL="2743132" lvl="5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40"/>
              <a:buNone/>
              <a:defRPr sz="675"/>
            </a:lvl6pPr>
            <a:lvl7pPr marL="3200320" lvl="6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40"/>
              <a:buNone/>
              <a:defRPr sz="675"/>
            </a:lvl7pPr>
            <a:lvl8pPr marL="3657509" lvl="7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40"/>
              <a:buNone/>
              <a:defRPr sz="675"/>
            </a:lvl8pPr>
            <a:lvl9pPr marL="4114697" lvl="8" indent="-228594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540"/>
              <a:buNone/>
              <a:defRPr sz="675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7930268" y="4874218"/>
            <a:ext cx="587277" cy="16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30"/>
          <p:cNvSpPr txBox="1">
            <a:spLocks noGrp="1"/>
          </p:cNvSpPr>
          <p:nvPr>
            <p:ph type="sldNum" idx="12"/>
          </p:nvPr>
        </p:nvSpPr>
        <p:spPr>
          <a:xfrm>
            <a:off x="8740615" y="4874218"/>
            <a:ext cx="388616" cy="16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989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1"/>
          <p:cNvSpPr txBox="1">
            <a:spLocks noGrp="1"/>
          </p:cNvSpPr>
          <p:nvPr>
            <p:ph type="title"/>
          </p:nvPr>
        </p:nvSpPr>
        <p:spPr>
          <a:xfrm>
            <a:off x="3542109" y="1085850"/>
            <a:ext cx="45148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sz="21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1"/>
          <p:cNvSpPr>
            <a:spLocks noGrp="1"/>
          </p:cNvSpPr>
          <p:nvPr>
            <p:ph type="pic" idx="2"/>
          </p:nvPr>
        </p:nvSpPr>
        <p:spPr>
          <a:xfrm>
            <a:off x="741760" y="685800"/>
            <a:ext cx="2460731" cy="3429000"/>
          </a:xfrm>
          <a:prstGeom prst="snip2DiagRect">
            <a:avLst>
              <a:gd name="adj1" fmla="val 10815"/>
              <a:gd name="adj2" fmla="val 0"/>
            </a:avLst>
          </a:prstGeom>
          <a:noFill/>
          <a:ln w="15875" cap="flat" cmpd="sng">
            <a:solidFill>
              <a:schemeClr val="l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>
            <a:off x="3542110" y="2082800"/>
            <a:ext cx="4516041" cy="1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080"/>
              <a:buNone/>
              <a:defRPr sz="1350"/>
            </a:lvl1pPr>
            <a:lvl2pPr marL="914378" lvl="1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720"/>
              <a:buNone/>
              <a:defRPr sz="900"/>
            </a:lvl2pPr>
            <a:lvl3pPr marL="1371566" lvl="2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00"/>
              <a:buNone/>
              <a:defRPr sz="750"/>
            </a:lvl3pPr>
            <a:lvl4pPr marL="1828754" lvl="3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40"/>
              <a:buNone/>
              <a:defRPr sz="675"/>
            </a:lvl4pPr>
            <a:lvl5pPr marL="2285943" lvl="4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40"/>
              <a:buNone/>
              <a:defRPr sz="675"/>
            </a:lvl5pPr>
            <a:lvl6pPr marL="2743132" lvl="5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40"/>
              <a:buNone/>
              <a:defRPr sz="675"/>
            </a:lvl6pPr>
            <a:lvl7pPr marL="3200320" lvl="6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40"/>
              <a:buNone/>
              <a:defRPr sz="675"/>
            </a:lvl7pPr>
            <a:lvl8pPr marL="3657509" lvl="7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40"/>
              <a:buNone/>
              <a:defRPr sz="675"/>
            </a:lvl8pPr>
            <a:lvl9pPr marL="4114697" lvl="8" indent="-228594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540"/>
              <a:buNone/>
              <a:defRPr sz="675"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7930268" y="4874218"/>
            <a:ext cx="587277" cy="16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31"/>
          <p:cNvSpPr txBox="1">
            <a:spLocks noGrp="1"/>
          </p:cNvSpPr>
          <p:nvPr>
            <p:ph type="sldNum" idx="12"/>
          </p:nvPr>
        </p:nvSpPr>
        <p:spPr>
          <a:xfrm>
            <a:off x="8740615" y="4874218"/>
            <a:ext cx="388616" cy="16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7807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2"/>
          <p:cNvSpPr txBox="1">
            <a:spLocks noGrp="1"/>
          </p:cNvSpPr>
          <p:nvPr>
            <p:ph type="title"/>
          </p:nvPr>
        </p:nvSpPr>
        <p:spPr>
          <a:xfrm>
            <a:off x="513159" y="514351"/>
            <a:ext cx="6400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2"/>
          <p:cNvSpPr>
            <a:spLocks noGrp="1"/>
          </p:cNvSpPr>
          <p:nvPr>
            <p:ph type="pic" idx="2"/>
          </p:nvPr>
        </p:nvSpPr>
        <p:spPr>
          <a:xfrm>
            <a:off x="514351" y="400050"/>
            <a:ext cx="8114109" cy="2343150"/>
          </a:xfrm>
          <a:prstGeom prst="snip2DiagRect">
            <a:avLst>
              <a:gd name="adj1" fmla="val 10815"/>
              <a:gd name="adj2" fmla="val 0"/>
            </a:avLst>
          </a:prstGeom>
          <a:noFill/>
          <a:ln w="15875" cap="flat" cmpd="sng">
            <a:solidFill>
              <a:schemeClr val="l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>
            <a:off x="685801" y="2882900"/>
            <a:ext cx="622815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960"/>
              <a:buFont typeface="Century Gothic"/>
              <a:buNone/>
              <a:defRPr sz="1200"/>
            </a:lvl1pPr>
            <a:lvl2pPr marL="914378" lvl="1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0"/>
              <a:buFont typeface="Century Gothic"/>
              <a:buNone/>
              <a:defRPr/>
            </a:lvl2pPr>
            <a:lvl3pPr marL="1371566" lvl="2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Font typeface="Century Gothic"/>
              <a:buNone/>
              <a:defRPr/>
            </a:lvl3pPr>
            <a:lvl4pPr marL="1828754" lvl="3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Font typeface="Century Gothic"/>
              <a:buNone/>
              <a:defRPr/>
            </a:lvl4pPr>
            <a:lvl5pPr marL="2285943" lvl="4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Font typeface="Century Gothic"/>
              <a:buNone/>
              <a:defRPr/>
            </a:lvl5pPr>
            <a:lvl6pPr marL="2743132" lvl="5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6pPr>
            <a:lvl7pPr marL="3200320" lvl="6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7pPr>
            <a:lvl8pPr marL="3657509" lvl="7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8pPr>
            <a:lvl9pPr marL="4114697" lvl="8" indent="-320032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7930268" y="4874218"/>
            <a:ext cx="587277" cy="16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32"/>
          <p:cNvSpPr txBox="1">
            <a:spLocks noGrp="1"/>
          </p:cNvSpPr>
          <p:nvPr>
            <p:ph type="sldNum" idx="12"/>
          </p:nvPr>
        </p:nvSpPr>
        <p:spPr>
          <a:xfrm>
            <a:off x="8722327" y="4874218"/>
            <a:ext cx="388616" cy="16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6336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3"/>
          <p:cNvSpPr txBox="1">
            <a:spLocks noGrp="1"/>
          </p:cNvSpPr>
          <p:nvPr>
            <p:ph type="title"/>
          </p:nvPr>
        </p:nvSpPr>
        <p:spPr>
          <a:xfrm>
            <a:off x="856060" y="514350"/>
            <a:ext cx="6858001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 b="1" i="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3"/>
          <p:cNvSpPr txBox="1">
            <a:spLocks noGrp="1"/>
          </p:cNvSpPr>
          <p:nvPr>
            <p:ph type="body" idx="1"/>
          </p:nvPr>
        </p:nvSpPr>
        <p:spPr>
          <a:xfrm>
            <a:off x="1084659" y="2571750"/>
            <a:ext cx="6400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189" lvl="0" indent="-22859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1pPr>
            <a:lvl2pPr marL="914378" lvl="1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0"/>
              <a:buFont typeface="Century Gothic"/>
              <a:buNone/>
              <a:defRPr/>
            </a:lvl2pPr>
            <a:lvl3pPr marL="1371566" lvl="2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Font typeface="Century Gothic"/>
              <a:buNone/>
              <a:defRPr/>
            </a:lvl3pPr>
            <a:lvl4pPr marL="1828754" lvl="3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Font typeface="Century Gothic"/>
              <a:buNone/>
              <a:defRPr/>
            </a:lvl4pPr>
            <a:lvl5pPr marL="2285943" lvl="4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Font typeface="Century Gothic"/>
              <a:buNone/>
              <a:defRPr/>
            </a:lvl5pPr>
            <a:lvl6pPr marL="2743132" lvl="5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6pPr>
            <a:lvl7pPr marL="3200320" lvl="6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7pPr>
            <a:lvl8pPr marL="3657509" lvl="7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8pPr>
            <a:lvl9pPr marL="4114697" lvl="8" indent="-320032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82" name="Google Shape;82;p33"/>
          <p:cNvSpPr txBox="1">
            <a:spLocks noGrp="1"/>
          </p:cNvSpPr>
          <p:nvPr>
            <p:ph type="body" idx="2"/>
          </p:nvPr>
        </p:nvSpPr>
        <p:spPr>
          <a:xfrm>
            <a:off x="513160" y="3225802"/>
            <a:ext cx="6400800" cy="1263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189" lvl="0" indent="-22859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F2F2F2"/>
                </a:solidFill>
              </a:defRPr>
            </a:lvl1pPr>
            <a:lvl2pPr marL="914378" lvl="1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350">
                <a:solidFill>
                  <a:schemeClr val="lt1"/>
                </a:solidFill>
              </a:defRPr>
            </a:lvl2pPr>
            <a:lvl3pPr marL="1371566" lvl="2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>
                <a:solidFill>
                  <a:schemeClr val="lt1"/>
                </a:solidFill>
              </a:defRPr>
            </a:lvl3pPr>
            <a:lvl4pPr marL="1828754" lvl="3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4pPr>
            <a:lvl5pPr marL="2285943" lvl="4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5pPr>
            <a:lvl6pPr marL="2743132" lvl="5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6pPr>
            <a:lvl7pPr marL="3200320" lvl="6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7pPr>
            <a:lvl8pPr marL="3657509" lvl="7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8pPr>
            <a:lvl9pPr marL="4114697" lvl="8" indent="-228594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840"/>
              <a:buNone/>
              <a:defRPr sz="10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3"/>
          <p:cNvSpPr txBox="1">
            <a:spLocks noGrp="1"/>
          </p:cNvSpPr>
          <p:nvPr>
            <p:ph type="dt" idx="10"/>
          </p:nvPr>
        </p:nvSpPr>
        <p:spPr>
          <a:xfrm>
            <a:off x="7930268" y="4874218"/>
            <a:ext cx="587277" cy="16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4" name="Google Shape;84;p33"/>
          <p:cNvSpPr txBox="1">
            <a:spLocks noGrp="1"/>
          </p:cNvSpPr>
          <p:nvPr>
            <p:ph type="sldNum" idx="12"/>
          </p:nvPr>
        </p:nvSpPr>
        <p:spPr>
          <a:xfrm>
            <a:off x="8731471" y="4874218"/>
            <a:ext cx="388616" cy="16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5" name="Google Shape;85;p33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0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3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0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88284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4"/>
          <p:cNvSpPr txBox="1">
            <a:spLocks noGrp="1"/>
          </p:cNvSpPr>
          <p:nvPr>
            <p:ph type="title"/>
          </p:nvPr>
        </p:nvSpPr>
        <p:spPr>
          <a:xfrm>
            <a:off x="513159" y="2571750"/>
            <a:ext cx="6400800" cy="1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4"/>
          <p:cNvSpPr txBox="1">
            <a:spLocks noGrp="1"/>
          </p:cNvSpPr>
          <p:nvPr>
            <p:ph type="body" idx="1"/>
          </p:nvPr>
        </p:nvSpPr>
        <p:spPr>
          <a:xfrm>
            <a:off x="513159" y="3849736"/>
            <a:ext cx="6401993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D8D8D8"/>
                </a:solidFill>
              </a:defRPr>
            </a:lvl1pPr>
            <a:lvl2pPr marL="914378" lvl="1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350">
                <a:solidFill>
                  <a:schemeClr val="lt1"/>
                </a:solidFill>
              </a:defRPr>
            </a:lvl2pPr>
            <a:lvl3pPr marL="1371566" lvl="2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>
                <a:solidFill>
                  <a:schemeClr val="lt1"/>
                </a:solidFill>
              </a:defRPr>
            </a:lvl3pPr>
            <a:lvl4pPr marL="1828754" lvl="3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4pPr>
            <a:lvl5pPr marL="2285943" lvl="4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5pPr>
            <a:lvl6pPr marL="2743132" lvl="5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6pPr>
            <a:lvl7pPr marL="3200320" lvl="6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7pPr>
            <a:lvl8pPr marL="3657509" lvl="7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8pPr>
            <a:lvl9pPr marL="4114697" lvl="8" indent="-228594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840"/>
              <a:buNone/>
              <a:defRPr sz="10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34"/>
          <p:cNvSpPr txBox="1">
            <a:spLocks noGrp="1"/>
          </p:cNvSpPr>
          <p:nvPr>
            <p:ph type="dt" idx="10"/>
          </p:nvPr>
        </p:nvSpPr>
        <p:spPr>
          <a:xfrm>
            <a:off x="7930268" y="4874218"/>
            <a:ext cx="587277" cy="16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1" name="Google Shape;91;p34"/>
          <p:cNvSpPr txBox="1">
            <a:spLocks noGrp="1"/>
          </p:cNvSpPr>
          <p:nvPr>
            <p:ph type="sldNum" idx="12"/>
          </p:nvPr>
        </p:nvSpPr>
        <p:spPr>
          <a:xfrm>
            <a:off x="8722327" y="4874218"/>
            <a:ext cx="388616" cy="16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7125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5"/>
          <p:cNvSpPr txBox="1">
            <a:spLocks noGrp="1"/>
          </p:cNvSpPr>
          <p:nvPr>
            <p:ph type="title"/>
          </p:nvPr>
        </p:nvSpPr>
        <p:spPr>
          <a:xfrm>
            <a:off x="856060" y="514350"/>
            <a:ext cx="68580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 b="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5"/>
          <p:cNvSpPr txBox="1">
            <a:spLocks noGrp="1"/>
          </p:cNvSpPr>
          <p:nvPr>
            <p:ph type="body" idx="1"/>
          </p:nvPr>
        </p:nvSpPr>
        <p:spPr>
          <a:xfrm>
            <a:off x="513160" y="2946400"/>
            <a:ext cx="6400801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 sz="1800" b="0" cap="none">
                <a:solidFill>
                  <a:schemeClr val="lt1"/>
                </a:solidFill>
              </a:defRPr>
            </a:lvl1pPr>
            <a:lvl2pPr marL="914378" lvl="1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2pPr>
            <a:lvl3pPr marL="1371566" lvl="2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3pPr>
            <a:lvl4pPr marL="1828754" lvl="3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4pPr>
            <a:lvl5pPr marL="2285943" lvl="4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5pPr>
            <a:lvl6pPr marL="2743132" lvl="5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6pPr>
            <a:lvl7pPr marL="3200320" lvl="6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7pPr>
            <a:lvl8pPr marL="3657509" lvl="7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8pPr>
            <a:lvl9pPr marL="4114697" lvl="8" indent="-320032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95" name="Google Shape;95;p35"/>
          <p:cNvSpPr txBox="1">
            <a:spLocks noGrp="1"/>
          </p:cNvSpPr>
          <p:nvPr>
            <p:ph type="body" idx="2"/>
          </p:nvPr>
        </p:nvSpPr>
        <p:spPr>
          <a:xfrm>
            <a:off x="513160" y="3733800"/>
            <a:ext cx="6400801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D8D8D8"/>
                </a:solidFill>
              </a:defRPr>
            </a:lvl1pPr>
            <a:lvl2pPr marL="914378" lvl="1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350">
                <a:solidFill>
                  <a:schemeClr val="lt1"/>
                </a:solidFill>
              </a:defRPr>
            </a:lvl2pPr>
            <a:lvl3pPr marL="1371566" lvl="2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>
                <a:solidFill>
                  <a:schemeClr val="lt1"/>
                </a:solidFill>
              </a:defRPr>
            </a:lvl3pPr>
            <a:lvl4pPr marL="1828754" lvl="3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4pPr>
            <a:lvl5pPr marL="2285943" lvl="4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5pPr>
            <a:lvl6pPr marL="2743132" lvl="5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6pPr>
            <a:lvl7pPr marL="3200320" lvl="6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7pPr>
            <a:lvl8pPr marL="3657509" lvl="7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8pPr>
            <a:lvl9pPr marL="4114697" lvl="8" indent="-228594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840"/>
              <a:buNone/>
              <a:defRPr sz="10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35"/>
          <p:cNvSpPr txBox="1">
            <a:spLocks noGrp="1"/>
          </p:cNvSpPr>
          <p:nvPr>
            <p:ph type="dt" idx="10"/>
          </p:nvPr>
        </p:nvSpPr>
        <p:spPr>
          <a:xfrm>
            <a:off x="7930268" y="4874218"/>
            <a:ext cx="587277" cy="16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7" name="Google Shape;97;p35"/>
          <p:cNvSpPr txBox="1">
            <a:spLocks noGrp="1"/>
          </p:cNvSpPr>
          <p:nvPr>
            <p:ph type="sldNum" idx="12"/>
          </p:nvPr>
        </p:nvSpPr>
        <p:spPr>
          <a:xfrm>
            <a:off x="8749759" y="4874218"/>
            <a:ext cx="388616" cy="16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8" name="Google Shape;98;p35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0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5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0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86100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6"/>
          <p:cNvSpPr txBox="1"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entury Gothic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6"/>
          <p:cNvSpPr txBox="1">
            <a:spLocks noGrp="1"/>
          </p:cNvSpPr>
          <p:nvPr>
            <p:ph type="body" idx="1"/>
          </p:nvPr>
        </p:nvSpPr>
        <p:spPr>
          <a:xfrm>
            <a:off x="513159" y="2946401"/>
            <a:ext cx="64008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 sz="1800" b="0" cap="none">
                <a:solidFill>
                  <a:schemeClr val="lt1"/>
                </a:solidFill>
              </a:defRPr>
            </a:lvl1pPr>
            <a:lvl2pPr marL="914378" lvl="1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2pPr>
            <a:lvl3pPr marL="1371566" lvl="2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3pPr>
            <a:lvl4pPr marL="1828754" lvl="3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4pPr>
            <a:lvl5pPr marL="2285943" lvl="4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5pPr>
            <a:lvl6pPr marL="2743132" lvl="5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6pPr>
            <a:lvl7pPr marL="3200320" lvl="6" indent="-32003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7pPr>
            <a:lvl8pPr marL="3657509" lvl="7" indent="-32003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40"/>
              <a:buChar char="▶"/>
              <a:defRPr/>
            </a:lvl8pPr>
            <a:lvl9pPr marL="4114697" lvl="8" indent="-320032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03" name="Google Shape;103;p36"/>
          <p:cNvSpPr txBox="1">
            <a:spLocks noGrp="1"/>
          </p:cNvSpPr>
          <p:nvPr>
            <p:ph type="body" idx="2"/>
          </p:nvPr>
        </p:nvSpPr>
        <p:spPr>
          <a:xfrm>
            <a:off x="513160" y="3575049"/>
            <a:ext cx="6400801" cy="92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F2F2F2"/>
                </a:solidFill>
              </a:defRPr>
            </a:lvl1pPr>
            <a:lvl2pPr marL="914378" lvl="1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350">
                <a:solidFill>
                  <a:schemeClr val="lt1"/>
                </a:solidFill>
              </a:defRPr>
            </a:lvl2pPr>
            <a:lvl3pPr marL="1371566" lvl="2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None/>
              <a:defRPr sz="1200">
                <a:solidFill>
                  <a:schemeClr val="lt1"/>
                </a:solidFill>
              </a:defRPr>
            </a:lvl3pPr>
            <a:lvl4pPr marL="1828754" lvl="3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4pPr>
            <a:lvl5pPr marL="2285943" lvl="4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5pPr>
            <a:lvl6pPr marL="2743132" lvl="5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6pPr>
            <a:lvl7pPr marL="3200320" lvl="6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7pPr>
            <a:lvl8pPr marL="3657509" lvl="7" indent="-22859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050">
                <a:solidFill>
                  <a:schemeClr val="lt1"/>
                </a:solidFill>
              </a:defRPr>
            </a:lvl8pPr>
            <a:lvl9pPr marL="4114697" lvl="8" indent="-228594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840"/>
              <a:buNone/>
              <a:defRPr sz="10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36"/>
          <p:cNvSpPr txBox="1">
            <a:spLocks noGrp="1"/>
          </p:cNvSpPr>
          <p:nvPr>
            <p:ph type="dt" idx="10"/>
          </p:nvPr>
        </p:nvSpPr>
        <p:spPr>
          <a:xfrm>
            <a:off x="7930268" y="4874218"/>
            <a:ext cx="587277" cy="16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5" name="Google Shape;105;p36"/>
          <p:cNvSpPr txBox="1">
            <a:spLocks noGrp="1"/>
          </p:cNvSpPr>
          <p:nvPr>
            <p:ph type="sldNum" idx="12"/>
          </p:nvPr>
        </p:nvSpPr>
        <p:spPr>
          <a:xfrm>
            <a:off x="8731471" y="4874218"/>
            <a:ext cx="388616" cy="16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2488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02305-C561-5730-602B-3A2FA0BCA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73EEF-F156-140E-C34E-872ABD4B5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DF54C-CBF5-B543-8A9B-8C7433C2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D055F-623A-B747-A9CA-5DD22970E89E}" type="datetime1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48073-8ED7-7A90-D2B6-25A5FC8C2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784F7-500E-DF1B-C8EA-B3CB823A0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D5247-2CDF-3F49-BE4C-799EB8AEE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55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513159" y="514351"/>
            <a:ext cx="6400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entury Gothic"/>
              <a:buNone/>
              <a:defRPr sz="27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513159" y="1786524"/>
            <a:ext cx="6400800" cy="271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▶"/>
              <a:defRPr sz="1500" b="0" i="0" u="none" strike="noStrike" cap="none">
                <a:solidFill>
                  <a:srgbClr val="F2F2F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9718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080"/>
              <a:buFont typeface="Noto Sans Symbols"/>
              <a:buChar char="▶"/>
              <a:defRPr sz="1350" b="0" i="0" u="none" strike="noStrike" cap="none">
                <a:solidFill>
                  <a:srgbClr val="F2F2F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8956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rgbClr val="F2F2F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1939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840"/>
              <a:buFont typeface="Noto Sans Symbols"/>
              <a:buChar char="▶"/>
              <a:defRPr sz="1050" b="0" i="0" u="none" strike="noStrike" cap="none">
                <a:solidFill>
                  <a:srgbClr val="F2F2F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1939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840"/>
              <a:buFont typeface="Noto Sans Symbols"/>
              <a:buChar char="▶"/>
              <a:defRPr sz="1050" b="0" i="0" u="none" strike="noStrike" cap="none">
                <a:solidFill>
                  <a:srgbClr val="F2F2F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1939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840"/>
              <a:buFont typeface="Noto Sans Symbols"/>
              <a:buChar char="▶"/>
              <a:defRPr sz="105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1939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840"/>
              <a:buFont typeface="Noto Sans Symbols"/>
              <a:buChar char="▶"/>
              <a:defRPr sz="105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194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840"/>
              <a:buFont typeface="Noto Sans Symbols"/>
              <a:buChar char="▶"/>
              <a:defRPr sz="105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1940" algn="l" rtl="0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chemeClr val="lt1"/>
              </a:buClr>
              <a:buSzPts val="840"/>
              <a:buFont typeface="Noto Sans Symbols"/>
              <a:buChar char="▶"/>
              <a:defRPr sz="105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pic>
        <p:nvPicPr>
          <p:cNvPr id="12" name="Google Shape;12;p18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57550" y="4816593"/>
            <a:ext cx="637788" cy="310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8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58031" y="4821593"/>
            <a:ext cx="584058" cy="30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8"/>
          <p:cNvSpPr txBox="1">
            <a:spLocks noGrp="1"/>
          </p:cNvSpPr>
          <p:nvPr>
            <p:ph type="dt" idx="10"/>
          </p:nvPr>
        </p:nvSpPr>
        <p:spPr>
          <a:xfrm>
            <a:off x="7927476" y="4904138"/>
            <a:ext cx="615866" cy="139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 dirty="0"/>
          </a:p>
        </p:txBody>
      </p:sp>
      <p:sp>
        <p:nvSpPr>
          <p:cNvPr id="15" name="Google Shape;15;p18"/>
          <p:cNvSpPr txBox="1">
            <a:spLocks noGrp="1"/>
          </p:cNvSpPr>
          <p:nvPr>
            <p:ph type="sldNum" idx="12"/>
          </p:nvPr>
        </p:nvSpPr>
        <p:spPr>
          <a:xfrm>
            <a:off x="8714233" y="4904138"/>
            <a:ext cx="305270" cy="139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Google Shape;16;p18"/>
          <p:cNvCxnSpPr/>
          <p:nvPr/>
        </p:nvCxnSpPr>
        <p:spPr>
          <a:xfrm flipH="1">
            <a:off x="8641728" y="4855914"/>
            <a:ext cx="1" cy="189188"/>
          </a:xfrm>
          <a:prstGeom prst="straightConnector1">
            <a:avLst/>
          </a:prstGeom>
          <a:noFill/>
          <a:ln w="12700" cap="sq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94005305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93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513159" y="514351"/>
            <a:ext cx="6400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entury Gothic"/>
              <a:buNone/>
              <a:defRPr sz="27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513159" y="1786524"/>
            <a:ext cx="6400800" cy="271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▶"/>
              <a:defRPr sz="1500" b="0" i="0" u="none" strike="noStrike" cap="none">
                <a:solidFill>
                  <a:srgbClr val="F2F2F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9718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080"/>
              <a:buFont typeface="Noto Sans Symbols"/>
              <a:buChar char="▶"/>
              <a:defRPr sz="1350" b="0" i="0" u="none" strike="noStrike" cap="none">
                <a:solidFill>
                  <a:srgbClr val="F2F2F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8956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960"/>
              <a:buFont typeface="Noto Sans Symbols"/>
              <a:buChar char="▶"/>
              <a:defRPr sz="1200" b="0" i="0" u="none" strike="noStrike" cap="none">
                <a:solidFill>
                  <a:srgbClr val="F2F2F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1939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840"/>
              <a:buFont typeface="Noto Sans Symbols"/>
              <a:buChar char="▶"/>
              <a:defRPr sz="1050" b="0" i="0" u="none" strike="noStrike" cap="none">
                <a:solidFill>
                  <a:srgbClr val="F2F2F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1939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840"/>
              <a:buFont typeface="Noto Sans Symbols"/>
              <a:buChar char="▶"/>
              <a:defRPr sz="1050" b="0" i="0" u="none" strike="noStrike" cap="none">
                <a:solidFill>
                  <a:srgbClr val="F2F2F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1939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840"/>
              <a:buFont typeface="Noto Sans Symbols"/>
              <a:buChar char="▶"/>
              <a:defRPr sz="105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1939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840"/>
              <a:buFont typeface="Noto Sans Symbols"/>
              <a:buChar char="▶"/>
              <a:defRPr sz="105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194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840"/>
              <a:buFont typeface="Noto Sans Symbols"/>
              <a:buChar char="▶"/>
              <a:defRPr sz="105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1940" algn="l" rtl="0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chemeClr val="lt1"/>
              </a:buClr>
              <a:buSzPts val="840"/>
              <a:buFont typeface="Noto Sans Symbols"/>
              <a:buChar char="▶"/>
              <a:defRPr sz="105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pic>
        <p:nvPicPr>
          <p:cNvPr id="12" name="Google Shape;12;p18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57550" y="4816593"/>
            <a:ext cx="637788" cy="310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8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58031" y="4821593"/>
            <a:ext cx="584058" cy="30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8"/>
          <p:cNvSpPr txBox="1">
            <a:spLocks noGrp="1"/>
          </p:cNvSpPr>
          <p:nvPr>
            <p:ph type="dt" idx="10"/>
          </p:nvPr>
        </p:nvSpPr>
        <p:spPr>
          <a:xfrm>
            <a:off x="7927476" y="4904138"/>
            <a:ext cx="615866" cy="139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 dirty="0"/>
          </a:p>
        </p:txBody>
      </p:sp>
      <p:sp>
        <p:nvSpPr>
          <p:cNvPr id="15" name="Google Shape;15;p18"/>
          <p:cNvSpPr txBox="1">
            <a:spLocks noGrp="1"/>
          </p:cNvSpPr>
          <p:nvPr>
            <p:ph type="sldNum" idx="12"/>
          </p:nvPr>
        </p:nvSpPr>
        <p:spPr>
          <a:xfrm>
            <a:off x="8714233" y="4904138"/>
            <a:ext cx="305270" cy="139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Google Shape;16;p18"/>
          <p:cNvCxnSpPr/>
          <p:nvPr/>
        </p:nvCxnSpPr>
        <p:spPr>
          <a:xfrm flipH="1">
            <a:off x="8641728" y="4855914"/>
            <a:ext cx="1" cy="189188"/>
          </a:xfrm>
          <a:prstGeom prst="straightConnector1">
            <a:avLst/>
          </a:prstGeom>
          <a:noFill/>
          <a:ln w="12700" cap="sq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81905106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305.17144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>
            <a:spLocks noGrp="1"/>
          </p:cNvSpPr>
          <p:nvPr>
            <p:ph type="ctrTitle"/>
          </p:nvPr>
        </p:nvSpPr>
        <p:spPr>
          <a:xfrm>
            <a:off x="234249" y="1112921"/>
            <a:ext cx="5169025" cy="137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FFFF00"/>
              </a:buClr>
              <a:buSzPts val="2400"/>
            </a:pPr>
            <a:r>
              <a:rPr lang="en-US" sz="2400" dirty="0">
                <a:solidFill>
                  <a:srgbClr val="FFFF00"/>
                </a:solidFill>
              </a:rPr>
              <a:t>Brief Overview of LLMs, and RAG, Plus Optional Content on AI Agents</a:t>
            </a:r>
            <a:endParaRPr dirty="0"/>
          </a:p>
        </p:txBody>
      </p:sp>
      <p:sp>
        <p:nvSpPr>
          <p:cNvPr id="112" name="Google Shape;112;p1"/>
          <p:cNvSpPr txBox="1">
            <a:spLocks noGrp="1"/>
          </p:cNvSpPr>
          <p:nvPr>
            <p:ph type="subTitle" idx="1"/>
          </p:nvPr>
        </p:nvSpPr>
        <p:spPr>
          <a:xfrm>
            <a:off x="452734" y="2658980"/>
            <a:ext cx="5856627" cy="1831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450"/>
              </a:spcBef>
              <a:buSzPts val="1200"/>
            </a:pPr>
            <a:r>
              <a:rPr lang="en-US" sz="1500" b="1" dirty="0"/>
              <a:t>April 23, 2025</a:t>
            </a:r>
          </a:p>
          <a:p>
            <a:pPr marL="0" indent="0">
              <a:spcBef>
                <a:spcPts val="450"/>
              </a:spcBef>
              <a:buSzPts val="1200"/>
            </a:pPr>
            <a:r>
              <a:rPr lang="en-US" sz="1500" b="1" dirty="0"/>
              <a:t>Scalable Computational Intelligence</a:t>
            </a:r>
          </a:p>
          <a:p>
            <a:pPr marL="0" indent="0">
              <a:spcBef>
                <a:spcPts val="450"/>
              </a:spcBef>
              <a:buSzPts val="1200"/>
            </a:pPr>
            <a:r>
              <a:rPr lang="en-US" sz="1500" b="1" dirty="0"/>
              <a:t>Texas Advanced Computing Center (TACC)</a:t>
            </a:r>
            <a:endParaRPr sz="1500" dirty="0"/>
          </a:p>
          <a:p>
            <a:pPr marL="0" indent="0">
              <a:spcBef>
                <a:spcPts val="730"/>
              </a:spcBef>
              <a:buSzPts val="1120"/>
            </a:pPr>
            <a:endParaRPr sz="1400" dirty="0">
              <a:solidFill>
                <a:schemeClr val="lt1"/>
              </a:solidFill>
            </a:endParaRPr>
          </a:p>
        </p:txBody>
      </p:sp>
      <p:pic>
        <p:nvPicPr>
          <p:cNvPr id="113" name="Google Shape;113;p1" descr="A picture containing text, transport, whee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3209" y="3722874"/>
            <a:ext cx="1312195" cy="1319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12CB68B-8435-6AE0-9AE9-88C92C59027F}"/>
              </a:ext>
            </a:extLst>
          </p:cNvPr>
          <p:cNvSpPr/>
          <p:nvPr/>
        </p:nvSpPr>
        <p:spPr>
          <a:xfrm>
            <a:off x="5359751" y="1508492"/>
            <a:ext cx="1984358" cy="15363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buClrTx/>
            </a:pPr>
            <a:r>
              <a:rPr lang="en-US" sz="1000" kern="1200" dirty="0">
                <a:solidFill>
                  <a:srgbClr val="FFFFFF"/>
                </a:solidFill>
                <a:latin typeface="Arial"/>
              </a:rPr>
              <a:t>Background Information:</a:t>
            </a:r>
            <a:br>
              <a:rPr lang="en-US" sz="1000" kern="1200" dirty="0">
                <a:solidFill>
                  <a:srgbClr val="FFFFFF"/>
                </a:solidFill>
                <a:latin typeface="Arial"/>
              </a:rPr>
            </a:br>
            <a:r>
              <a:rPr lang="en-US" sz="1000" kern="1200" dirty="0">
                <a:solidFill>
                  <a:srgbClr val="FFFFFF"/>
                </a:solidFill>
                <a:latin typeface="Arial"/>
              </a:rPr>
              <a:t>My name is Dr. Orange</a:t>
            </a:r>
            <a:br>
              <a:rPr lang="en-US" sz="1000" kern="1200" dirty="0">
                <a:solidFill>
                  <a:srgbClr val="FFFFFF"/>
                </a:solidFill>
                <a:latin typeface="Arial"/>
              </a:rPr>
            </a:br>
            <a:br>
              <a:rPr lang="en-US" sz="1000" kern="1200" dirty="0">
                <a:solidFill>
                  <a:srgbClr val="FFFFFF"/>
                </a:solidFill>
                <a:latin typeface="Arial"/>
              </a:rPr>
            </a:br>
            <a:r>
              <a:rPr lang="en-US" sz="1000" kern="1200" dirty="0">
                <a:solidFill>
                  <a:srgbClr val="FFFFFF"/>
                </a:solidFill>
                <a:latin typeface="Arial"/>
              </a:rPr>
              <a:t>Instructions: Write a poem that exactly rhymes with my name</a:t>
            </a:r>
          </a:p>
          <a:p>
            <a:pPr defTabSz="685800">
              <a:buClrTx/>
            </a:pPr>
            <a:endParaRPr lang="en-US" sz="1000" kern="1200" dirty="0">
              <a:solidFill>
                <a:srgbClr val="FFFFFF"/>
              </a:solidFill>
              <a:latin typeface="Arial"/>
            </a:endParaRPr>
          </a:p>
          <a:p>
            <a:pPr defTabSz="685800">
              <a:buClrTx/>
            </a:pPr>
            <a:r>
              <a:rPr lang="en-US" sz="1000" kern="1200" dirty="0">
                <a:solidFill>
                  <a:srgbClr val="FFFFFF"/>
                </a:solidFill>
                <a:latin typeface="Arial"/>
              </a:rPr>
              <a:t>00000000000000000000000000000000000000000000000000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7004B4-9029-FE43-780D-7DDED9B10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LLM is just text in and text out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BB06B-9BF3-DCAF-F328-D785036F7F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685800"/>
            <a:fld id="{00000000-1234-1234-1234-123412341234}" type="slidenum">
              <a:rPr lang="en-US" sz="700" kern="1200">
                <a:solidFill>
                  <a:srgbClr val="FFFFFF"/>
                </a:solidFill>
              </a:rPr>
              <a:pPr defTabSz="685800"/>
              <a:t>2</a:t>
            </a:fld>
            <a:endParaRPr lang="en-US" sz="700" kern="1200" dirty="0">
              <a:solidFill>
                <a:srgbClr val="FFFFFF"/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C8CDBA8-8243-6702-4812-1B935995DC7A}"/>
              </a:ext>
            </a:extLst>
          </p:cNvPr>
          <p:cNvGrpSpPr/>
          <p:nvPr/>
        </p:nvGrpSpPr>
        <p:grpSpPr>
          <a:xfrm>
            <a:off x="7476097" y="1515860"/>
            <a:ext cx="1479556" cy="1536372"/>
            <a:chOff x="4001004" y="1909285"/>
            <a:chExt cx="1972740" cy="204849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3344F5C-15BE-7AD8-825A-DB088CCBC2BF}"/>
                </a:ext>
              </a:extLst>
            </p:cNvPr>
            <p:cNvSpPr txBox="1"/>
            <p:nvPr/>
          </p:nvSpPr>
          <p:spPr>
            <a:xfrm>
              <a:off x="4257035" y="2644452"/>
              <a:ext cx="1716709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buClrTx/>
              </a:pPr>
              <a:r>
                <a:rPr lang="en-US" sz="1200" kern="1200" dirty="0">
                  <a:solidFill>
                    <a:srgbClr val="76DBF4">
                      <a:lumMod val="75000"/>
                    </a:srgbClr>
                  </a:solidFill>
                  <a:ea typeface="+mn-ea"/>
                  <a:cs typeface="+mn-cs"/>
                </a:rPr>
                <a:t>Context window</a:t>
              </a:r>
            </a:p>
            <a:p>
              <a:pPr defTabSz="685800">
                <a:buClrTx/>
              </a:pPr>
              <a:r>
                <a:rPr lang="en-US" sz="1200" kern="1200" dirty="0">
                  <a:solidFill>
                    <a:srgbClr val="FFFFFF"/>
                  </a:solidFill>
                  <a:ea typeface="+mn-ea"/>
                  <a:cs typeface="+mn-cs"/>
                </a:rPr>
                <a:t> (e.g. 8k tokens)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D7F3348-4CAD-B039-50FA-FCE40BC6E403}"/>
                </a:ext>
              </a:extLst>
            </p:cNvPr>
            <p:cNvGrpSpPr/>
            <p:nvPr/>
          </p:nvGrpSpPr>
          <p:grpSpPr>
            <a:xfrm>
              <a:off x="4001004" y="1909285"/>
              <a:ext cx="296334" cy="2048496"/>
              <a:chOff x="4803244" y="3894359"/>
              <a:chExt cx="296334" cy="855771"/>
            </a:xfrm>
          </p:grpSpPr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9EBDD6A-3E78-8A35-442D-8321E5DA463D}"/>
                  </a:ext>
                </a:extLst>
              </p:cNvPr>
              <p:cNvCxnSpPr/>
              <p:nvPr/>
            </p:nvCxnSpPr>
            <p:spPr>
              <a:xfrm>
                <a:off x="4951412" y="3895106"/>
                <a:ext cx="0" cy="855024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AE18CCD1-2C15-0D98-0708-CB0F3B9EF6DB}"/>
                  </a:ext>
                </a:extLst>
              </p:cNvPr>
              <p:cNvCxnSpPr/>
              <p:nvPr/>
            </p:nvCxnSpPr>
            <p:spPr>
              <a:xfrm>
                <a:off x="4803245" y="3894359"/>
                <a:ext cx="296333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6E24CC6-5DB3-5F98-88C5-666E688E7503}"/>
                  </a:ext>
                </a:extLst>
              </p:cNvPr>
              <p:cNvCxnSpPr/>
              <p:nvPr/>
            </p:nvCxnSpPr>
            <p:spPr>
              <a:xfrm>
                <a:off x="4803244" y="4750130"/>
                <a:ext cx="296333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5BBFAA28-D412-2AC7-F39C-3AAFDA233651}"/>
              </a:ext>
            </a:extLst>
          </p:cNvPr>
          <p:cNvSpPr/>
          <p:nvPr/>
        </p:nvSpPr>
        <p:spPr>
          <a:xfrm>
            <a:off x="5359751" y="1508492"/>
            <a:ext cx="1984358" cy="15363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buClrTx/>
            </a:pPr>
            <a:r>
              <a:rPr lang="en-US" sz="1000" kern="1200" dirty="0">
                <a:solidFill>
                  <a:srgbClr val="FFFFFF"/>
                </a:solidFill>
                <a:latin typeface="Arial"/>
              </a:rPr>
              <a:t>Background Information:</a:t>
            </a:r>
            <a:br>
              <a:rPr lang="en-US" sz="1000" kern="1200" dirty="0">
                <a:solidFill>
                  <a:srgbClr val="FFFFFF"/>
                </a:solidFill>
                <a:latin typeface="Arial"/>
              </a:rPr>
            </a:br>
            <a:r>
              <a:rPr lang="en-US" sz="1000" kern="1200" dirty="0">
                <a:solidFill>
                  <a:srgbClr val="FFFFFF"/>
                </a:solidFill>
                <a:latin typeface="Arial"/>
              </a:rPr>
              <a:t>My name is Dr. Orange</a:t>
            </a:r>
            <a:br>
              <a:rPr lang="en-US" sz="1000" kern="1200" dirty="0">
                <a:solidFill>
                  <a:srgbClr val="FFFFFF"/>
                </a:solidFill>
                <a:latin typeface="Arial"/>
              </a:rPr>
            </a:br>
            <a:br>
              <a:rPr lang="en-US" sz="1000" kern="1200" dirty="0">
                <a:solidFill>
                  <a:srgbClr val="FFFFFF"/>
                </a:solidFill>
                <a:latin typeface="Arial"/>
              </a:rPr>
            </a:br>
            <a:r>
              <a:rPr lang="en-US" sz="1000" kern="1200" dirty="0">
                <a:solidFill>
                  <a:srgbClr val="FFFFFF"/>
                </a:solidFill>
                <a:latin typeface="Arial"/>
              </a:rPr>
              <a:t>Instructions: Write a poem that exactly rhymes with my name</a:t>
            </a:r>
          </a:p>
          <a:p>
            <a:pPr defTabSz="685800">
              <a:buClrTx/>
            </a:pPr>
            <a:endParaRPr lang="en-US" sz="1000" kern="1200" dirty="0">
              <a:solidFill>
                <a:srgbClr val="FFFFFF"/>
              </a:solidFill>
              <a:latin typeface="Arial"/>
            </a:endParaRPr>
          </a:p>
          <a:p>
            <a:pPr defTabSz="685800">
              <a:buClrTx/>
            </a:pPr>
            <a:r>
              <a:rPr lang="en-US" sz="1000" kern="1200" dirty="0">
                <a:solidFill>
                  <a:srgbClr val="A50E82">
                    <a:lumMod val="40000"/>
                    <a:lumOff val="60000"/>
                  </a:srgbClr>
                </a:solidFill>
                <a:latin typeface="Arial"/>
              </a:rPr>
              <a:t>As</a:t>
            </a:r>
            <a:r>
              <a:rPr lang="en-US" sz="1000" kern="1200" dirty="0">
                <a:solidFill>
                  <a:srgbClr val="FFFFFF"/>
                </a:solidFill>
                <a:latin typeface="Arial"/>
              </a:rPr>
              <a:t>00000000000000000000000000000000000000000000000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AAED82-38A2-0B89-8A20-85CAF7C5D69A}"/>
              </a:ext>
            </a:extLst>
          </p:cNvPr>
          <p:cNvSpPr/>
          <p:nvPr/>
        </p:nvSpPr>
        <p:spPr>
          <a:xfrm>
            <a:off x="5359751" y="1508492"/>
            <a:ext cx="1984358" cy="15363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buClrTx/>
            </a:pPr>
            <a:r>
              <a:rPr lang="en-US" sz="1000" kern="1200" dirty="0">
                <a:solidFill>
                  <a:srgbClr val="FFFFFF"/>
                </a:solidFill>
                <a:latin typeface="Arial"/>
              </a:rPr>
              <a:t>Background Information:</a:t>
            </a:r>
            <a:br>
              <a:rPr lang="en-US" sz="1000" kern="1200" dirty="0">
                <a:solidFill>
                  <a:srgbClr val="FFFFFF"/>
                </a:solidFill>
                <a:latin typeface="Arial"/>
              </a:rPr>
            </a:br>
            <a:r>
              <a:rPr lang="en-US" sz="1000" kern="1200" dirty="0">
                <a:solidFill>
                  <a:srgbClr val="FFFFFF"/>
                </a:solidFill>
                <a:latin typeface="Arial"/>
              </a:rPr>
              <a:t>My name is Dr. Orange</a:t>
            </a:r>
            <a:br>
              <a:rPr lang="en-US" sz="1000" kern="1200" dirty="0">
                <a:solidFill>
                  <a:srgbClr val="FFFFFF"/>
                </a:solidFill>
                <a:latin typeface="Arial"/>
              </a:rPr>
            </a:br>
            <a:br>
              <a:rPr lang="en-US" sz="1000" kern="1200" dirty="0">
                <a:solidFill>
                  <a:srgbClr val="FFFFFF"/>
                </a:solidFill>
                <a:latin typeface="Arial"/>
              </a:rPr>
            </a:br>
            <a:r>
              <a:rPr lang="en-US" sz="1000" kern="1200" dirty="0">
                <a:solidFill>
                  <a:srgbClr val="FFFFFF"/>
                </a:solidFill>
                <a:latin typeface="Arial"/>
              </a:rPr>
              <a:t>Instructions: Write a poem that exactly rhymes with my name</a:t>
            </a:r>
          </a:p>
          <a:p>
            <a:pPr defTabSz="685800">
              <a:buClrTx/>
            </a:pPr>
            <a:endParaRPr lang="en-US" sz="1000" kern="1200" dirty="0">
              <a:solidFill>
                <a:srgbClr val="FFFFFF"/>
              </a:solidFill>
              <a:latin typeface="Arial"/>
            </a:endParaRPr>
          </a:p>
          <a:p>
            <a:pPr defTabSz="685800">
              <a:buClrTx/>
            </a:pPr>
            <a:r>
              <a:rPr lang="en-US" sz="1000" kern="1200" dirty="0">
                <a:solidFill>
                  <a:srgbClr val="A50E82">
                    <a:lumMod val="40000"/>
                    <a:lumOff val="60000"/>
                  </a:srgbClr>
                </a:solidFill>
                <a:latin typeface="Arial"/>
              </a:rPr>
              <a:t>As I</a:t>
            </a:r>
            <a:r>
              <a:rPr lang="en-US" sz="1000" kern="1200" dirty="0">
                <a:solidFill>
                  <a:srgbClr val="FFFFFF"/>
                </a:solidFill>
                <a:latin typeface="Arial"/>
              </a:rPr>
              <a:t>000000000000000000000 000000000000000000000000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2C8F8D-0C7F-2C14-4A4C-0ACF6C06754C}"/>
              </a:ext>
            </a:extLst>
          </p:cNvPr>
          <p:cNvSpPr/>
          <p:nvPr/>
        </p:nvSpPr>
        <p:spPr>
          <a:xfrm>
            <a:off x="5359750" y="1508492"/>
            <a:ext cx="1984358" cy="15363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buClrTx/>
            </a:pPr>
            <a:r>
              <a:rPr lang="en-US" sz="1000" kern="1200" dirty="0">
                <a:solidFill>
                  <a:srgbClr val="FFFFFF"/>
                </a:solidFill>
                <a:latin typeface="Arial"/>
              </a:rPr>
              <a:t>Background Information:</a:t>
            </a:r>
            <a:br>
              <a:rPr lang="en-US" sz="1000" kern="1200" dirty="0">
                <a:solidFill>
                  <a:srgbClr val="FFFFFF"/>
                </a:solidFill>
                <a:latin typeface="Arial"/>
              </a:rPr>
            </a:br>
            <a:r>
              <a:rPr lang="en-US" sz="1000" kern="1200" dirty="0">
                <a:solidFill>
                  <a:srgbClr val="FFFFFF"/>
                </a:solidFill>
                <a:latin typeface="Arial"/>
              </a:rPr>
              <a:t>My name is Dr. Orange</a:t>
            </a:r>
            <a:br>
              <a:rPr lang="en-US" sz="1000" kern="1200" dirty="0">
                <a:solidFill>
                  <a:srgbClr val="FFFFFF"/>
                </a:solidFill>
                <a:latin typeface="Arial"/>
              </a:rPr>
            </a:br>
            <a:br>
              <a:rPr lang="en-US" sz="1000" kern="1200" dirty="0">
                <a:solidFill>
                  <a:srgbClr val="FFFFFF"/>
                </a:solidFill>
                <a:latin typeface="Arial"/>
              </a:rPr>
            </a:br>
            <a:r>
              <a:rPr lang="en-US" sz="1000" kern="1200" dirty="0">
                <a:solidFill>
                  <a:srgbClr val="FFFFFF"/>
                </a:solidFill>
                <a:latin typeface="Arial"/>
              </a:rPr>
              <a:t>Instructions: Write a poem that exactly rhymes with my name</a:t>
            </a:r>
          </a:p>
          <a:p>
            <a:pPr defTabSz="685800">
              <a:buClrTx/>
            </a:pPr>
            <a:endParaRPr lang="en-US" sz="1000" kern="1200" dirty="0">
              <a:solidFill>
                <a:srgbClr val="FFFFFF"/>
              </a:solidFill>
              <a:latin typeface="Arial"/>
            </a:endParaRPr>
          </a:p>
          <a:p>
            <a:pPr defTabSz="685800">
              <a:buClrTx/>
            </a:pPr>
            <a:r>
              <a:rPr lang="en-US" sz="1000" kern="1200" dirty="0">
                <a:solidFill>
                  <a:srgbClr val="A50E82">
                    <a:lumMod val="40000"/>
                    <a:lumOff val="60000"/>
                  </a:srgbClr>
                </a:solidFill>
                <a:latin typeface="Arial"/>
              </a:rPr>
              <a:t>As I sat </a:t>
            </a:r>
            <a:r>
              <a:rPr lang="en-US" sz="1000" kern="1200" dirty="0">
                <a:solidFill>
                  <a:srgbClr val="FFFFFF"/>
                </a:solidFill>
                <a:latin typeface="Arial"/>
              </a:rPr>
              <a:t>000000000000000000 000000000000000000000000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850471-83A6-3E8B-2098-B087B32EC7D9}"/>
              </a:ext>
            </a:extLst>
          </p:cNvPr>
          <p:cNvSpPr/>
          <p:nvPr/>
        </p:nvSpPr>
        <p:spPr>
          <a:xfrm>
            <a:off x="5359750" y="1508492"/>
            <a:ext cx="1984358" cy="15363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buClrTx/>
            </a:pPr>
            <a:r>
              <a:rPr lang="en-US" sz="1000" kern="1200" dirty="0">
                <a:solidFill>
                  <a:srgbClr val="FFFFFF"/>
                </a:solidFill>
                <a:latin typeface="Arial"/>
              </a:rPr>
              <a:t>Background Information:</a:t>
            </a:r>
            <a:br>
              <a:rPr lang="en-US" sz="1000" kern="1200" dirty="0">
                <a:solidFill>
                  <a:srgbClr val="FFFFFF"/>
                </a:solidFill>
                <a:latin typeface="Arial"/>
              </a:rPr>
            </a:br>
            <a:r>
              <a:rPr lang="en-US" sz="1000" kern="1200" dirty="0">
                <a:solidFill>
                  <a:srgbClr val="FFFFFF"/>
                </a:solidFill>
                <a:latin typeface="Arial"/>
              </a:rPr>
              <a:t>My name is Dr. Orange</a:t>
            </a:r>
            <a:br>
              <a:rPr lang="en-US" sz="1000" kern="1200" dirty="0">
                <a:solidFill>
                  <a:srgbClr val="FFFFFF"/>
                </a:solidFill>
                <a:latin typeface="Arial"/>
              </a:rPr>
            </a:br>
            <a:br>
              <a:rPr lang="en-US" sz="1000" kern="1200" dirty="0">
                <a:solidFill>
                  <a:srgbClr val="FFFFFF"/>
                </a:solidFill>
                <a:latin typeface="Arial"/>
              </a:rPr>
            </a:br>
            <a:r>
              <a:rPr lang="en-US" sz="1000" kern="1200" dirty="0">
                <a:solidFill>
                  <a:srgbClr val="FFFFFF"/>
                </a:solidFill>
                <a:latin typeface="Arial"/>
              </a:rPr>
              <a:t>Instructions: Write a poem that exactly rhymes with my name</a:t>
            </a:r>
          </a:p>
          <a:p>
            <a:pPr defTabSz="685800">
              <a:buClrTx/>
            </a:pPr>
            <a:endParaRPr lang="en-US" sz="1000" kern="1200" dirty="0">
              <a:solidFill>
                <a:srgbClr val="FFFFFF"/>
              </a:solidFill>
              <a:latin typeface="Arial"/>
            </a:endParaRPr>
          </a:p>
          <a:p>
            <a:pPr defTabSz="685800">
              <a:buClrTx/>
            </a:pPr>
            <a:r>
              <a:rPr lang="en-US" sz="1000" kern="1200" dirty="0">
                <a:solidFill>
                  <a:srgbClr val="A50E82">
                    <a:lumMod val="40000"/>
                    <a:lumOff val="60000"/>
                  </a:srgbClr>
                </a:solidFill>
                <a:latin typeface="Arial"/>
              </a:rPr>
              <a:t>As I sat under</a:t>
            </a:r>
            <a:r>
              <a:rPr lang="en-US" sz="1000" kern="1200" dirty="0">
                <a:solidFill>
                  <a:srgbClr val="FFFFFF"/>
                </a:solidFill>
                <a:latin typeface="Arial"/>
              </a:rPr>
              <a:t>0000000000000 000000000000000000000000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C2CFF4-EE43-DF84-9C76-501BA7ABA05B}"/>
              </a:ext>
            </a:extLst>
          </p:cNvPr>
          <p:cNvSpPr txBox="1"/>
          <p:nvPr/>
        </p:nvSpPr>
        <p:spPr>
          <a:xfrm>
            <a:off x="6175598" y="4307363"/>
            <a:ext cx="461547" cy="276999"/>
          </a:xfrm>
          <a:prstGeom prst="rect">
            <a:avLst/>
          </a:prstGeom>
          <a:solidFill>
            <a:schemeClr val="tx1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 defTabSz="685800">
              <a:buClrTx/>
            </a:pPr>
            <a:r>
              <a:rPr lang="en-US" sz="1200" kern="1200" dirty="0">
                <a:solidFill>
                  <a:srgbClr val="A50E82">
                    <a:lumMod val="40000"/>
                    <a:lumOff val="60000"/>
                  </a:srgbClr>
                </a:solidFill>
                <a:ea typeface="+mn-ea"/>
                <a:cs typeface="+mn-cs"/>
              </a:rPr>
              <a:t>As</a:t>
            </a:r>
            <a:endParaRPr lang="en-US" sz="1200" kern="1200" dirty="0">
              <a:ea typeface="+mn-ea"/>
              <a:cs typeface="+mn-cs"/>
            </a:endParaRPr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2E14DB10-4B9F-DE44-81A8-EC66ED085CFD}"/>
              </a:ext>
            </a:extLst>
          </p:cNvPr>
          <p:cNvSpPr/>
          <p:nvPr/>
        </p:nvSpPr>
        <p:spPr>
          <a:xfrm>
            <a:off x="4823581" y="2571750"/>
            <a:ext cx="1180679" cy="1879924"/>
          </a:xfrm>
          <a:custGeom>
            <a:avLst/>
            <a:gdLst>
              <a:gd name="connsiteX0" fmla="*/ 1574238 w 1574238"/>
              <a:gd name="connsiteY0" fmla="*/ 2506565 h 2506565"/>
              <a:gd name="connsiteX1" fmla="*/ 134905 w 1574238"/>
              <a:gd name="connsiteY1" fmla="*/ 2057831 h 2506565"/>
              <a:gd name="connsiteX2" fmla="*/ 117971 w 1574238"/>
              <a:gd name="connsiteY2" fmla="*/ 296765 h 2506565"/>
              <a:gd name="connsiteX3" fmla="*/ 634438 w 1574238"/>
              <a:gd name="connsiteY3" fmla="*/ 17365 h 250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74238" h="2506565">
                <a:moveTo>
                  <a:pt x="1574238" y="2506565"/>
                </a:moveTo>
                <a:cubicBezTo>
                  <a:pt x="975927" y="2466348"/>
                  <a:pt x="377616" y="2426131"/>
                  <a:pt x="134905" y="2057831"/>
                </a:cubicBezTo>
                <a:cubicBezTo>
                  <a:pt x="-107806" y="1689531"/>
                  <a:pt x="34716" y="636843"/>
                  <a:pt x="117971" y="296765"/>
                </a:cubicBezTo>
                <a:cubicBezTo>
                  <a:pt x="201226" y="-43313"/>
                  <a:pt x="417832" y="-12974"/>
                  <a:pt x="634438" y="17365"/>
                </a:cubicBezTo>
              </a:path>
            </a:pathLst>
          </a:custGeom>
          <a:noFill/>
          <a:ln>
            <a:solidFill>
              <a:schemeClr val="bg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endParaRPr lang="en-US" sz="1200" kern="12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9D8ECF-E4CB-584E-CE61-74558CA326DC}"/>
              </a:ext>
            </a:extLst>
          </p:cNvPr>
          <p:cNvSpPr txBox="1"/>
          <p:nvPr/>
        </p:nvSpPr>
        <p:spPr>
          <a:xfrm>
            <a:off x="6175598" y="4307363"/>
            <a:ext cx="461547" cy="276999"/>
          </a:xfrm>
          <a:prstGeom prst="rect">
            <a:avLst/>
          </a:prstGeom>
          <a:solidFill>
            <a:schemeClr val="tx1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 defTabSz="685800">
              <a:buClrTx/>
            </a:pPr>
            <a:r>
              <a:rPr lang="en-US" sz="1200" kern="1200" dirty="0">
                <a:solidFill>
                  <a:srgbClr val="A50E82">
                    <a:lumMod val="40000"/>
                    <a:lumOff val="60000"/>
                  </a:srgbClr>
                </a:solidFill>
                <a:ea typeface="+mn-ea"/>
                <a:cs typeface="+mn-cs"/>
              </a:rPr>
              <a:t>I</a:t>
            </a:r>
            <a:endParaRPr lang="en-US" sz="1200" kern="1200" dirty="0"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182EAB-3DF8-3135-EA0A-76F1BC8FA02B}"/>
              </a:ext>
            </a:extLst>
          </p:cNvPr>
          <p:cNvSpPr txBox="1"/>
          <p:nvPr/>
        </p:nvSpPr>
        <p:spPr>
          <a:xfrm>
            <a:off x="6140741" y="4307363"/>
            <a:ext cx="548647" cy="276999"/>
          </a:xfrm>
          <a:prstGeom prst="rect">
            <a:avLst/>
          </a:prstGeom>
          <a:solidFill>
            <a:schemeClr val="tx1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 defTabSz="685800">
              <a:buClrTx/>
            </a:pPr>
            <a:r>
              <a:rPr lang="en-US" sz="1200" kern="1200" dirty="0">
                <a:solidFill>
                  <a:srgbClr val="A50E82">
                    <a:lumMod val="40000"/>
                    <a:lumOff val="60000"/>
                  </a:srgbClr>
                </a:solidFill>
                <a:ea typeface="+mn-ea"/>
                <a:cs typeface="+mn-cs"/>
              </a:rPr>
              <a:t>sat</a:t>
            </a:r>
            <a:endParaRPr lang="en-US" sz="1200" kern="1200" dirty="0">
              <a:ea typeface="+mn-ea"/>
              <a:cs typeface="+mn-cs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1383E94-192A-0598-4D6A-5EC8D81CA0F5}"/>
              </a:ext>
            </a:extLst>
          </p:cNvPr>
          <p:cNvGrpSpPr/>
          <p:nvPr/>
        </p:nvGrpSpPr>
        <p:grpSpPr>
          <a:xfrm>
            <a:off x="5472217" y="3044864"/>
            <a:ext cx="1756259" cy="1184491"/>
            <a:chOff x="1653315" y="4119534"/>
            <a:chExt cx="2341679" cy="157932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776B10B-577E-F76E-E91D-C444A59EF0C9}"/>
                </a:ext>
              </a:extLst>
            </p:cNvPr>
            <p:cNvSpPr/>
            <p:nvPr/>
          </p:nvSpPr>
          <p:spPr>
            <a:xfrm>
              <a:off x="1653315" y="4564013"/>
              <a:ext cx="2341679" cy="7943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r>
                <a:rPr lang="en-US" sz="1000" kern="1200" dirty="0">
                  <a:solidFill>
                    <a:srgbClr val="FFFFFF"/>
                  </a:solidFill>
                  <a:latin typeface="Arial"/>
                </a:rPr>
                <a:t>LLM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7999CDB-1D7F-AA69-418E-263EA1A0F0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8198" y="4119534"/>
              <a:ext cx="1" cy="326347"/>
            </a:xfrm>
            <a:prstGeom prst="straightConnector1">
              <a:avLst/>
            </a:prstGeom>
            <a:ln w="3492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91FD8345-EEF9-A160-0DE7-D90DDC311A6C}"/>
                </a:ext>
              </a:extLst>
            </p:cNvPr>
            <p:cNvCxnSpPr>
              <a:cxnSpLocks/>
            </p:cNvCxnSpPr>
            <p:nvPr/>
          </p:nvCxnSpPr>
          <p:spPr>
            <a:xfrm>
              <a:off x="2824154" y="5358388"/>
              <a:ext cx="0" cy="340467"/>
            </a:xfrm>
            <a:prstGeom prst="straightConnector1">
              <a:avLst/>
            </a:prstGeom>
            <a:ln w="3492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B34DC81F-292E-7D93-4717-24ACD9BF8AE8}"/>
              </a:ext>
            </a:extLst>
          </p:cNvPr>
          <p:cNvSpPr txBox="1"/>
          <p:nvPr/>
        </p:nvSpPr>
        <p:spPr>
          <a:xfrm>
            <a:off x="6045336" y="4307363"/>
            <a:ext cx="798369" cy="276999"/>
          </a:xfrm>
          <a:prstGeom prst="rect">
            <a:avLst/>
          </a:prstGeom>
          <a:solidFill>
            <a:schemeClr val="tx1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 defTabSz="685800">
              <a:buClrTx/>
            </a:pPr>
            <a:r>
              <a:rPr lang="en-US" sz="1200" kern="1200" dirty="0">
                <a:solidFill>
                  <a:srgbClr val="A50E82">
                    <a:lumMod val="40000"/>
                    <a:lumOff val="60000"/>
                  </a:srgbClr>
                </a:solidFill>
                <a:ea typeface="+mn-ea"/>
                <a:cs typeface="+mn-cs"/>
              </a:rPr>
              <a:t>under</a:t>
            </a:r>
            <a:endParaRPr lang="en-US" sz="1200" kern="1200" dirty="0"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EA1BCA-DAAB-2B3E-F148-E7CD57FD8BAA}"/>
              </a:ext>
            </a:extLst>
          </p:cNvPr>
          <p:cNvSpPr txBox="1"/>
          <p:nvPr/>
        </p:nvSpPr>
        <p:spPr>
          <a:xfrm>
            <a:off x="5982708" y="1206089"/>
            <a:ext cx="6799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buClrTx/>
            </a:pPr>
            <a:r>
              <a:rPr lang="en-US" sz="1200" u="sng" kern="1200" dirty="0">
                <a:solidFill>
                  <a:srgbClr val="FFFFFF"/>
                </a:solidFill>
                <a:ea typeface="+mn-ea"/>
                <a:cs typeface="+mn-cs"/>
              </a:rPr>
              <a:t>Prompt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568CD07-1823-211C-C289-4D986F64D329}"/>
              </a:ext>
            </a:extLst>
          </p:cNvPr>
          <p:cNvGrpSpPr/>
          <p:nvPr/>
        </p:nvGrpSpPr>
        <p:grpSpPr>
          <a:xfrm>
            <a:off x="299799" y="1631629"/>
            <a:ext cx="3947884" cy="2258548"/>
            <a:chOff x="399731" y="2175505"/>
            <a:chExt cx="5263845" cy="3011397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D7411E3-D0C0-24CA-33FB-085C0542AE3B}"/>
                </a:ext>
              </a:extLst>
            </p:cNvPr>
            <p:cNvSpPr txBox="1"/>
            <p:nvPr/>
          </p:nvSpPr>
          <p:spPr>
            <a:xfrm>
              <a:off x="399731" y="2175505"/>
              <a:ext cx="4912442" cy="2154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14313" indent="-214313" defTabSz="685800">
                <a:spcAft>
                  <a:spcPts val="900"/>
                </a:spcAft>
                <a:buClrTx/>
                <a:buFont typeface="Arial" panose="020B0604020202020204" pitchFamily="34" charset="0"/>
                <a:buChar char="•"/>
              </a:pPr>
              <a:r>
                <a:rPr lang="en-US" sz="1200" kern="1200" dirty="0">
                  <a:solidFill>
                    <a:srgbClr val="FFFFFF"/>
                  </a:solidFill>
                  <a:ea typeface="+mn-ea"/>
                  <a:cs typeface="+mn-cs"/>
                </a:rPr>
                <a:t>LLMs convert words or partial words to ids called </a:t>
              </a:r>
              <a:r>
                <a:rPr lang="en-US" sz="1200" kern="1200" dirty="0">
                  <a:solidFill>
                    <a:srgbClr val="76DBF4">
                      <a:lumMod val="75000"/>
                    </a:srgbClr>
                  </a:solidFill>
                  <a:ea typeface="+mn-ea"/>
                  <a:cs typeface="+mn-cs"/>
                </a:rPr>
                <a:t>tokens</a:t>
              </a:r>
            </a:p>
            <a:p>
              <a:pPr marL="214313" indent="-214313" defTabSz="685800">
                <a:spcAft>
                  <a:spcPts val="900"/>
                </a:spcAft>
                <a:buClrTx/>
                <a:buFont typeface="Arial" panose="020B0604020202020204" pitchFamily="34" charset="0"/>
                <a:buChar char="•"/>
              </a:pPr>
              <a:r>
                <a:rPr lang="en-US" sz="1200" kern="1200" dirty="0">
                  <a:solidFill>
                    <a:srgbClr val="76DBF4">
                      <a:lumMod val="75000"/>
                    </a:srgbClr>
                  </a:solidFill>
                  <a:ea typeface="+mn-ea"/>
                  <a:cs typeface="+mn-cs"/>
                </a:rPr>
                <a:t>Context window </a:t>
              </a:r>
              <a:r>
                <a:rPr lang="en-US" sz="1200" kern="1200" dirty="0">
                  <a:solidFill>
                    <a:srgbClr val="FFFFFF"/>
                  </a:solidFill>
                  <a:ea typeface="+mn-ea"/>
                  <a:cs typeface="+mn-cs"/>
                </a:rPr>
                <a:t>or </a:t>
              </a:r>
              <a:r>
                <a:rPr lang="en-US" sz="1200" kern="1200" dirty="0">
                  <a:solidFill>
                    <a:srgbClr val="76DBF4">
                      <a:lumMod val="75000"/>
                    </a:srgbClr>
                  </a:solidFill>
                  <a:ea typeface="+mn-ea"/>
                  <a:cs typeface="+mn-cs"/>
                </a:rPr>
                <a:t>context length</a:t>
              </a:r>
              <a:r>
                <a:rPr lang="en-US" sz="1200" kern="1200" dirty="0">
                  <a:solidFill>
                    <a:srgbClr val="FFFFFF"/>
                  </a:solidFill>
                  <a:ea typeface="+mn-ea"/>
                  <a:cs typeface="+mn-cs"/>
                </a:rPr>
                <a:t> is the maximum number of tokens an LLM will accept as input</a:t>
              </a:r>
            </a:p>
            <a:p>
              <a:pPr marL="214313" indent="-214313" defTabSz="685800">
                <a:spcAft>
                  <a:spcPts val="900"/>
                </a:spcAft>
                <a:buClrTx/>
                <a:buFont typeface="Arial" panose="020B0604020202020204" pitchFamily="34" charset="0"/>
                <a:buChar char="•"/>
              </a:pPr>
              <a:r>
                <a:rPr lang="en-US" sz="1200" kern="1200" dirty="0">
                  <a:solidFill>
                    <a:srgbClr val="FFFFFF"/>
                  </a:solidFill>
                  <a:ea typeface="+mn-ea"/>
                  <a:cs typeface="+mn-cs"/>
                </a:rPr>
                <a:t>LLM generation is recursive, so your output token amount is limited to: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28966F21-A46F-60DD-29F2-1A5CD8D1DB8D}"/>
                    </a:ext>
                  </a:extLst>
                </p:cNvPr>
                <p:cNvSpPr txBox="1"/>
                <p:nvPr/>
              </p:nvSpPr>
              <p:spPr>
                <a:xfrm>
                  <a:off x="751134" y="4961199"/>
                  <a:ext cx="4912442" cy="22570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685800"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1100" i="1" kern="12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100" kern="12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max</m:t>
                            </m:r>
                          </m:fName>
                          <m:e>
                            <m:r>
                              <a:rPr lang="en-US" sz="1100" i="1" kern="12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𝑜𝑢𝑡𝑝𝑢𝑡</m:t>
                            </m:r>
                            <m:r>
                              <a:rPr lang="en-US" sz="1100" i="1" kern="12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r>
                              <a:rPr lang="en-US" sz="1100" i="1" kern="12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𝑡𝑜𝑘𝑒𝑛𝑠</m:t>
                            </m:r>
                            <m:r>
                              <a:rPr lang="en-US" sz="1100" i="1" kern="12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= </m:t>
                            </m:r>
                          </m:e>
                        </m:func>
                        <m:r>
                          <a:rPr lang="en-US" sz="1100" i="1" kern="12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𝑐𝑜𝑛𝑡𝑒𝑥𝑡</m:t>
                        </m:r>
                        <m:r>
                          <a:rPr lang="en-US" sz="1100" i="1" kern="12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lang="en-US" sz="1100" i="1" kern="12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𝑤𝑖𝑛𝑑𝑜𝑤</m:t>
                        </m:r>
                        <m:r>
                          <a:rPr lang="en-US" sz="1100" i="1" kern="12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−</m:t>
                        </m:r>
                        <m:r>
                          <a:rPr lang="en-US" sz="1100" i="1" kern="12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𝑖𝑛𝑝𝑢𝑡</m:t>
                        </m:r>
                        <m:r>
                          <a:rPr lang="en-US" sz="1100" i="1" kern="12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lang="en-US" sz="1100" i="1" kern="12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𝑡𝑜𝑘𝑒𝑛𝑠</m:t>
                        </m:r>
                      </m:oMath>
                    </m:oMathPara>
                  </a14:m>
                  <a:endParaRPr lang="en-US" sz="1100" kern="1200" dirty="0">
                    <a:solidFill>
                      <a:srgbClr val="FFFFFF"/>
                    </a:solidFill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28966F21-A46F-60DD-29F2-1A5CD8D1DB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134" y="4961199"/>
                  <a:ext cx="4912442" cy="225703"/>
                </a:xfrm>
                <a:prstGeom prst="rect">
                  <a:avLst/>
                </a:prstGeom>
                <a:blipFill>
                  <a:blip r:embed="rId2"/>
                  <a:stretch>
                    <a:fillRect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B04486F-B7B8-006C-389C-3E90680C54DB}"/>
              </a:ext>
            </a:extLst>
          </p:cNvPr>
          <p:cNvGrpSpPr/>
          <p:nvPr/>
        </p:nvGrpSpPr>
        <p:grpSpPr>
          <a:xfrm>
            <a:off x="4081042" y="1540441"/>
            <a:ext cx="1231241" cy="890228"/>
            <a:chOff x="5441389" y="2053922"/>
            <a:chExt cx="1641654" cy="1186970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87AF0AF-894E-0AB8-8291-AE42BE8BEF94}"/>
                </a:ext>
              </a:extLst>
            </p:cNvPr>
            <p:cNvSpPr txBox="1"/>
            <p:nvPr/>
          </p:nvSpPr>
          <p:spPr>
            <a:xfrm>
              <a:off x="5441389" y="2478255"/>
              <a:ext cx="1361910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buClrTx/>
              </a:pPr>
              <a:r>
                <a:rPr lang="en-US" sz="1200" kern="1200" dirty="0">
                  <a:solidFill>
                    <a:srgbClr val="FFFFFF"/>
                  </a:solidFill>
                  <a:ea typeface="+mn-ea"/>
                  <a:cs typeface="+mn-cs"/>
                </a:rPr>
                <a:t>Input tokens</a:t>
              </a:r>
            </a:p>
            <a:p>
              <a:pPr defTabSz="685800">
                <a:buClrTx/>
              </a:pPr>
              <a:r>
                <a:rPr lang="en-US" sz="1200" kern="1200" dirty="0">
                  <a:solidFill>
                    <a:srgbClr val="FFFFFF"/>
                  </a:solidFill>
                  <a:ea typeface="+mn-ea"/>
                  <a:cs typeface="+mn-cs"/>
                </a:rPr>
                <a:t> 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B639E513-0C45-0D18-235F-91D428DA6CD7}"/>
                </a:ext>
              </a:extLst>
            </p:cNvPr>
            <p:cNvGrpSpPr/>
            <p:nvPr/>
          </p:nvGrpSpPr>
          <p:grpSpPr>
            <a:xfrm>
              <a:off x="6790435" y="2053922"/>
              <a:ext cx="292608" cy="1186970"/>
              <a:chOff x="4803244" y="3894359"/>
              <a:chExt cx="296334" cy="855771"/>
            </a:xfrm>
          </p:grpSpPr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F09CEEA4-37C4-2F71-6BC4-47B90F01AAAA}"/>
                  </a:ext>
                </a:extLst>
              </p:cNvPr>
              <p:cNvCxnSpPr/>
              <p:nvPr/>
            </p:nvCxnSpPr>
            <p:spPr>
              <a:xfrm>
                <a:off x="4951412" y="3895106"/>
                <a:ext cx="0" cy="855024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9D40B514-AF6C-5148-C122-A96EF3F5F391}"/>
                  </a:ext>
                </a:extLst>
              </p:cNvPr>
              <p:cNvCxnSpPr/>
              <p:nvPr/>
            </p:nvCxnSpPr>
            <p:spPr>
              <a:xfrm>
                <a:off x="4803245" y="3894359"/>
                <a:ext cx="296333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7715FD0-4E2D-B44F-26C2-D4BD8D7BD6AA}"/>
                  </a:ext>
                </a:extLst>
              </p:cNvPr>
              <p:cNvCxnSpPr/>
              <p:nvPr/>
            </p:nvCxnSpPr>
            <p:spPr>
              <a:xfrm>
                <a:off x="4803244" y="4750130"/>
                <a:ext cx="296333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C7F39F3-B64D-BD82-5188-15DB56650634}"/>
              </a:ext>
            </a:extLst>
          </p:cNvPr>
          <p:cNvGrpSpPr/>
          <p:nvPr/>
        </p:nvGrpSpPr>
        <p:grpSpPr>
          <a:xfrm>
            <a:off x="214331" y="1528497"/>
            <a:ext cx="4197696" cy="2364511"/>
            <a:chOff x="285774" y="2037996"/>
            <a:chExt cx="5596928" cy="3152681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CF9C9FF-71E7-D530-1431-886685626E45}"/>
                </a:ext>
              </a:extLst>
            </p:cNvPr>
            <p:cNvSpPr txBox="1"/>
            <p:nvPr/>
          </p:nvSpPr>
          <p:spPr>
            <a:xfrm>
              <a:off x="1412361" y="2037996"/>
              <a:ext cx="21035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buClrTx/>
              </a:pPr>
              <a:r>
                <a:rPr lang="en-US" sz="1200" b="1" kern="1200" dirty="0">
                  <a:solidFill>
                    <a:srgbClr val="FFFFFF"/>
                  </a:solidFill>
                  <a:ea typeface="+mn-ea"/>
                  <a:cs typeface="+mn-cs"/>
                </a:rPr>
                <a:t>Gemma 2 - Instruct</a:t>
              </a: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4D3EFC46-CA6B-A0E6-5643-60C7B6BBD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603" t="22797" r="50418" b="8838"/>
            <a:stretch>
              <a:fillRect/>
            </a:stretch>
          </p:blipFill>
          <p:spPr>
            <a:xfrm>
              <a:off x="801900" y="2458067"/>
              <a:ext cx="3495903" cy="1021278"/>
            </a:xfrm>
            <a:prstGeom prst="rect">
              <a:avLst/>
            </a:prstGeom>
            <a:ln w="19050">
              <a:solidFill>
                <a:schemeClr val="bg1"/>
              </a:solidFill>
            </a:ln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21C71EB-A4CB-164B-E6BE-FFBB67A818B9}"/>
                </a:ext>
              </a:extLst>
            </p:cNvPr>
            <p:cNvSpPr txBox="1"/>
            <p:nvPr/>
          </p:nvSpPr>
          <p:spPr>
            <a:xfrm>
              <a:off x="285774" y="3682572"/>
              <a:ext cx="5596928" cy="1508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14313" indent="-214313" defTabSz="685800">
                <a:spcAft>
                  <a:spcPts val="900"/>
                </a:spcAft>
                <a:buClrTx/>
                <a:buFont typeface="Arial" panose="020B0604020202020204" pitchFamily="34" charset="0"/>
                <a:buChar char="•"/>
              </a:pPr>
              <a:r>
                <a:rPr lang="en-US" sz="1200" kern="1200" dirty="0" err="1">
                  <a:solidFill>
                    <a:srgbClr val="FFFFFF"/>
                  </a:solidFill>
                  <a:ea typeface="+mn-ea"/>
                  <a:cs typeface="+mn-cs"/>
                </a:rPr>
                <a:t>Mutli</a:t>
              </a:r>
              <a:r>
                <a:rPr lang="en-US" sz="1200" kern="1200" dirty="0">
                  <a:solidFill>
                    <a:srgbClr val="FFFFFF"/>
                  </a:solidFill>
                  <a:ea typeface="+mn-ea"/>
                  <a:cs typeface="+mn-cs"/>
                </a:rPr>
                <a:t>-turn conversations are just recorded as one long prompt with special tokens demarcating user and agent messages </a:t>
              </a:r>
            </a:p>
            <a:p>
              <a:pPr marL="214313" indent="-214313" defTabSz="685800">
                <a:spcAft>
                  <a:spcPts val="900"/>
                </a:spcAft>
                <a:buClrTx/>
                <a:buFont typeface="Arial" panose="020B0604020202020204" pitchFamily="34" charset="0"/>
                <a:buChar char="•"/>
              </a:pPr>
              <a:r>
                <a:rPr lang="en-US" sz="1200" kern="1200" dirty="0">
                  <a:solidFill>
                    <a:srgbClr val="FFFFFF"/>
                  </a:solidFill>
                  <a:ea typeface="+mn-ea"/>
                  <a:cs typeface="+mn-cs"/>
                </a:rPr>
                <a:t>The “Instruct” versions of models have been fine-tuned to understand this convention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812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0" grpId="0" animBg="1"/>
      <p:bldP spid="21" grpId="0" animBg="1"/>
      <p:bldP spid="23" grpId="0" animBg="1"/>
      <p:bldP spid="22" grpId="0" animBg="1"/>
      <p:bldP spid="30" grpId="0" animBg="1"/>
      <p:bldP spid="35" grpId="0" animBg="1"/>
      <p:bldP spid="37" grpId="0" animBg="1"/>
      <p:bldP spid="38" grpId="0" animBg="1"/>
      <p:bldP spid="39" grpId="0" animBg="1"/>
      <p:bldP spid="39" grpId="1" animBg="1"/>
      <p:bldP spid="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17F39-B2AF-FCA5-DE6A-91BBACEAB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 Augmented Generation (RAG)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49955-DE6F-CACD-EB1E-8C8EFD4777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4826CD5-1260-87DE-0FA2-71AD1FA9E33D}"/>
              </a:ext>
            </a:extLst>
          </p:cNvPr>
          <p:cNvSpPr/>
          <p:nvPr/>
        </p:nvSpPr>
        <p:spPr>
          <a:xfrm>
            <a:off x="107637" y="1227244"/>
            <a:ext cx="1955139" cy="133612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 algn="ctr">
            <a:solidFill>
              <a:srgbClr val="A02B93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u="sng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Prompt</a:t>
            </a:r>
          </a:p>
          <a:p>
            <a:pPr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What is the typical dust mass density distribution start systems with only one planet?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74FEE96-CDB9-C555-8BF3-92B71869E472}"/>
              </a:ext>
            </a:extLst>
          </p:cNvPr>
          <p:cNvSpPr/>
          <p:nvPr/>
        </p:nvSpPr>
        <p:spPr>
          <a:xfrm>
            <a:off x="136015" y="3320815"/>
            <a:ext cx="1518841" cy="61080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9050" cap="flat" cmpd="sng" algn="ctr">
            <a:solidFill>
              <a:srgbClr val="A02B93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Paper Database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6B4BA3B-E15A-FC3E-AAE2-3CFEDEB37707}"/>
              </a:ext>
            </a:extLst>
          </p:cNvPr>
          <p:cNvGrpSpPr/>
          <p:nvPr/>
        </p:nvGrpSpPr>
        <p:grpSpPr>
          <a:xfrm>
            <a:off x="1741542" y="1843082"/>
            <a:ext cx="4335137" cy="2423386"/>
            <a:chOff x="1741542" y="1843082"/>
            <a:chExt cx="4335137" cy="2423386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54858B9-D219-138F-6410-BDEF0E0151ED}"/>
                </a:ext>
              </a:extLst>
            </p:cNvPr>
            <p:cNvGrpSpPr/>
            <p:nvPr/>
          </p:nvGrpSpPr>
          <p:grpSpPr>
            <a:xfrm>
              <a:off x="2631378" y="1843082"/>
              <a:ext cx="3445301" cy="2423386"/>
              <a:chOff x="2270888" y="1810787"/>
              <a:chExt cx="3445301" cy="2423386"/>
            </a:xfrm>
          </p:grpSpPr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AA4E27A7-CAA8-B8B7-5629-68E0400D4ABC}"/>
                  </a:ext>
                </a:extLst>
              </p:cNvPr>
              <p:cNvSpPr/>
              <p:nvPr/>
            </p:nvSpPr>
            <p:spPr>
              <a:xfrm>
                <a:off x="2277868" y="1810787"/>
                <a:ext cx="2636159" cy="250168"/>
              </a:xfrm>
              <a:prstGeom prst="roundRect">
                <a:avLst>
                  <a:gd name="adj" fmla="val 0"/>
                </a:avLst>
              </a:prstGeom>
              <a:noFill/>
              <a:ln w="1905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r>
                  <a:rPr lang="en-US" sz="1350" dirty="0">
                    <a:solidFill>
                      <a:prstClr val="white"/>
                    </a:solidFill>
                    <a:latin typeface="Aptos" panose="02110004020202020204"/>
                    <a:ea typeface="+mn-ea"/>
                    <a:cs typeface="+mn-cs"/>
                  </a:rPr>
                  <a:t>Embedding Vector [.5, .36,…]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59EBDFF8-E673-1991-2AE8-4A60C3515753}"/>
                  </a:ext>
                </a:extLst>
              </p:cNvPr>
              <p:cNvSpPr/>
              <p:nvPr/>
            </p:nvSpPr>
            <p:spPr>
              <a:xfrm>
                <a:off x="2277868" y="2953702"/>
                <a:ext cx="2636159" cy="250168"/>
              </a:xfrm>
              <a:prstGeom prst="roundRect">
                <a:avLst>
                  <a:gd name="adj" fmla="val 0"/>
                </a:avLst>
              </a:prstGeom>
              <a:noFill/>
              <a:ln w="1905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r>
                  <a:rPr lang="en-US" sz="1350" dirty="0">
                    <a:solidFill>
                      <a:prstClr val="white"/>
                    </a:solidFill>
                    <a:latin typeface="Aptos" panose="02110004020202020204"/>
                    <a:ea typeface="+mn-ea"/>
                    <a:cs typeface="+mn-cs"/>
                  </a:rPr>
                  <a:t>Abstract 1 Vector [.02, .60,…]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630ACD03-1938-377C-1C2A-42D7BA1C9B1D}"/>
                  </a:ext>
                </a:extLst>
              </p:cNvPr>
              <p:cNvSpPr/>
              <p:nvPr/>
            </p:nvSpPr>
            <p:spPr>
              <a:xfrm>
                <a:off x="2270888" y="3281770"/>
                <a:ext cx="2636159" cy="250168"/>
              </a:xfrm>
              <a:prstGeom prst="roundRect">
                <a:avLst>
                  <a:gd name="adj" fmla="val 0"/>
                </a:avLst>
              </a:prstGeom>
              <a:noFill/>
              <a:ln w="1905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r>
                  <a:rPr lang="en-US" sz="1350" dirty="0">
                    <a:solidFill>
                      <a:prstClr val="white"/>
                    </a:solidFill>
                    <a:latin typeface="Aptos" panose="02110004020202020204"/>
                    <a:ea typeface="+mn-ea"/>
                    <a:cs typeface="+mn-cs"/>
                  </a:rPr>
                  <a:t>Abstract 2 Vector [.23, .44,…]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F12CBA4-803C-5580-4F3C-DABD316CDDA4}"/>
                  </a:ext>
                </a:extLst>
              </p:cNvPr>
              <p:cNvSpPr/>
              <p:nvPr/>
            </p:nvSpPr>
            <p:spPr>
              <a:xfrm>
                <a:off x="3506095" y="3641671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69FAAC7-9CBE-BFA7-B39A-27B7B1B69323}"/>
                  </a:ext>
                </a:extLst>
              </p:cNvPr>
              <p:cNvSpPr/>
              <p:nvPr/>
            </p:nvSpPr>
            <p:spPr>
              <a:xfrm>
                <a:off x="3506095" y="3738464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D755BDE-D32C-5BB2-BC7E-9117046B62E2}"/>
                  </a:ext>
                </a:extLst>
              </p:cNvPr>
              <p:cNvSpPr/>
              <p:nvPr/>
            </p:nvSpPr>
            <p:spPr>
              <a:xfrm>
                <a:off x="3506095" y="3835258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048CB374-600B-F8B3-803B-904D8128DE89}"/>
                  </a:ext>
                </a:extLst>
              </p:cNvPr>
              <p:cNvSpPr/>
              <p:nvPr/>
            </p:nvSpPr>
            <p:spPr>
              <a:xfrm>
                <a:off x="2277868" y="3984005"/>
                <a:ext cx="2636159" cy="250168"/>
              </a:xfrm>
              <a:prstGeom prst="roundRect">
                <a:avLst>
                  <a:gd name="adj" fmla="val 0"/>
                </a:avLst>
              </a:prstGeom>
              <a:noFill/>
              <a:ln w="1905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r>
                  <a:rPr lang="en-US" sz="1350" dirty="0">
                    <a:solidFill>
                      <a:prstClr val="white"/>
                    </a:solidFill>
                    <a:latin typeface="Aptos" panose="02110004020202020204"/>
                    <a:ea typeface="+mn-ea"/>
                    <a:cs typeface="+mn-cs"/>
                  </a:rPr>
                  <a:t>Abstract N Vector [.72, .97,…]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FAA31FB9-0997-E285-27F2-A8FEDBD947AD}"/>
                  </a:ext>
                </a:extLst>
              </p:cNvPr>
              <p:cNvCxnSpPr/>
              <p:nvPr/>
            </p:nvCxnSpPr>
            <p:spPr>
              <a:xfrm>
                <a:off x="3525759" y="2182761"/>
                <a:ext cx="0" cy="58010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791C511-E25E-2165-F208-653AE1AC26C8}"/>
                  </a:ext>
                </a:extLst>
              </p:cNvPr>
              <p:cNvSpPr txBox="1"/>
              <p:nvPr/>
            </p:nvSpPr>
            <p:spPr>
              <a:xfrm>
                <a:off x="3551814" y="2318924"/>
                <a:ext cx="216437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Find most similar vectors</a:t>
                </a:r>
              </a:p>
            </p:txBody>
          </p:sp>
        </p:grp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27F30411-64B3-C061-D07D-4A1E623CCF18}"/>
                </a:ext>
              </a:extLst>
            </p:cNvPr>
            <p:cNvCxnSpPr>
              <a:cxnSpLocks/>
            </p:cNvCxnSpPr>
            <p:nvPr/>
          </p:nvCxnSpPr>
          <p:spPr>
            <a:xfrm>
              <a:off x="2105647" y="1968166"/>
              <a:ext cx="448408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Left Brace 33">
              <a:extLst>
                <a:ext uri="{FF2B5EF4-FFF2-40B4-BE49-F238E27FC236}">
                  <a16:creationId xmlns:a16="http://schemas.microsoft.com/office/drawing/2014/main" id="{A86816A9-9467-CDBB-8BAC-E8A457A08C30}"/>
                </a:ext>
              </a:extLst>
            </p:cNvPr>
            <p:cNvSpPr/>
            <p:nvPr/>
          </p:nvSpPr>
          <p:spPr>
            <a:xfrm>
              <a:off x="2329851" y="2985996"/>
              <a:ext cx="159812" cy="1280443"/>
            </a:xfrm>
            <a:prstGeom prst="leftBrace">
              <a:avLst>
                <a:gd name="adj1" fmla="val 91512"/>
                <a:gd name="adj2" fmla="val 5000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2685BFB2-B0A2-F09D-D84F-C8FC7C78AE57}"/>
                </a:ext>
              </a:extLst>
            </p:cNvPr>
            <p:cNvCxnSpPr>
              <a:cxnSpLocks/>
            </p:cNvCxnSpPr>
            <p:nvPr/>
          </p:nvCxnSpPr>
          <p:spPr>
            <a:xfrm>
              <a:off x="1741542" y="3626217"/>
              <a:ext cx="448408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049F6A4-CAA1-6DB0-2AE8-3D6894A1E139}"/>
              </a:ext>
            </a:extLst>
          </p:cNvPr>
          <p:cNvGrpSpPr/>
          <p:nvPr/>
        </p:nvGrpSpPr>
        <p:grpSpPr>
          <a:xfrm>
            <a:off x="2189950" y="1152450"/>
            <a:ext cx="6723681" cy="2411784"/>
            <a:chOff x="2189950" y="1152450"/>
            <a:chExt cx="6723681" cy="2411784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099E508-CB2B-090F-9D38-BAB51AAC0573}"/>
                </a:ext>
              </a:extLst>
            </p:cNvPr>
            <p:cNvGrpSpPr/>
            <p:nvPr/>
          </p:nvGrpSpPr>
          <p:grpSpPr>
            <a:xfrm>
              <a:off x="2189950" y="1152450"/>
              <a:ext cx="6723681" cy="2120085"/>
              <a:chOff x="2189950" y="1152450"/>
              <a:chExt cx="6723681" cy="2120085"/>
            </a:xfrm>
          </p:grpSpPr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47DCD873-128F-5265-3F53-A19F8BEE0A59}"/>
                  </a:ext>
                </a:extLst>
              </p:cNvPr>
              <p:cNvSpPr/>
              <p:nvPr/>
            </p:nvSpPr>
            <p:spPr>
              <a:xfrm>
                <a:off x="6958492" y="1152450"/>
                <a:ext cx="1955139" cy="182220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9050" cap="flat" cmpd="sng" algn="ctr">
                <a:solidFill>
                  <a:srgbClr val="A02B93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r>
                  <a:rPr lang="en-US" sz="1350" u="sng" dirty="0">
                    <a:solidFill>
                      <a:prstClr val="white"/>
                    </a:solidFill>
                    <a:latin typeface="Aptos" panose="02110004020202020204"/>
                    <a:ea typeface="+mn-ea"/>
                    <a:cs typeface="+mn-cs"/>
                  </a:rPr>
                  <a:t>Prompt</a:t>
                </a:r>
              </a:p>
              <a:p>
                <a:pPr defTabSz="685800">
                  <a:buClrTx/>
                  <a:defRPr/>
                </a:pPr>
                <a:r>
                  <a:rPr lang="en-US" sz="1350" dirty="0">
                    <a:solidFill>
                      <a:prstClr val="white"/>
                    </a:solidFill>
                    <a:latin typeface="Aptos" panose="02110004020202020204"/>
                    <a:ea typeface="+mn-ea"/>
                    <a:cs typeface="+mn-cs"/>
                  </a:rPr>
                  <a:t>What is the typical…</a:t>
                </a:r>
              </a:p>
              <a:p>
                <a:pPr defTabSz="685800">
                  <a:buClrTx/>
                  <a:defRPr/>
                </a:pPr>
                <a:endParaRPr lang="en-US" sz="1350" dirty="0">
                  <a:solidFill>
                    <a:prstClr val="white"/>
                  </a:solidFill>
                  <a:latin typeface="Aptos" panose="02110004020202020204"/>
                  <a:ea typeface="+mn-ea"/>
                  <a:cs typeface="+mn-cs"/>
                </a:endParaRPr>
              </a:p>
              <a:p>
                <a:pPr defTabSz="685800">
                  <a:buClrTx/>
                  <a:defRPr/>
                </a:pPr>
                <a:r>
                  <a:rPr lang="en-US" sz="1350" u="sng" dirty="0">
                    <a:solidFill>
                      <a:prstClr val="white"/>
                    </a:solidFill>
                    <a:latin typeface="Aptos" panose="02110004020202020204"/>
                    <a:ea typeface="+mn-ea"/>
                    <a:cs typeface="+mn-cs"/>
                  </a:rPr>
                  <a:t>Relevant Papers</a:t>
                </a:r>
              </a:p>
              <a:p>
                <a:pPr defTabSz="685800">
                  <a:buClrTx/>
                  <a:defRPr/>
                </a:pPr>
                <a:r>
                  <a:rPr lang="en-US" sz="1350" dirty="0">
                    <a:solidFill>
                      <a:srgbClr val="F18600"/>
                    </a:solidFill>
                    <a:latin typeface="Aptos" panose="02110004020202020204"/>
                    <a:ea typeface="+mn-ea"/>
                    <a:cs typeface="+mn-cs"/>
                  </a:rPr>
                  <a:t>{paper 1 text}</a:t>
                </a:r>
              </a:p>
              <a:p>
                <a:pPr defTabSz="685800">
                  <a:buClrTx/>
                  <a:defRPr/>
                </a:pPr>
                <a:endParaRPr lang="en-US" sz="1350" dirty="0">
                  <a:solidFill>
                    <a:prstClr val="white"/>
                  </a:solidFill>
                  <a:latin typeface="Aptos" panose="02110004020202020204"/>
                  <a:ea typeface="+mn-ea"/>
                  <a:cs typeface="+mn-cs"/>
                </a:endParaRPr>
              </a:p>
              <a:p>
                <a:pPr defTabSz="685800">
                  <a:buClrTx/>
                  <a:defRPr/>
                </a:pPr>
                <a:r>
                  <a:rPr lang="en-US" sz="1350" dirty="0">
                    <a:solidFill>
                      <a:srgbClr val="F18600"/>
                    </a:solidFill>
                    <a:latin typeface="Aptos" panose="02110004020202020204"/>
                    <a:ea typeface="+mn-ea"/>
                    <a:cs typeface="+mn-cs"/>
                  </a:rPr>
                  <a:t>{paper 2 text}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7D35135E-33FA-D1BE-C059-2F69043346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895" y="2466884"/>
                <a:ext cx="667699" cy="0"/>
              </a:xfrm>
              <a:prstGeom prst="straightConnector1">
                <a:avLst/>
              </a:prstGeom>
              <a:ln w="25400">
                <a:solidFill>
                  <a:srgbClr val="F086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58F31ABA-30A6-88C5-F6AE-B5D514FD84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28365" y="3272535"/>
                <a:ext cx="468530" cy="0"/>
              </a:xfrm>
              <a:prstGeom prst="straightConnector1">
                <a:avLst/>
              </a:prstGeom>
              <a:ln w="25400">
                <a:solidFill>
                  <a:srgbClr val="F086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EBE9C17E-4623-40AB-2E5F-889B030E51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6895" y="2466884"/>
                <a:ext cx="0" cy="805651"/>
              </a:xfrm>
              <a:prstGeom prst="straightConnector1">
                <a:avLst/>
              </a:prstGeom>
              <a:ln w="25400">
                <a:solidFill>
                  <a:srgbClr val="F086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D2ACC04C-3BB8-4DB4-493C-DEDEFC0C8A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9950" y="1577064"/>
                <a:ext cx="4641368" cy="0"/>
              </a:xfrm>
              <a:prstGeom prst="straightConnector1">
                <a:avLst/>
              </a:prstGeom>
              <a:ln w="25400">
                <a:solidFill>
                  <a:schemeClr val="accent4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Left Brace 37">
              <a:extLst>
                <a:ext uri="{FF2B5EF4-FFF2-40B4-BE49-F238E27FC236}">
                  <a16:creationId xmlns:a16="http://schemas.microsoft.com/office/drawing/2014/main" id="{651A695D-67FA-9447-FB6F-1E1AE8FC3933}"/>
                </a:ext>
              </a:extLst>
            </p:cNvPr>
            <p:cNvSpPr/>
            <p:nvPr/>
          </p:nvSpPr>
          <p:spPr>
            <a:xfrm flipH="1">
              <a:off x="5401690" y="2974656"/>
              <a:ext cx="159811" cy="589578"/>
            </a:xfrm>
            <a:prstGeom prst="leftBrace">
              <a:avLst>
                <a:gd name="adj1" fmla="val 46255"/>
                <a:gd name="adj2" fmla="val 50000"/>
              </a:avLst>
            </a:prstGeom>
            <a:ln w="25400">
              <a:solidFill>
                <a:srgbClr val="F08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9575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F245A-E254-553D-4A7F-B3E660CA5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Capabilities and Limitations of LLMs and RAG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0366A-E804-8250-4110-1654CECDB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Large Language Models (LLMs) excel at generating human-like text for creative or general tasks, like storytelling or summarization, but they're limited by static training data that can become outdated</a:t>
            </a:r>
          </a:p>
          <a:p>
            <a:r>
              <a:rPr lang="en-US" dirty="0"/>
              <a:t>Retrieval-Augmented Generation (RAG) enhances LLMs by pulling real-time external data, solving accuracy issues in knowledge-intensive queries such as medical advice or current events. </a:t>
            </a:r>
          </a:p>
          <a:p>
            <a:pPr lvl="1"/>
            <a:r>
              <a:rPr lang="en-US" dirty="0"/>
              <a:t>RAG improves factual grounding via retrieval but falters on aggregate analysis across large corpora —e.g., counting how many of 1,000 papers cite a specific author requires parsing, and aggregating metadata, which static retrieval can't handle.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16560-7723-7AB3-A4FF-A65BA27835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950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CDD6A-B116-187E-3DD6-1328BCB36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686" y="2006600"/>
            <a:ext cx="2424005" cy="1130300"/>
          </a:xfrm>
        </p:spPr>
        <p:txBody>
          <a:bodyPr/>
          <a:lstStyle/>
          <a:p>
            <a:r>
              <a:rPr lang="en-US" dirty="0"/>
              <a:t>Extra Slides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0C0E8-B946-666E-CFE0-7A84758D92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762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9509A-B4E5-F364-6979-A04D2BF8C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EE3CA-8F82-3CEC-B5E0-137B06700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fast can I run my model?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D705E-FFA3-2677-15D7-3544177A79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BA160F8-A53E-7DA3-D76F-09439EEF6034}"/>
              </a:ext>
            </a:extLst>
          </p:cNvPr>
          <p:cNvGraphicFramePr>
            <a:graphicFrameLocks noGrp="1"/>
          </p:cNvGraphicFramePr>
          <p:nvPr/>
        </p:nvGraphicFramePr>
        <p:xfrm>
          <a:off x="837960" y="1906667"/>
          <a:ext cx="6594127" cy="133016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980134">
                  <a:extLst>
                    <a:ext uri="{9D8B030D-6E8A-4147-A177-3AD203B41FA5}">
                      <a16:colId xmlns:a16="http://schemas.microsoft.com/office/drawing/2014/main" val="3078973811"/>
                    </a:ext>
                  </a:extLst>
                </a:gridCol>
                <a:gridCol w="1128713">
                  <a:extLst>
                    <a:ext uri="{9D8B030D-6E8A-4147-A177-3AD203B41FA5}">
                      <a16:colId xmlns:a16="http://schemas.microsoft.com/office/drawing/2014/main" val="3119220519"/>
                    </a:ext>
                  </a:extLst>
                </a:gridCol>
                <a:gridCol w="1345406">
                  <a:extLst>
                    <a:ext uri="{9D8B030D-6E8A-4147-A177-3AD203B41FA5}">
                      <a16:colId xmlns:a16="http://schemas.microsoft.com/office/drawing/2014/main" val="520269223"/>
                    </a:ext>
                  </a:extLst>
                </a:gridCol>
                <a:gridCol w="980134">
                  <a:extLst>
                    <a:ext uri="{9D8B030D-6E8A-4147-A177-3AD203B41FA5}">
                      <a16:colId xmlns:a16="http://schemas.microsoft.com/office/drawing/2014/main" val="3018545554"/>
                    </a:ext>
                  </a:extLst>
                </a:gridCol>
                <a:gridCol w="1134665">
                  <a:extLst>
                    <a:ext uri="{9D8B030D-6E8A-4147-A177-3AD203B41FA5}">
                      <a16:colId xmlns:a16="http://schemas.microsoft.com/office/drawing/2014/main" val="902110553"/>
                    </a:ext>
                  </a:extLst>
                </a:gridCol>
                <a:gridCol w="1025075">
                  <a:extLst>
                    <a:ext uri="{9D8B030D-6E8A-4147-A177-3AD203B41FA5}">
                      <a16:colId xmlns:a16="http://schemas.microsoft.com/office/drawing/2014/main" val="815049626"/>
                    </a:ext>
                  </a:extLst>
                </a:gridCol>
              </a:tblGrid>
              <a:tr h="1900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iPhone 16 Pro Max</a:t>
                      </a: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Macbook</a:t>
                      </a:r>
                      <a:r>
                        <a:rPr lang="en-US" sz="1200" b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 Pro</a:t>
                      </a:r>
                      <a:endParaRPr lang="en-US" sz="1200" b="0" i="0" u="none" strike="noStrik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Vista GPU node</a:t>
                      </a:r>
                      <a:endParaRPr lang="en-US" sz="12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D7A8FF"/>
                          </a:solidFill>
                          <a:effectLst/>
                        </a:rPr>
                        <a:t>Tejas</a:t>
                      </a:r>
                      <a:endParaRPr lang="en-US" sz="1200" b="0" i="0" u="none" strike="noStrike" dirty="0">
                        <a:solidFill>
                          <a:srgbClr val="D7A8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0970241"/>
                  </a:ext>
                </a:extLst>
              </a:tr>
              <a:tr h="1900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Model Family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chemeClr val="bg1"/>
                          </a:solidFill>
                          <a:effectLst/>
                        </a:rPr>
                        <a:t># of Parameters</a:t>
                      </a:r>
                      <a:endParaRPr lang="en-US" sz="12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tokens/s</a:t>
                      </a: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tokens/s</a:t>
                      </a:r>
                      <a:endParaRPr lang="en-US" sz="1200" b="0" i="0" u="none" strike="noStrik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tokens/s</a:t>
                      </a:r>
                      <a:endParaRPr lang="en-US" sz="12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D7A8FF"/>
                          </a:solidFill>
                          <a:effectLst/>
                        </a:rPr>
                        <a:t>tokens/s</a:t>
                      </a:r>
                      <a:endParaRPr lang="en-US" sz="1200" b="0" i="0" u="none" strike="noStrike" dirty="0">
                        <a:solidFill>
                          <a:srgbClr val="D7A8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7325231"/>
                  </a:ext>
                </a:extLst>
              </a:tr>
              <a:tr h="1900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chemeClr val="bg1"/>
                          </a:solidFill>
                          <a:effectLst/>
                        </a:rPr>
                        <a:t>Qwen3</a:t>
                      </a:r>
                      <a:endParaRPr lang="en-US" sz="12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1.7 billion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73</a:t>
                      </a:r>
                      <a:endParaRPr lang="en-US" sz="1200" b="0" i="0" u="none" strike="noStrik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313</a:t>
                      </a:r>
                      <a:endParaRPr lang="en-US" sz="12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D7A8FF"/>
                          </a:solidFill>
                          <a:effectLst/>
                        </a:rPr>
                        <a:t>-</a:t>
                      </a:r>
                      <a:endParaRPr lang="en-US" sz="1200" b="0" i="0" u="none" strike="noStrike" dirty="0">
                        <a:solidFill>
                          <a:srgbClr val="D7A8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6955524"/>
                  </a:ext>
                </a:extLst>
              </a:tr>
              <a:tr h="1900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chemeClr val="bg1"/>
                          </a:solidFill>
                          <a:effectLst/>
                        </a:rPr>
                        <a:t>Llama3.1</a:t>
                      </a:r>
                      <a:endParaRPr lang="en-US" sz="12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chemeClr val="bg1"/>
                          </a:solidFill>
                          <a:effectLst/>
                        </a:rPr>
                        <a:t>8 billion</a:t>
                      </a:r>
                      <a:endParaRPr lang="en-US" sz="12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25</a:t>
                      </a:r>
                      <a:endParaRPr lang="en-US" sz="1200" b="0" i="0" u="none" strike="noStrik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173</a:t>
                      </a:r>
                      <a:endParaRPr lang="en-US" sz="12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D7A8FF"/>
                          </a:solidFill>
                          <a:effectLst/>
                        </a:rPr>
                        <a:t>1001</a:t>
                      </a:r>
                      <a:endParaRPr lang="en-US" sz="1200" b="0" i="0" u="none" strike="noStrike" dirty="0">
                        <a:solidFill>
                          <a:srgbClr val="D7A8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141488"/>
                  </a:ext>
                </a:extLst>
              </a:tr>
              <a:tr h="1900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chemeClr val="bg1"/>
                          </a:solidFill>
                          <a:effectLst/>
                        </a:rPr>
                        <a:t>Qwen3</a:t>
                      </a:r>
                      <a:endParaRPr lang="en-US" sz="12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chemeClr val="bg1"/>
                          </a:solidFill>
                          <a:effectLst/>
                        </a:rPr>
                        <a:t>30 billion</a:t>
                      </a:r>
                      <a:endParaRPr lang="en-US" sz="12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36</a:t>
                      </a:r>
                      <a:endParaRPr lang="en-US" sz="1200" b="0" i="0" u="none" strike="noStrik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130</a:t>
                      </a:r>
                      <a:endParaRPr lang="en-US" sz="12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D7A8FF"/>
                          </a:solidFill>
                          <a:effectLst/>
                        </a:rPr>
                        <a:t>-</a:t>
                      </a:r>
                      <a:endParaRPr lang="en-US" sz="1200" b="0" i="0" u="none" strike="noStrike" dirty="0">
                        <a:solidFill>
                          <a:srgbClr val="D7A8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8687856"/>
                  </a:ext>
                </a:extLst>
              </a:tr>
              <a:tr h="1900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chemeClr val="bg1"/>
                          </a:solidFill>
                          <a:effectLst/>
                        </a:rPr>
                        <a:t>DeepSeek-R1</a:t>
                      </a:r>
                      <a:endParaRPr lang="en-US" sz="12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chemeClr val="bg1"/>
                          </a:solidFill>
                          <a:effectLst/>
                        </a:rPr>
                        <a:t>70 billion</a:t>
                      </a:r>
                      <a:endParaRPr lang="en-US" sz="12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-</a:t>
                      </a:r>
                      <a:endParaRPr lang="en-US" sz="1200" b="0" i="0" u="none" strike="noStrik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36</a:t>
                      </a:r>
                      <a:endParaRPr lang="en-US" sz="12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D7A8FF"/>
                          </a:solidFill>
                          <a:effectLst/>
                        </a:rPr>
                        <a:t>-</a:t>
                      </a:r>
                      <a:endParaRPr lang="en-US" sz="1200" b="0" i="0" u="none" strike="noStrike" dirty="0">
                        <a:solidFill>
                          <a:srgbClr val="D7A8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0277109"/>
                  </a:ext>
                </a:extLst>
              </a:tr>
              <a:tr h="1900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chemeClr val="bg1"/>
                          </a:solidFill>
                          <a:effectLst/>
                        </a:rPr>
                        <a:t>DeepSeek-R1</a:t>
                      </a:r>
                      <a:endParaRPr lang="en-US" sz="12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671 billion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-</a:t>
                      </a:r>
                      <a:endParaRPr lang="en-US" sz="1200" b="0" i="0" u="none" strike="noStrik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-</a:t>
                      </a:r>
                      <a:endParaRPr lang="en-US" sz="12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D7A8FF"/>
                          </a:solidFill>
                          <a:effectLst/>
                        </a:rPr>
                        <a:t>135</a:t>
                      </a:r>
                      <a:endParaRPr lang="en-US" sz="1200" b="0" i="0" u="none" strike="noStrike" dirty="0">
                        <a:solidFill>
                          <a:srgbClr val="D7A8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44" marR="7144" marT="7144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340819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C95F791-98D4-50DD-B460-07F5AC04EAA6}"/>
              </a:ext>
            </a:extLst>
          </p:cNvPr>
          <p:cNvSpPr txBox="1"/>
          <p:nvPr/>
        </p:nvSpPr>
        <p:spPr>
          <a:xfrm>
            <a:off x="2538071" y="3807540"/>
            <a:ext cx="2613536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Laptop</a:t>
            </a:r>
            <a:r>
              <a:rPr lang="en-US" sz="1050" dirty="0">
                <a:solidFill>
                  <a:schemeClr val="bg1"/>
                </a:solidFill>
              </a:rPr>
              <a:t> is ~6x faster than </a:t>
            </a:r>
            <a:r>
              <a:rPr lang="en-US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phone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 Vista GPU </a:t>
            </a:r>
            <a:r>
              <a:rPr lang="en-US" sz="1050" dirty="0">
                <a:solidFill>
                  <a:schemeClr val="bg1"/>
                </a:solidFill>
              </a:rPr>
              <a:t>is ~4x faster than </a:t>
            </a:r>
            <a:r>
              <a:rPr lang="en-US" sz="105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laptop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D7A8FF"/>
                </a:solidFill>
              </a:rPr>
              <a:t>Tejas</a:t>
            </a:r>
            <a:r>
              <a:rPr lang="en-US" sz="1050" dirty="0">
                <a:solidFill>
                  <a:schemeClr val="bg1"/>
                </a:solidFill>
              </a:rPr>
              <a:t> is ~5x faster than </a:t>
            </a:r>
            <a:r>
              <a:rPr lang="en-US" sz="105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 Vista GPU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93BE757-4A40-D4F4-6A50-FD3E6B56CA41}"/>
              </a:ext>
            </a:extLst>
          </p:cNvPr>
          <p:cNvGrpSpPr/>
          <p:nvPr/>
        </p:nvGrpSpPr>
        <p:grpSpPr>
          <a:xfrm>
            <a:off x="3706027" y="1419342"/>
            <a:ext cx="2725059" cy="356317"/>
            <a:chOff x="4800600" y="1902351"/>
            <a:chExt cx="3633411" cy="47508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D17DC53-348E-1E71-382B-3309983478FC}"/>
                </a:ext>
              </a:extLst>
            </p:cNvPr>
            <p:cNvSpPr txBox="1"/>
            <p:nvPr/>
          </p:nvSpPr>
          <p:spPr>
            <a:xfrm>
              <a:off x="5661458" y="1902351"/>
              <a:ext cx="27725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A little faster than you can read!</a:t>
              </a: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F276995-66A7-9B28-4F58-E98800FFB56D}"/>
                </a:ext>
              </a:extLst>
            </p:cNvPr>
            <p:cNvSpPr/>
            <p:nvPr/>
          </p:nvSpPr>
          <p:spPr>
            <a:xfrm>
              <a:off x="4800600" y="2087017"/>
              <a:ext cx="720090" cy="290423"/>
            </a:xfrm>
            <a:custGeom>
              <a:avLst/>
              <a:gdLst>
                <a:gd name="connsiteX0" fmla="*/ 720090 w 720090"/>
                <a:gd name="connsiteY0" fmla="*/ 4673 h 290423"/>
                <a:gd name="connsiteX1" fmla="*/ 182880 w 720090"/>
                <a:gd name="connsiteY1" fmla="*/ 38963 h 290423"/>
                <a:gd name="connsiteX2" fmla="*/ 0 w 720090"/>
                <a:gd name="connsiteY2" fmla="*/ 290423 h 29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0090" h="290423">
                  <a:moveTo>
                    <a:pt x="720090" y="4673"/>
                  </a:moveTo>
                  <a:cubicBezTo>
                    <a:pt x="511492" y="-1995"/>
                    <a:pt x="302895" y="-8662"/>
                    <a:pt x="182880" y="38963"/>
                  </a:cubicBezTo>
                  <a:cubicBezTo>
                    <a:pt x="62865" y="86588"/>
                    <a:pt x="31432" y="188505"/>
                    <a:pt x="0" y="290423"/>
                  </a:cubicBezTo>
                </a:path>
              </a:pathLst>
            </a:custGeom>
            <a:noFill/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73A3506-417C-7BC0-36FA-1DA98A3BC189}"/>
              </a:ext>
            </a:extLst>
          </p:cNvPr>
          <p:cNvGrpSpPr/>
          <p:nvPr/>
        </p:nvGrpSpPr>
        <p:grpSpPr>
          <a:xfrm>
            <a:off x="982361" y="3272012"/>
            <a:ext cx="6362205" cy="577081"/>
            <a:chOff x="1264094" y="4407110"/>
            <a:chExt cx="8482939" cy="76944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5AD8F3A-5ADE-9BB0-3281-2ABD152517B0}"/>
                </a:ext>
              </a:extLst>
            </p:cNvPr>
            <p:cNvSpPr txBox="1"/>
            <p:nvPr/>
          </p:nvSpPr>
          <p:spPr>
            <a:xfrm>
              <a:off x="1264094" y="4407110"/>
              <a:ext cx="2517813" cy="769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rgbClr val="FFFF00"/>
                  </a:solidFill>
                </a:rPr>
                <a:t>Time to generate 100,000 tokens for agentic workloads: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9DCF535-3A25-C3B1-7F03-557AAE1D1A96}"/>
                </a:ext>
              </a:extLst>
            </p:cNvPr>
            <p:cNvSpPr txBox="1"/>
            <p:nvPr/>
          </p:nvSpPr>
          <p:spPr>
            <a:xfrm>
              <a:off x="8662976" y="4551020"/>
              <a:ext cx="10840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rgbClr val="FFFF00"/>
                  </a:solidFill>
                </a:rPr>
                <a:t>2 minutes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0343934-9FC3-7D85-69F8-0F96E2EB0912}"/>
                </a:ext>
              </a:extLst>
            </p:cNvPr>
            <p:cNvSpPr txBox="1"/>
            <p:nvPr/>
          </p:nvSpPr>
          <p:spPr>
            <a:xfrm>
              <a:off x="7205705" y="4551020"/>
              <a:ext cx="11845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rgbClr val="FFFF00"/>
                  </a:solidFill>
                </a:rPr>
                <a:t>10 minutes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D9CBA16-AA2A-BEFC-011A-D4C9B30E44D3}"/>
                </a:ext>
              </a:extLst>
            </p:cNvPr>
            <p:cNvSpPr txBox="1"/>
            <p:nvPr/>
          </p:nvSpPr>
          <p:spPr>
            <a:xfrm>
              <a:off x="5756508" y="4551020"/>
              <a:ext cx="11845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rgbClr val="FFFF00"/>
                  </a:solidFill>
                </a:rPr>
                <a:t>40 minutes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A3B4CE9-FFD5-3405-35FD-BE8752E771C6}"/>
                </a:ext>
              </a:extLst>
            </p:cNvPr>
            <p:cNvSpPr txBox="1"/>
            <p:nvPr/>
          </p:nvSpPr>
          <p:spPr>
            <a:xfrm>
              <a:off x="4353870" y="4551020"/>
              <a:ext cx="8938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rgbClr val="FFFF00"/>
                  </a:solidFill>
                </a:rPr>
                <a:t>4 hours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2866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38C2F-1BDD-6047-4DE4-5DD1435CD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AI agents?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69C96B-EC41-96C8-4D4D-F1C5BA15EEAD}"/>
              </a:ext>
            </a:extLst>
          </p:cNvPr>
          <p:cNvSpPr txBox="1"/>
          <p:nvPr/>
        </p:nvSpPr>
        <p:spPr>
          <a:xfrm>
            <a:off x="464042" y="1299993"/>
            <a:ext cx="8215916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sz="1350" b="1" kern="1200" dirty="0">
                <a:solidFill>
                  <a:srgbClr val="FFFFFF"/>
                </a:solidFill>
                <a:ea typeface="+mn-ea"/>
                <a:cs typeface="+mn-cs"/>
              </a:rPr>
              <a:t>AI Agent Definition: </a:t>
            </a:r>
            <a:r>
              <a:rPr lang="en-US" sz="1350" kern="1200" dirty="0">
                <a:solidFill>
                  <a:srgbClr val="FFFFFF"/>
                </a:solidFill>
                <a:ea typeface="+mn-ea"/>
                <a:cs typeface="+mn-cs"/>
              </a:rPr>
              <a:t>“</a:t>
            </a:r>
            <a:r>
              <a:rPr lang="en-US" sz="1350" kern="1200" dirty="0">
                <a:solidFill>
                  <a:srgbClr val="FFFFFF"/>
                </a:solidFill>
                <a:latin typeface="NimbusRomNo9L"/>
                <a:ea typeface="+mn-ea"/>
                <a:cs typeface="+mn-cs"/>
              </a:rPr>
              <a:t>An artificial entity capable of perceiving its surroundings using sensors, making decisions, and then taking actions in response using actuators.”</a:t>
            </a:r>
          </a:p>
          <a:p>
            <a:pPr defTabSz="685800">
              <a:buClrTx/>
            </a:pPr>
            <a:endParaRPr lang="en-US" sz="1350" kern="1200" dirty="0">
              <a:solidFill>
                <a:srgbClr val="FFFFFF"/>
              </a:solidFill>
              <a:ea typeface="+mn-ea"/>
              <a:cs typeface="+mn-cs"/>
            </a:endParaRPr>
          </a:p>
          <a:p>
            <a:pPr marL="214313" indent="-214313" defTabSz="685800">
              <a:buClrTx/>
              <a:buFont typeface="Arial" panose="020B0604020202020204" pitchFamily="34" charset="0"/>
              <a:buChar char="•"/>
            </a:pPr>
            <a:r>
              <a:rPr lang="en-US" sz="1350" kern="1200" dirty="0">
                <a:solidFill>
                  <a:srgbClr val="FFFFFF"/>
                </a:solidFill>
                <a:ea typeface="+mn-ea"/>
                <a:cs typeface="+mn-cs"/>
              </a:rPr>
              <a:t>The decision-making core of modern AI agents is either a reinforcement learning (RL) algorithm, or a LLM</a:t>
            </a:r>
          </a:p>
          <a:p>
            <a:pPr marL="214313" indent="-214313" defTabSz="685800">
              <a:buClrTx/>
              <a:buFont typeface="Arial" panose="020B0604020202020204" pitchFamily="34" charset="0"/>
              <a:buChar char="•"/>
            </a:pPr>
            <a:endParaRPr lang="en-US" sz="1350" b="1" kern="1200" dirty="0">
              <a:solidFill>
                <a:srgbClr val="FFFFFF"/>
              </a:solidFill>
              <a:ea typeface="+mn-ea"/>
              <a:cs typeface="+mn-cs"/>
            </a:endParaRPr>
          </a:p>
          <a:p>
            <a:pPr marL="214313" indent="-214313" defTabSz="685800">
              <a:buClrTx/>
              <a:buFont typeface="Arial" panose="020B0604020202020204" pitchFamily="34" charset="0"/>
              <a:buChar char="•"/>
            </a:pPr>
            <a:r>
              <a:rPr lang="en-US" sz="1350" b="1" kern="1200" dirty="0">
                <a:solidFill>
                  <a:srgbClr val="FFFFFF"/>
                </a:solidFill>
                <a:ea typeface="+mn-ea"/>
                <a:cs typeface="+mn-cs"/>
              </a:rPr>
              <a:t>RL-based agents </a:t>
            </a:r>
            <a:r>
              <a:rPr lang="en-US" sz="1350" kern="1200" dirty="0">
                <a:solidFill>
                  <a:srgbClr val="FFFFFF"/>
                </a:solidFill>
                <a:ea typeface="+mn-ea"/>
                <a:cs typeface="+mn-cs"/>
              </a:rPr>
              <a:t>can struggle with complex tasks and their decision making can be inscrutable</a:t>
            </a:r>
          </a:p>
          <a:p>
            <a:pPr marL="557213" lvl="1" indent="-214313" defTabSz="685800">
              <a:buClrTx/>
              <a:buFont typeface="Arial" panose="020B0604020202020204" pitchFamily="34" charset="0"/>
              <a:buChar char="•"/>
            </a:pPr>
            <a:r>
              <a:rPr lang="en-US" sz="1350" kern="1200" dirty="0">
                <a:solidFill>
                  <a:srgbClr val="FFFFFF"/>
                </a:solidFill>
                <a:ea typeface="+mn-ea"/>
                <a:cs typeface="+mn-cs"/>
              </a:rPr>
              <a:t>e. g. in </a:t>
            </a:r>
            <a:r>
              <a:rPr lang="en-US" sz="1350" i="1" kern="1200" dirty="0">
                <a:solidFill>
                  <a:srgbClr val="76DBF4">
                    <a:lumMod val="75000"/>
                    <a:lumOff val="25000"/>
                  </a:srgbClr>
                </a:solidFill>
                <a:ea typeface="+mn-ea"/>
                <a:cs typeface="+mn-cs"/>
              </a:rPr>
              <a:t>long-horizon </a:t>
            </a:r>
            <a:r>
              <a:rPr lang="en-US" sz="1350" i="1" kern="1200" dirty="0">
                <a:solidFill>
                  <a:srgbClr val="FFFFFF"/>
                </a:solidFill>
                <a:ea typeface="+mn-ea"/>
                <a:cs typeface="+mn-cs"/>
              </a:rPr>
              <a:t>tasks</a:t>
            </a:r>
            <a:r>
              <a:rPr lang="en-US" sz="1350" kern="1200" dirty="0">
                <a:solidFill>
                  <a:srgbClr val="FFFFFF"/>
                </a:solidFill>
                <a:ea typeface="+mn-ea"/>
                <a:cs typeface="+mn-cs"/>
              </a:rPr>
              <a:t> where the rewards during policy search are rare, the training times become extreme</a:t>
            </a:r>
          </a:p>
          <a:p>
            <a:pPr marL="214313" indent="-214313" defTabSz="685800">
              <a:buClrTx/>
              <a:buFont typeface="Arial" panose="020B0604020202020204" pitchFamily="34" charset="0"/>
              <a:buChar char="•"/>
            </a:pPr>
            <a:endParaRPr lang="en-US" sz="1350" kern="1200" dirty="0">
              <a:solidFill>
                <a:srgbClr val="FFFFFF"/>
              </a:solidFill>
              <a:ea typeface="+mn-ea"/>
              <a:cs typeface="+mn-cs"/>
            </a:endParaRPr>
          </a:p>
          <a:p>
            <a:pPr marL="214313" indent="-214313" defTabSz="685800">
              <a:buClrTx/>
              <a:buFont typeface="Arial" panose="020B0604020202020204" pitchFamily="34" charset="0"/>
              <a:buChar char="•"/>
            </a:pPr>
            <a:r>
              <a:rPr lang="en-US" sz="1350" b="1" kern="1200" dirty="0">
                <a:solidFill>
                  <a:srgbClr val="FFFFFF"/>
                </a:solidFill>
                <a:ea typeface="+mn-ea"/>
                <a:cs typeface="+mn-cs"/>
              </a:rPr>
              <a:t>LLM-based agents </a:t>
            </a:r>
            <a:r>
              <a:rPr lang="en-US" sz="1350" kern="1200" dirty="0">
                <a:solidFill>
                  <a:srgbClr val="FFFFFF"/>
                </a:solidFill>
                <a:ea typeface="+mn-ea"/>
                <a:cs typeface="+mn-cs"/>
              </a:rPr>
              <a:t>utilize </a:t>
            </a:r>
            <a:r>
              <a:rPr lang="en-US" sz="1350" i="1" kern="1200" dirty="0">
                <a:solidFill>
                  <a:srgbClr val="76DBF4">
                    <a:lumMod val="75000"/>
                    <a:lumOff val="25000"/>
                  </a:srgbClr>
                </a:solidFill>
                <a:ea typeface="+mn-ea"/>
                <a:cs typeface="+mn-cs"/>
              </a:rPr>
              <a:t>goal decomposition </a:t>
            </a:r>
            <a:r>
              <a:rPr lang="en-US" sz="1350" i="1" kern="1200" dirty="0">
                <a:solidFill>
                  <a:srgbClr val="FFFFFF"/>
                </a:solidFill>
                <a:ea typeface="+mn-ea"/>
                <a:cs typeface="+mn-cs"/>
              </a:rPr>
              <a:t>to </a:t>
            </a:r>
            <a:r>
              <a:rPr lang="en-US" sz="1350" kern="1200" dirty="0">
                <a:solidFill>
                  <a:srgbClr val="FFFFFF"/>
                </a:solidFill>
                <a:ea typeface="+mn-ea"/>
                <a:cs typeface="+mn-cs"/>
              </a:rPr>
              <a:t>break down goals into smaller subgoals</a:t>
            </a:r>
          </a:p>
          <a:p>
            <a:pPr marL="557213" lvl="1" indent="-214313" defTabSz="685800">
              <a:buClrTx/>
              <a:buFont typeface="Arial" panose="020B0604020202020204" pitchFamily="34" charset="0"/>
              <a:buChar char="•"/>
            </a:pPr>
            <a:r>
              <a:rPr lang="en-US" sz="1350" kern="1200" dirty="0">
                <a:solidFill>
                  <a:srgbClr val="FFFFFF"/>
                </a:solidFill>
                <a:ea typeface="+mn-ea"/>
                <a:cs typeface="+mn-cs"/>
              </a:rPr>
              <a:t>LLM can act as a planner </a:t>
            </a:r>
          </a:p>
          <a:p>
            <a:pPr marL="557213" lvl="1" indent="-214313" defTabSz="685800">
              <a:buClrTx/>
              <a:buFont typeface="Arial" panose="020B0604020202020204" pitchFamily="34" charset="0"/>
              <a:buChar char="•"/>
            </a:pPr>
            <a:r>
              <a:rPr lang="en-US" sz="1350" kern="1200" dirty="0">
                <a:solidFill>
                  <a:srgbClr val="FFFFFF"/>
                </a:solidFill>
                <a:ea typeface="+mn-ea"/>
                <a:cs typeface="+mn-cs"/>
              </a:rPr>
              <a:t>decides what action to take for a given subgoal</a:t>
            </a:r>
          </a:p>
          <a:p>
            <a:pPr marL="557213" lvl="1" indent="-214313" defTabSz="685800">
              <a:buClrTx/>
              <a:buFont typeface="Arial" panose="020B0604020202020204" pitchFamily="34" charset="0"/>
              <a:buChar char="•"/>
            </a:pPr>
            <a:r>
              <a:rPr lang="en-US" sz="1350" kern="1200" dirty="0">
                <a:solidFill>
                  <a:srgbClr val="FFFFFF"/>
                </a:solidFill>
                <a:ea typeface="+mn-ea"/>
                <a:cs typeface="+mn-cs"/>
              </a:rPr>
              <a:t>actions can be simple LLM tasks or external API calls to other software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B266B2-EF02-7E09-C801-BF1BF13AFEAE}"/>
              </a:ext>
            </a:extLst>
          </p:cNvPr>
          <p:cNvSpPr txBox="1"/>
          <p:nvPr/>
        </p:nvSpPr>
        <p:spPr>
          <a:xfrm>
            <a:off x="4776109" y="4590299"/>
            <a:ext cx="4450257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buClrTx/>
            </a:pPr>
            <a:r>
              <a:rPr lang="en-US" sz="825" kern="1200" dirty="0">
                <a:ea typeface="+mn-ea"/>
                <a:cs typeface="+mn-cs"/>
                <a:hlinkClick r:id="rId2"/>
              </a:rPr>
              <a:t>Z. Xi et al. “T</a:t>
            </a:r>
            <a:r>
              <a:rPr lang="en-US" sz="825" kern="1200" dirty="0">
                <a:latin typeface="NimbusRomNo9L"/>
                <a:ea typeface="+mn-ea"/>
                <a:cs typeface="+mn-cs"/>
                <a:hlinkClick r:id="rId2"/>
              </a:rPr>
              <a:t>he Rise and Potential of Large Language Model Based Agents: A Survey” </a:t>
            </a:r>
            <a:r>
              <a:rPr lang="en-US" sz="825" i="1" kern="1200" dirty="0">
                <a:latin typeface="NimbusRomNo9L"/>
                <a:ea typeface="+mn-ea"/>
                <a:cs typeface="+mn-cs"/>
                <a:hlinkClick r:id="rId2"/>
              </a:rPr>
              <a:t>arXiv</a:t>
            </a:r>
            <a:r>
              <a:rPr lang="en-US" sz="825" kern="1200" dirty="0">
                <a:latin typeface="NimbusRomNo9L"/>
                <a:ea typeface="+mn-ea"/>
                <a:cs typeface="+mn-cs"/>
                <a:hlinkClick r:id="rId2"/>
              </a:rPr>
              <a:t> (2023) </a:t>
            </a:r>
            <a:endParaRPr lang="en-US" sz="825" kern="1200" dirty="0">
              <a:ea typeface="+mn-ea"/>
              <a:cs typeface="+mn-cs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F41D6E9-B202-E9CD-68FE-CE133A652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2CD5247-2CDF-3F49-BE4C-799EB8AEE7B7}" type="slidenum">
              <a:rPr lang="en-US" kern="1200">
                <a:solidFill>
                  <a:srgbClr val="FFFFFF"/>
                </a:solidFill>
              </a:rPr>
              <a:pPr defTabSz="685800"/>
              <a:t>7</a:t>
            </a:fld>
            <a:endParaRPr lang="en-US" kern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111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5BA15-8820-E530-94D1-80283FF26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functionalities an agent needs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29E77-AD0E-337C-A866-DC815626A3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685800"/>
            <a:fld id="{00000000-1234-1234-1234-123412341234}" type="slidenum">
              <a:rPr lang="en-US" kern="1200">
                <a:solidFill>
                  <a:srgbClr val="FFFFFF"/>
                </a:solidFill>
              </a:rPr>
              <a:pPr defTabSz="685800"/>
              <a:t>8</a:t>
            </a:fld>
            <a:endParaRPr lang="en-US" kern="1200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4998B7-E5B3-7D4A-C47A-D49A1ECFF9EF}"/>
              </a:ext>
            </a:extLst>
          </p:cNvPr>
          <p:cNvSpPr txBox="1"/>
          <p:nvPr/>
        </p:nvSpPr>
        <p:spPr>
          <a:xfrm>
            <a:off x="841118" y="1299993"/>
            <a:ext cx="6340197" cy="3508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57175" indent="-257175" defTabSz="685800">
              <a:buClrTx/>
              <a:buFont typeface="+mj-lt"/>
              <a:buAutoNum type="arabicPeriod"/>
            </a:pPr>
            <a:r>
              <a:rPr lang="en-US" sz="1500" kern="1200" dirty="0">
                <a:solidFill>
                  <a:srgbClr val="76DBF4"/>
                </a:solidFill>
                <a:latin typeface="Century Gothic" panose="020B0502020202020204" pitchFamily="34" charset="0"/>
                <a:ea typeface="+mn-ea"/>
                <a:cs typeface="+mn-cs"/>
              </a:rPr>
              <a:t>Planning and/or Reasoning</a:t>
            </a:r>
            <a:r>
              <a:rPr lang="en-US" sz="1500" kern="1200" dirty="0">
                <a:solidFill>
                  <a:srgbClr val="FFFFFF"/>
                </a:solidFill>
                <a:latin typeface="Century Gothic" panose="020B0502020202020204" pitchFamily="34" charset="0"/>
                <a:ea typeface="+mn-ea"/>
                <a:cs typeface="+mn-cs"/>
              </a:rPr>
              <a:t> through goal decomposition</a:t>
            </a:r>
          </a:p>
          <a:p>
            <a:pPr marL="600075" lvl="1" indent="-257175" defTabSz="685800">
              <a:buClrTx/>
              <a:buFont typeface="Arial" panose="020B0604020202020204" pitchFamily="34" charset="0"/>
              <a:buChar char="•"/>
            </a:pPr>
            <a:r>
              <a:rPr lang="en-US" sz="1500" kern="1200" dirty="0">
                <a:solidFill>
                  <a:srgbClr val="FFFFFF"/>
                </a:solidFill>
                <a:latin typeface="Century Gothic" panose="020B0502020202020204" pitchFamily="34" charset="0"/>
                <a:ea typeface="+mn-ea"/>
                <a:cs typeface="+mn-cs"/>
              </a:rPr>
              <a:t>Goal decomposition: LLM writes a </a:t>
            </a:r>
            <a:r>
              <a:rPr lang="en-US" sz="1500" kern="1200" dirty="0" err="1">
                <a:solidFill>
                  <a:srgbClr val="FFFFFF"/>
                </a:solidFill>
                <a:latin typeface="Century Gothic" panose="020B0502020202020204" pitchFamily="34" charset="0"/>
                <a:ea typeface="+mn-ea"/>
                <a:cs typeface="+mn-cs"/>
              </a:rPr>
              <a:t>todo</a:t>
            </a:r>
            <a:r>
              <a:rPr lang="en-US" sz="1500" kern="1200" dirty="0">
                <a:solidFill>
                  <a:srgbClr val="FFFFFF"/>
                </a:solidFill>
                <a:latin typeface="Century Gothic" panose="020B0502020202020204" pitchFamily="34" charset="0"/>
                <a:ea typeface="+mn-ea"/>
                <a:cs typeface="+mn-cs"/>
              </a:rPr>
              <a:t> list</a:t>
            </a:r>
          </a:p>
          <a:p>
            <a:pPr marL="600075" lvl="1" indent="-257175" defTabSz="685800">
              <a:buClrTx/>
              <a:buFont typeface="Arial" panose="020B0604020202020204" pitchFamily="34" charset="0"/>
              <a:buChar char="•"/>
            </a:pPr>
            <a:r>
              <a:rPr lang="en-US" sz="1500" kern="1200" dirty="0" err="1">
                <a:solidFill>
                  <a:srgbClr val="FFFFFF"/>
                </a:solidFill>
                <a:latin typeface="Century Gothic" panose="020B0502020202020204" pitchFamily="34" charset="0"/>
                <a:ea typeface="+mn-ea"/>
                <a:cs typeface="+mn-cs"/>
              </a:rPr>
              <a:t>ReAct</a:t>
            </a:r>
            <a:r>
              <a:rPr lang="en-US" sz="1500" kern="1200" dirty="0">
                <a:solidFill>
                  <a:srgbClr val="FFFFFF"/>
                </a:solidFill>
                <a:latin typeface="Century Gothic" panose="020B0502020202020204" pitchFamily="34" charset="0"/>
                <a:ea typeface="+mn-ea"/>
                <a:cs typeface="+mn-cs"/>
              </a:rPr>
              <a:t>: LLM iteratively decided next best step</a:t>
            </a:r>
          </a:p>
          <a:p>
            <a:pPr marL="257175" indent="-257175" defTabSz="685800">
              <a:buClrTx/>
              <a:buFont typeface="+mj-lt"/>
              <a:buAutoNum type="arabicPeriod"/>
            </a:pPr>
            <a:endParaRPr lang="en-US" sz="1500" kern="1200" dirty="0">
              <a:solidFill>
                <a:srgbClr val="FFFFFF"/>
              </a:solidFill>
              <a:latin typeface="Century Gothic" panose="020B0502020202020204" pitchFamily="34" charset="0"/>
              <a:ea typeface="+mn-ea"/>
              <a:cs typeface="+mn-cs"/>
            </a:endParaRPr>
          </a:p>
          <a:p>
            <a:pPr marL="257175" indent="-257175" defTabSz="685800">
              <a:buClrTx/>
              <a:buFont typeface="+mj-lt"/>
              <a:buAutoNum type="arabicPeriod"/>
            </a:pPr>
            <a:r>
              <a:rPr lang="en-US" sz="1500" kern="1200" dirty="0">
                <a:solidFill>
                  <a:srgbClr val="E87D37">
                    <a:lumMod val="60000"/>
                    <a:lumOff val="40000"/>
                  </a:srgbClr>
                </a:solidFill>
                <a:latin typeface="Century Gothic" panose="020B0502020202020204" pitchFamily="34" charset="0"/>
                <a:ea typeface="+mn-ea"/>
                <a:cs typeface="+mn-cs"/>
              </a:rPr>
              <a:t>Acting</a:t>
            </a:r>
            <a:r>
              <a:rPr lang="en-US" sz="1500" kern="1200" dirty="0">
                <a:solidFill>
                  <a:srgbClr val="FFFFFF"/>
                </a:solidFill>
                <a:latin typeface="Century Gothic" panose="020B0502020202020204" pitchFamily="34" charset="0"/>
                <a:ea typeface="+mn-ea"/>
                <a:cs typeface="+mn-cs"/>
              </a:rPr>
              <a:t> through “tool” use</a:t>
            </a:r>
          </a:p>
          <a:p>
            <a:pPr marL="600075" lvl="1" indent="-257175" defTabSz="685800">
              <a:buClrTx/>
              <a:buFont typeface="Arial" panose="020B0604020202020204" pitchFamily="34" charset="0"/>
              <a:buChar char="•"/>
            </a:pPr>
            <a:r>
              <a:rPr lang="en-US" sz="1500" kern="1200" dirty="0">
                <a:solidFill>
                  <a:srgbClr val="FFFFFF"/>
                </a:solidFill>
                <a:latin typeface="Century Gothic" panose="020B0502020202020204" pitchFamily="34" charset="0"/>
                <a:ea typeface="+mn-ea"/>
                <a:cs typeface="+mn-cs"/>
              </a:rPr>
              <a:t>LLM writes a command to trigger another piece of software</a:t>
            </a:r>
          </a:p>
          <a:p>
            <a:pPr marL="257175" indent="-257175" defTabSz="685800">
              <a:buClrTx/>
              <a:buFont typeface="+mj-lt"/>
              <a:buAutoNum type="arabicPeriod"/>
            </a:pPr>
            <a:endParaRPr lang="en-US" sz="1500" kern="1200" dirty="0">
              <a:solidFill>
                <a:srgbClr val="FFFFFF"/>
              </a:solidFill>
              <a:latin typeface="Century Gothic" panose="020B0502020202020204" pitchFamily="34" charset="0"/>
              <a:ea typeface="+mn-ea"/>
              <a:cs typeface="+mn-cs"/>
            </a:endParaRPr>
          </a:p>
          <a:p>
            <a:pPr marL="257175" indent="-257175" defTabSz="685800">
              <a:buClrTx/>
              <a:buFont typeface="+mj-lt"/>
              <a:buAutoNum type="arabicPeriod"/>
            </a:pPr>
            <a:r>
              <a:rPr lang="en-US" sz="1500" kern="1200" dirty="0">
                <a:solidFill>
                  <a:srgbClr val="A50E82">
                    <a:lumMod val="40000"/>
                    <a:lumOff val="60000"/>
                  </a:srgbClr>
                </a:solidFill>
                <a:latin typeface="Century Gothic" panose="020B0502020202020204" pitchFamily="34" charset="0"/>
                <a:ea typeface="+mn-ea"/>
                <a:cs typeface="+mn-cs"/>
              </a:rPr>
              <a:t>Sensing</a:t>
            </a:r>
            <a:r>
              <a:rPr lang="en-US" sz="1500" kern="1200" dirty="0">
                <a:solidFill>
                  <a:srgbClr val="FFFFFF"/>
                </a:solidFill>
                <a:latin typeface="Century Gothic" panose="020B0502020202020204" pitchFamily="34" charset="0"/>
                <a:ea typeface="+mn-ea"/>
                <a:cs typeface="+mn-cs"/>
              </a:rPr>
              <a:t> current state of surroundings</a:t>
            </a:r>
          </a:p>
          <a:p>
            <a:pPr marL="600075" lvl="1" indent="-257175" defTabSz="685800">
              <a:buClrTx/>
              <a:buFont typeface="Arial" panose="020B0604020202020204" pitchFamily="34" charset="0"/>
              <a:buChar char="•"/>
            </a:pPr>
            <a:r>
              <a:rPr lang="en-US" sz="1500" kern="1200" dirty="0">
                <a:solidFill>
                  <a:srgbClr val="FFFFFF"/>
                </a:solidFill>
                <a:latin typeface="Century Gothic" panose="020B0502020202020204" pitchFamily="34" charset="0"/>
                <a:ea typeface="+mn-ea"/>
                <a:cs typeface="+mn-cs"/>
              </a:rPr>
              <a:t>automatic snapshot of agent working area using software</a:t>
            </a:r>
          </a:p>
          <a:p>
            <a:pPr marL="257175" indent="-257175" defTabSz="685800">
              <a:buClrTx/>
              <a:buFont typeface="+mj-lt"/>
              <a:buAutoNum type="arabicPeriod"/>
            </a:pPr>
            <a:endParaRPr lang="en-US" sz="1500" kern="1200" dirty="0">
              <a:solidFill>
                <a:srgbClr val="FFFFFF"/>
              </a:solidFill>
              <a:latin typeface="Century Gothic" panose="020B0502020202020204" pitchFamily="34" charset="0"/>
              <a:ea typeface="+mn-ea"/>
              <a:cs typeface="+mn-cs"/>
            </a:endParaRPr>
          </a:p>
          <a:p>
            <a:pPr marL="257175" indent="-257175" defTabSz="685800">
              <a:buClrTx/>
              <a:buFont typeface="+mj-lt"/>
              <a:buAutoNum type="arabicPeriod"/>
            </a:pPr>
            <a:r>
              <a:rPr lang="en-US" sz="1500" kern="1200" dirty="0">
                <a:solidFill>
                  <a:srgbClr val="6A9E1F">
                    <a:lumMod val="40000"/>
                    <a:lumOff val="60000"/>
                  </a:srgbClr>
                </a:solidFill>
                <a:latin typeface="Century Gothic" panose="020B0502020202020204" pitchFamily="34" charset="0"/>
                <a:ea typeface="+mn-ea"/>
                <a:cs typeface="+mn-cs"/>
              </a:rPr>
              <a:t>Memory retrieval </a:t>
            </a:r>
          </a:p>
          <a:p>
            <a:pPr marL="600075" lvl="1" indent="-257175" defTabSz="685800">
              <a:buClrTx/>
              <a:buFont typeface="Arial" panose="020B0604020202020204" pitchFamily="34" charset="0"/>
              <a:buChar char="•"/>
            </a:pPr>
            <a:r>
              <a:rPr lang="en-US" sz="1500" kern="1200" dirty="0">
                <a:solidFill>
                  <a:srgbClr val="FFFFFF"/>
                </a:solidFill>
                <a:latin typeface="Century Gothic" panose="020B0502020202020204" pitchFamily="34" charset="0"/>
                <a:ea typeface="+mn-ea"/>
                <a:cs typeface="+mn-cs"/>
              </a:rPr>
              <a:t>Vector store/search</a:t>
            </a:r>
          </a:p>
          <a:p>
            <a:pPr marL="600075" lvl="1" indent="-257175" defTabSz="685800">
              <a:buClrTx/>
              <a:buFont typeface="Arial" panose="020B0604020202020204" pitchFamily="34" charset="0"/>
              <a:buChar char="•"/>
            </a:pPr>
            <a:r>
              <a:rPr lang="en-US" sz="1500" kern="1200" dirty="0">
                <a:solidFill>
                  <a:srgbClr val="FFFFFF"/>
                </a:solidFill>
                <a:latin typeface="Century Gothic" panose="020B0502020202020204" pitchFamily="34" charset="0"/>
                <a:ea typeface="+mn-ea"/>
                <a:cs typeface="+mn-cs"/>
              </a:rPr>
              <a:t>Retrieval augmented generation (RAG)</a:t>
            </a:r>
          </a:p>
          <a:p>
            <a:pPr marL="214313" indent="-214313" defTabSz="685800">
              <a:buClrTx/>
              <a:buFont typeface="Arial" panose="020B0604020202020204" pitchFamily="34" charset="0"/>
              <a:buChar char="•"/>
            </a:pPr>
            <a:endParaRPr lang="en-US" sz="1350" kern="1200" dirty="0">
              <a:solidFill>
                <a:srgbClr val="FFFFFF"/>
              </a:solidFill>
              <a:latin typeface="Century Gothic" panose="020B0502020202020204" pitchFamily="34" charset="0"/>
              <a:ea typeface="+mn-ea"/>
              <a:cs typeface="+mn-cs"/>
            </a:endParaRPr>
          </a:p>
          <a:p>
            <a:pPr marL="214313" indent="-214313" defTabSz="685800">
              <a:buClrTx/>
              <a:buFont typeface="Arial" panose="020B0604020202020204" pitchFamily="34" charset="0"/>
              <a:buChar char="•"/>
            </a:pPr>
            <a:endParaRPr lang="en-US" sz="1350" kern="1200" dirty="0">
              <a:solidFill>
                <a:srgbClr val="FFFFFF"/>
              </a:solidFill>
              <a:latin typeface="Century Gothic" panose="020B0502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4258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7C268-A3AF-DA49-4F9A-844BA60FE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1F9EA-BCC8-5E96-C162-CA37B1E66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agent - </a:t>
            </a:r>
            <a:r>
              <a:rPr lang="en-US" dirty="0">
                <a:solidFill>
                  <a:schemeClr val="tx2"/>
                </a:solidFill>
              </a:rPr>
              <a:t>goal decomposition </a:t>
            </a:r>
            <a:r>
              <a:rPr lang="en-US" dirty="0"/>
              <a:t>and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tool use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e</a:t>
            </a:r>
            <a:r>
              <a:rPr lang="en-US" dirty="0"/>
              <a:t>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66422-7074-0A52-B1D0-C288DAA4C7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685800"/>
            <a:fld id="{00000000-1234-1234-1234-123412341234}" type="slidenum">
              <a:rPr lang="en-US" kern="1200">
                <a:solidFill>
                  <a:srgbClr val="FFFFFF"/>
                </a:solidFill>
              </a:rPr>
              <a:pPr defTabSz="685800"/>
              <a:t>9</a:t>
            </a:fld>
            <a:endParaRPr lang="en-US" kern="1200" dirty="0">
              <a:solidFill>
                <a:srgbClr val="FFFFFF"/>
              </a:solidFill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B58C1-2FDD-BB15-5B62-638354A88E02}"/>
              </a:ext>
            </a:extLst>
          </p:cNvPr>
          <p:cNvSpPr/>
          <p:nvPr/>
        </p:nvSpPr>
        <p:spPr>
          <a:xfrm>
            <a:off x="3341607" y="1196425"/>
            <a:ext cx="1229710" cy="733097"/>
          </a:xfrm>
          <a:prstGeom prst="roundRect">
            <a:avLst/>
          </a:prstGeom>
          <a:solidFill>
            <a:srgbClr val="0F9ED5"/>
          </a:solidFill>
          <a:ln w="19050" cap="flat" cmpd="sng" algn="ctr">
            <a:solidFill>
              <a:srgbClr val="0F9E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LLM Planner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28F5018A-DE91-ADB5-3CC3-4BB37052E46A}"/>
              </a:ext>
            </a:extLst>
          </p:cNvPr>
          <p:cNvSpPr/>
          <p:nvPr/>
        </p:nvSpPr>
        <p:spPr>
          <a:xfrm>
            <a:off x="684591" y="1399688"/>
            <a:ext cx="768568" cy="360636"/>
          </a:xfrm>
          <a:prstGeom prst="roundRect">
            <a:avLst/>
          </a:prstGeom>
          <a:solidFill>
            <a:srgbClr val="A02B93"/>
          </a:solidFill>
          <a:ln w="19050" cap="flat" cmpd="sng" algn="ctr">
            <a:solidFill>
              <a:srgbClr val="A02B93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Goal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B082BF9F-54B2-A393-7D85-801F103A8360}"/>
              </a:ext>
            </a:extLst>
          </p:cNvPr>
          <p:cNvSpPr/>
          <p:nvPr/>
        </p:nvSpPr>
        <p:spPr>
          <a:xfrm>
            <a:off x="2133901" y="3216164"/>
            <a:ext cx="1229710" cy="733097"/>
          </a:xfrm>
          <a:prstGeom prst="roundRect">
            <a:avLst/>
          </a:prstGeom>
          <a:solidFill>
            <a:srgbClr val="4EA72E"/>
          </a:solidFill>
          <a:ln w="19050" cap="flat" cmpd="sng" algn="ctr">
            <a:solidFill>
              <a:srgbClr val="4EA72E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Memories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FFBF0534-54C8-D506-E7E4-45E94A680057}"/>
              </a:ext>
            </a:extLst>
          </p:cNvPr>
          <p:cNvSpPr/>
          <p:nvPr/>
        </p:nvSpPr>
        <p:spPr>
          <a:xfrm>
            <a:off x="2664727" y="2286703"/>
            <a:ext cx="863162" cy="496613"/>
          </a:xfrm>
          <a:prstGeom prst="roundRect">
            <a:avLst/>
          </a:prstGeom>
          <a:gradFill rotWithShape="1">
            <a:gsLst>
              <a:gs pos="0">
                <a:srgbClr val="4EA72E">
                  <a:satMod val="103000"/>
                  <a:lumMod val="102000"/>
                  <a:tint val="94000"/>
                </a:srgbClr>
              </a:gs>
              <a:gs pos="50000">
                <a:srgbClr val="4EA72E">
                  <a:satMod val="110000"/>
                  <a:lumMod val="100000"/>
                  <a:shade val="100000"/>
                </a:srgbClr>
              </a:gs>
              <a:gs pos="100000">
                <a:srgbClr val="4EA72E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1270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20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Relevant Memory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B43D02E-A803-99F9-EAF2-2CB4663F2960}"/>
              </a:ext>
            </a:extLst>
          </p:cNvPr>
          <p:cNvCxnSpPr>
            <a:cxnSpLocks/>
            <a:endCxn id="91" idx="1"/>
          </p:cNvCxnSpPr>
          <p:nvPr/>
        </p:nvCxnSpPr>
        <p:spPr>
          <a:xfrm flipV="1">
            <a:off x="1496743" y="1562973"/>
            <a:ext cx="1844864" cy="17033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96" name="User input">
            <a:extLst>
              <a:ext uri="{FF2B5EF4-FFF2-40B4-BE49-F238E27FC236}">
                <a16:creationId xmlns:a16="http://schemas.microsoft.com/office/drawing/2014/main" id="{67E88203-4A56-916C-4936-C19DE6649795}"/>
              </a:ext>
            </a:extLst>
          </p:cNvPr>
          <p:cNvGrpSpPr/>
          <p:nvPr/>
        </p:nvGrpSpPr>
        <p:grpSpPr>
          <a:xfrm>
            <a:off x="136965" y="1760323"/>
            <a:ext cx="1884962" cy="2319944"/>
            <a:chOff x="182619" y="2347098"/>
            <a:chExt cx="2513283" cy="3093258"/>
          </a:xfrm>
        </p:grpSpPr>
        <p:sp>
          <p:nvSpPr>
            <p:cNvPr id="97" name="Rounded Rectangle 96">
              <a:extLst>
                <a:ext uri="{FF2B5EF4-FFF2-40B4-BE49-F238E27FC236}">
                  <a16:creationId xmlns:a16="http://schemas.microsoft.com/office/drawing/2014/main" id="{EDFDE750-E2A0-6CE6-B2B5-F492A2444AD3}"/>
                </a:ext>
              </a:extLst>
            </p:cNvPr>
            <p:cNvSpPr/>
            <p:nvPr/>
          </p:nvSpPr>
          <p:spPr>
            <a:xfrm>
              <a:off x="182619" y="4114799"/>
              <a:ext cx="2513283" cy="1325557"/>
            </a:xfrm>
            <a:prstGeom prst="roundRect">
              <a:avLst>
                <a:gd name="adj" fmla="val 0"/>
              </a:avLst>
            </a:prstGeom>
            <a:solidFill>
              <a:srgbClr val="A02B93">
                <a:lumMod val="20000"/>
                <a:lumOff val="80000"/>
              </a:srgbClr>
            </a:solidFill>
            <a:ln w="19050" cap="flat" cmpd="sng" algn="ctr">
              <a:solidFill>
                <a:srgbClr val="A02B93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defTabSz="685800">
                <a:buClrTx/>
                <a:defRPr/>
              </a:pPr>
              <a:r>
                <a:rPr lang="en-US" sz="1350" b="1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User input text:</a:t>
              </a: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Look up the current weather at the Keck Observatory</a:t>
              </a: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D661619B-A07E-AF1D-BA71-69A4A243446E}"/>
                </a:ext>
              </a:extLst>
            </p:cNvPr>
            <p:cNvCxnSpPr>
              <a:cxnSpLocks/>
              <a:stCxn id="92" idx="2"/>
              <a:endCxn id="97" idx="0"/>
            </p:cNvCxnSpPr>
            <p:nvPr/>
          </p:nvCxnSpPr>
          <p:spPr>
            <a:xfrm>
              <a:off x="1425167" y="2347098"/>
              <a:ext cx="14094" cy="1767701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solid"/>
              <a:miter lim="800000"/>
              <a:headEnd type="oval" w="med" len="med"/>
              <a:tailEnd type="oval" w="med" len="med"/>
            </a:ln>
            <a:effectLst/>
          </p:spPr>
        </p:cxnSp>
      </p:grp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542732D-7B5A-385D-4099-08F9E748833A}"/>
              </a:ext>
            </a:extLst>
          </p:cNvPr>
          <p:cNvCxnSpPr>
            <a:cxnSpLocks/>
          </p:cNvCxnSpPr>
          <p:nvPr/>
        </p:nvCxnSpPr>
        <p:spPr>
          <a:xfrm>
            <a:off x="2406647" y="1580006"/>
            <a:ext cx="0" cy="150609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8884E59-47AB-1894-0765-E38D042899AF}"/>
              </a:ext>
            </a:extLst>
          </p:cNvPr>
          <p:cNvCxnSpPr>
            <a:cxnSpLocks/>
          </p:cNvCxnSpPr>
          <p:nvPr/>
        </p:nvCxnSpPr>
        <p:spPr>
          <a:xfrm flipV="1">
            <a:off x="3086889" y="2820057"/>
            <a:ext cx="0" cy="312467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E1273C8C-FA08-84B1-6692-A392272E87D8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207968" cy="0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5D63F6B-3595-481B-4372-105C9346A71B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9419" cy="46391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none"/>
          </a:ln>
          <a:effectLst/>
        </p:spPr>
      </p:cxnSp>
      <p:grpSp>
        <p:nvGrpSpPr>
          <p:cNvPr id="113" name="Memories">
            <a:extLst>
              <a:ext uri="{FF2B5EF4-FFF2-40B4-BE49-F238E27FC236}">
                <a16:creationId xmlns:a16="http://schemas.microsoft.com/office/drawing/2014/main" id="{17CF84D8-1EC8-F8BD-74F6-EB7AD4A498E8}"/>
              </a:ext>
            </a:extLst>
          </p:cNvPr>
          <p:cNvGrpSpPr/>
          <p:nvPr/>
        </p:nvGrpSpPr>
        <p:grpSpPr>
          <a:xfrm>
            <a:off x="3381052" y="2956951"/>
            <a:ext cx="3788513" cy="1223983"/>
            <a:chOff x="6079088" y="3567077"/>
            <a:chExt cx="5051351" cy="1631977"/>
          </a:xfrm>
          <a:solidFill>
            <a:srgbClr val="4EA72E">
              <a:lumMod val="20000"/>
              <a:lumOff val="80000"/>
            </a:srgbClr>
          </a:solidFill>
        </p:grpSpPr>
        <p:sp>
          <p:nvSpPr>
            <p:cNvPr id="114" name="Rounded Rectangle 113">
              <a:extLst>
                <a:ext uri="{FF2B5EF4-FFF2-40B4-BE49-F238E27FC236}">
                  <a16:creationId xmlns:a16="http://schemas.microsoft.com/office/drawing/2014/main" id="{34603670-B5C4-6D2A-A1A3-ADB7698B10D0}"/>
                </a:ext>
              </a:extLst>
            </p:cNvPr>
            <p:cNvSpPr/>
            <p:nvPr/>
          </p:nvSpPr>
          <p:spPr>
            <a:xfrm>
              <a:off x="6778216" y="3567077"/>
              <a:ext cx="4352223" cy="1631977"/>
            </a:xfrm>
            <a:prstGeom prst="roundRect">
              <a:avLst>
                <a:gd name="adj" fmla="val 0"/>
              </a:avLst>
            </a:prstGeom>
            <a:grpFill/>
            <a:ln w="19050" cap="flat" cmpd="sng" algn="ctr">
              <a:solidFill>
                <a:srgbClr val="A02B93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List of available tools</a:t>
              </a: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[{‘Tool name’, ‘tool description’}, …]</a:t>
              </a:r>
            </a:p>
            <a:p>
              <a:pPr defTabSz="685800">
                <a:buClrTx/>
                <a:defRPr/>
              </a:pPr>
              <a:endParaRPr lang="en-US" sz="135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List of past actions and results</a:t>
              </a: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[{‘Action summary’, ‘result summary’}, …]</a:t>
              </a:r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7F967BFE-8A59-18C6-9387-3A9620C49B38}"/>
                </a:ext>
              </a:extLst>
            </p:cNvPr>
            <p:cNvCxnSpPr>
              <a:cxnSpLocks/>
            </p:cNvCxnSpPr>
            <p:nvPr/>
          </p:nvCxnSpPr>
          <p:spPr>
            <a:xfrm>
              <a:off x="6079088" y="4401426"/>
              <a:ext cx="699128" cy="0"/>
            </a:xfrm>
            <a:prstGeom prst="line">
              <a:avLst/>
            </a:prstGeom>
            <a:grpFill/>
            <a:ln w="19050" cap="flat" cmpd="sng" algn="ctr">
              <a:solidFill>
                <a:schemeClr val="bg1"/>
              </a:solidFill>
              <a:prstDash val="solid"/>
              <a:miter lim="800000"/>
              <a:headEnd type="oval" w="med" len="med"/>
              <a:tailEnd type="oval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169011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2B59C-1002-8386-FA59-77999C10F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8CC18-4E6E-4E95-B617-BEF5DA640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agent - </a:t>
            </a:r>
            <a:r>
              <a:rPr lang="en-US" dirty="0">
                <a:solidFill>
                  <a:schemeClr val="tx2"/>
                </a:solidFill>
              </a:rPr>
              <a:t>goal decomposition </a:t>
            </a:r>
            <a:r>
              <a:rPr lang="en-US" dirty="0"/>
              <a:t>and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tool use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e</a:t>
            </a:r>
            <a:r>
              <a:rPr lang="en-US" dirty="0"/>
              <a:t>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D4B4A-6276-4323-8B20-3870DECF2C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685800"/>
            <a:fld id="{00000000-1234-1234-1234-123412341234}" type="slidenum">
              <a:rPr lang="en-US" kern="1200">
                <a:solidFill>
                  <a:srgbClr val="FFFFFF"/>
                </a:solidFill>
              </a:rPr>
              <a:pPr defTabSz="685800"/>
              <a:t>10</a:t>
            </a:fld>
            <a:endParaRPr lang="en-US" kern="1200" dirty="0">
              <a:solidFill>
                <a:srgbClr val="FFFFFF"/>
              </a:solidFill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2FB858ED-9C39-B0D6-A76A-9F7DF50ADF3A}"/>
              </a:ext>
            </a:extLst>
          </p:cNvPr>
          <p:cNvSpPr/>
          <p:nvPr/>
        </p:nvSpPr>
        <p:spPr>
          <a:xfrm>
            <a:off x="3341607" y="1196425"/>
            <a:ext cx="1229710" cy="733097"/>
          </a:xfrm>
          <a:prstGeom prst="roundRect">
            <a:avLst/>
          </a:prstGeom>
          <a:solidFill>
            <a:srgbClr val="0F9ED5"/>
          </a:solidFill>
          <a:ln w="19050" cap="flat" cmpd="sng" algn="ctr">
            <a:solidFill>
              <a:srgbClr val="0F9E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LLM Planner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59799FD4-F7AF-2AE5-C6A7-D5558A5B45D4}"/>
              </a:ext>
            </a:extLst>
          </p:cNvPr>
          <p:cNvSpPr/>
          <p:nvPr/>
        </p:nvSpPr>
        <p:spPr>
          <a:xfrm>
            <a:off x="684591" y="1399688"/>
            <a:ext cx="768568" cy="360636"/>
          </a:xfrm>
          <a:prstGeom prst="roundRect">
            <a:avLst/>
          </a:prstGeom>
          <a:solidFill>
            <a:srgbClr val="A02B93"/>
          </a:solidFill>
          <a:ln w="19050" cap="flat" cmpd="sng" algn="ctr">
            <a:solidFill>
              <a:srgbClr val="A02B93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Goal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32223AF5-7020-304F-C3A6-4613BFB6B827}"/>
              </a:ext>
            </a:extLst>
          </p:cNvPr>
          <p:cNvSpPr/>
          <p:nvPr/>
        </p:nvSpPr>
        <p:spPr>
          <a:xfrm>
            <a:off x="2133901" y="3216164"/>
            <a:ext cx="1229710" cy="733097"/>
          </a:xfrm>
          <a:prstGeom prst="roundRect">
            <a:avLst/>
          </a:prstGeom>
          <a:solidFill>
            <a:srgbClr val="4EA72E"/>
          </a:solidFill>
          <a:ln w="19050" cap="flat" cmpd="sng" algn="ctr">
            <a:solidFill>
              <a:srgbClr val="4EA72E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Memories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B230F2AB-4E81-CF0C-B14A-02BB7C33609A}"/>
              </a:ext>
            </a:extLst>
          </p:cNvPr>
          <p:cNvSpPr/>
          <p:nvPr/>
        </p:nvSpPr>
        <p:spPr>
          <a:xfrm>
            <a:off x="2664727" y="2286703"/>
            <a:ext cx="863162" cy="496613"/>
          </a:xfrm>
          <a:prstGeom prst="roundRect">
            <a:avLst/>
          </a:prstGeom>
          <a:gradFill rotWithShape="1">
            <a:gsLst>
              <a:gs pos="0">
                <a:srgbClr val="4EA72E">
                  <a:satMod val="103000"/>
                  <a:lumMod val="102000"/>
                  <a:tint val="94000"/>
                </a:srgbClr>
              </a:gs>
              <a:gs pos="50000">
                <a:srgbClr val="4EA72E">
                  <a:satMod val="110000"/>
                  <a:lumMod val="100000"/>
                  <a:shade val="100000"/>
                </a:srgbClr>
              </a:gs>
              <a:gs pos="100000">
                <a:srgbClr val="4EA72E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1270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20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Relevant Memory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9F4E5ADF-2A99-7678-AD63-95073EAE3543}"/>
              </a:ext>
            </a:extLst>
          </p:cNvPr>
          <p:cNvCxnSpPr>
            <a:cxnSpLocks/>
            <a:endCxn id="91" idx="1"/>
          </p:cNvCxnSpPr>
          <p:nvPr/>
        </p:nvCxnSpPr>
        <p:spPr>
          <a:xfrm flipV="1">
            <a:off x="1496743" y="1562973"/>
            <a:ext cx="1844864" cy="17033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D63165AB-8A91-6E2C-25F3-A3839A126546}"/>
              </a:ext>
            </a:extLst>
          </p:cNvPr>
          <p:cNvCxnSpPr>
            <a:cxnSpLocks/>
          </p:cNvCxnSpPr>
          <p:nvPr/>
        </p:nvCxnSpPr>
        <p:spPr>
          <a:xfrm>
            <a:off x="2406647" y="1580006"/>
            <a:ext cx="0" cy="150609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38FEFA50-834F-93FD-33CF-A567E1119376}"/>
              </a:ext>
            </a:extLst>
          </p:cNvPr>
          <p:cNvCxnSpPr>
            <a:cxnSpLocks/>
          </p:cNvCxnSpPr>
          <p:nvPr/>
        </p:nvCxnSpPr>
        <p:spPr>
          <a:xfrm flipV="1">
            <a:off x="3086889" y="2820057"/>
            <a:ext cx="0" cy="312467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46D0660C-2D7B-4B5F-2C8B-DBA77CC26DC2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207968" cy="0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CF4B2F5B-3C89-55D1-6CD6-CD1C59FD7F83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9419" cy="46391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none"/>
          </a:ln>
          <a:effectLst/>
        </p:spPr>
      </p:cxnSp>
      <p:grpSp>
        <p:nvGrpSpPr>
          <p:cNvPr id="116" name="Generate Action plan">
            <a:extLst>
              <a:ext uri="{FF2B5EF4-FFF2-40B4-BE49-F238E27FC236}">
                <a16:creationId xmlns:a16="http://schemas.microsoft.com/office/drawing/2014/main" id="{0B307BD5-A8B2-805A-F1B2-68B536F0055D}"/>
              </a:ext>
            </a:extLst>
          </p:cNvPr>
          <p:cNvGrpSpPr/>
          <p:nvPr/>
        </p:nvGrpSpPr>
        <p:grpSpPr>
          <a:xfrm>
            <a:off x="3729202" y="1944979"/>
            <a:ext cx="3224327" cy="1839665"/>
            <a:chOff x="3125731" y="4239672"/>
            <a:chExt cx="4299102" cy="2452886"/>
          </a:xfrm>
        </p:grpSpPr>
        <p:sp>
          <p:nvSpPr>
            <p:cNvPr id="117" name="Rounded Rectangle 116">
              <a:extLst>
                <a:ext uri="{FF2B5EF4-FFF2-40B4-BE49-F238E27FC236}">
                  <a16:creationId xmlns:a16="http://schemas.microsoft.com/office/drawing/2014/main" id="{2741E285-C144-28DC-3822-AEE3792B5641}"/>
                </a:ext>
              </a:extLst>
            </p:cNvPr>
            <p:cNvSpPr/>
            <p:nvPr/>
          </p:nvSpPr>
          <p:spPr>
            <a:xfrm>
              <a:off x="3125731" y="4858790"/>
              <a:ext cx="4299102" cy="1833768"/>
            </a:xfrm>
            <a:prstGeom prst="roundRect">
              <a:avLst>
                <a:gd name="adj" fmla="val 0"/>
              </a:avLst>
            </a:prstGeom>
            <a:solidFill>
              <a:srgbClr val="0F9ED5">
                <a:lumMod val="20000"/>
                <a:lumOff val="80000"/>
              </a:srgbClr>
            </a:solidFill>
            <a:ln w="19050" cap="flat" cmpd="sng" algn="ctr">
              <a:solidFill>
                <a:srgbClr val="A02B93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defTabSz="685800">
                <a:buClrTx/>
                <a:defRPr/>
              </a:pPr>
              <a:r>
                <a:rPr lang="en-US" sz="1350" b="1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LLM prompt:</a:t>
              </a: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Your goal is: </a:t>
              </a:r>
              <a:r>
                <a:rPr lang="en-US" sz="1350" dirty="0">
                  <a:solidFill>
                    <a:srgbClr val="A02B93"/>
                  </a:solidFill>
                  <a:latin typeface="Aptos" panose="02110004020202020204"/>
                  <a:ea typeface="+mn-ea"/>
                  <a:cs typeface="+mn-cs"/>
                </a:rPr>
                <a:t>{goal}</a:t>
              </a:r>
            </a:p>
            <a:p>
              <a:pPr defTabSz="685800">
                <a:buClrTx/>
                <a:defRPr/>
              </a:pPr>
              <a:endParaRPr lang="en-US" sz="135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Relevant memories: </a:t>
              </a:r>
              <a:r>
                <a:rPr lang="en-US" sz="1350" dirty="0">
                  <a:solidFill>
                    <a:srgbClr val="4EA72E"/>
                  </a:solidFill>
                  <a:latin typeface="Aptos" panose="02110004020202020204"/>
                  <a:ea typeface="+mn-ea"/>
                  <a:cs typeface="+mn-cs"/>
                </a:rPr>
                <a:t>{memories}</a:t>
              </a:r>
            </a:p>
            <a:p>
              <a:pPr defTabSz="685800">
                <a:buClrTx/>
                <a:defRPr/>
              </a:pPr>
              <a:endParaRPr lang="en-US" sz="135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Break up your goal into smaller subgoals</a:t>
              </a:r>
            </a:p>
          </p:txBody>
        </p: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F9F7397B-53CE-A9F1-3008-2521A8A0D8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8046" y="4239672"/>
              <a:ext cx="1" cy="619118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solid"/>
              <a:miter lim="800000"/>
              <a:headEnd type="oval" w="med" len="med"/>
              <a:tailEnd type="oval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28215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6B185-7F0E-248B-1128-397372CB7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296BC-A1A4-68FC-4793-57E2C9066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agent - </a:t>
            </a:r>
            <a:r>
              <a:rPr lang="en-US" dirty="0">
                <a:solidFill>
                  <a:schemeClr val="tx2"/>
                </a:solidFill>
              </a:rPr>
              <a:t>goal decomposition </a:t>
            </a:r>
            <a:r>
              <a:rPr lang="en-US" dirty="0"/>
              <a:t>and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tool use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e</a:t>
            </a:r>
            <a:r>
              <a:rPr lang="en-US" dirty="0"/>
              <a:t>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DB5F5-AC54-49DC-3420-9DF8B8CA0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685800"/>
            <a:fld id="{00000000-1234-1234-1234-123412341234}" type="slidenum">
              <a:rPr lang="en-US" kern="1200">
                <a:solidFill>
                  <a:srgbClr val="FFFFFF"/>
                </a:solidFill>
              </a:rPr>
              <a:pPr defTabSz="685800"/>
              <a:t>11</a:t>
            </a:fld>
            <a:endParaRPr lang="en-US" kern="1200" dirty="0">
              <a:solidFill>
                <a:srgbClr val="FFFFFF"/>
              </a:solidFill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38439588-F690-481F-39B6-829727BBDCC8}"/>
              </a:ext>
            </a:extLst>
          </p:cNvPr>
          <p:cNvSpPr/>
          <p:nvPr/>
        </p:nvSpPr>
        <p:spPr>
          <a:xfrm>
            <a:off x="3341607" y="1196425"/>
            <a:ext cx="1229710" cy="733097"/>
          </a:xfrm>
          <a:prstGeom prst="roundRect">
            <a:avLst/>
          </a:prstGeom>
          <a:solidFill>
            <a:srgbClr val="0F9ED5"/>
          </a:solidFill>
          <a:ln w="19050" cap="flat" cmpd="sng" algn="ctr">
            <a:solidFill>
              <a:srgbClr val="0F9E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LLM Planner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0D86D83-1BBF-47E6-B437-3B35498E47B4}"/>
              </a:ext>
            </a:extLst>
          </p:cNvPr>
          <p:cNvSpPr/>
          <p:nvPr/>
        </p:nvSpPr>
        <p:spPr>
          <a:xfrm>
            <a:off x="684591" y="1399688"/>
            <a:ext cx="768568" cy="360636"/>
          </a:xfrm>
          <a:prstGeom prst="roundRect">
            <a:avLst/>
          </a:prstGeom>
          <a:solidFill>
            <a:srgbClr val="A02B93"/>
          </a:solidFill>
          <a:ln w="19050" cap="flat" cmpd="sng" algn="ctr">
            <a:solidFill>
              <a:srgbClr val="A02B93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Goal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D81F59D9-E2D9-C6D2-F0F8-0AE9099E35F7}"/>
              </a:ext>
            </a:extLst>
          </p:cNvPr>
          <p:cNvSpPr/>
          <p:nvPr/>
        </p:nvSpPr>
        <p:spPr>
          <a:xfrm>
            <a:off x="2133901" y="3216164"/>
            <a:ext cx="1229710" cy="733097"/>
          </a:xfrm>
          <a:prstGeom prst="roundRect">
            <a:avLst/>
          </a:prstGeom>
          <a:solidFill>
            <a:srgbClr val="4EA72E"/>
          </a:solidFill>
          <a:ln w="19050" cap="flat" cmpd="sng" algn="ctr">
            <a:solidFill>
              <a:srgbClr val="4EA72E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Memories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3FBC7BF3-B3B3-DEE8-36C2-B3A4FC728977}"/>
              </a:ext>
            </a:extLst>
          </p:cNvPr>
          <p:cNvSpPr/>
          <p:nvPr/>
        </p:nvSpPr>
        <p:spPr>
          <a:xfrm>
            <a:off x="2664727" y="2286703"/>
            <a:ext cx="863162" cy="496613"/>
          </a:xfrm>
          <a:prstGeom prst="roundRect">
            <a:avLst/>
          </a:prstGeom>
          <a:gradFill rotWithShape="1">
            <a:gsLst>
              <a:gs pos="0">
                <a:srgbClr val="4EA72E">
                  <a:satMod val="103000"/>
                  <a:lumMod val="102000"/>
                  <a:tint val="94000"/>
                </a:srgbClr>
              </a:gs>
              <a:gs pos="50000">
                <a:srgbClr val="4EA72E">
                  <a:satMod val="110000"/>
                  <a:lumMod val="100000"/>
                  <a:shade val="100000"/>
                </a:srgbClr>
              </a:gs>
              <a:gs pos="100000">
                <a:srgbClr val="4EA72E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1270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20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Relevant Memory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57BC609D-387F-74A6-3C4E-CF8251BCEB0D}"/>
              </a:ext>
            </a:extLst>
          </p:cNvPr>
          <p:cNvCxnSpPr>
            <a:cxnSpLocks/>
            <a:endCxn id="91" idx="1"/>
          </p:cNvCxnSpPr>
          <p:nvPr/>
        </p:nvCxnSpPr>
        <p:spPr>
          <a:xfrm flipV="1">
            <a:off x="1496743" y="1562973"/>
            <a:ext cx="1844864" cy="17033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6D886F49-06EB-8635-61F9-156B85EBEB67}"/>
              </a:ext>
            </a:extLst>
          </p:cNvPr>
          <p:cNvCxnSpPr>
            <a:cxnSpLocks/>
          </p:cNvCxnSpPr>
          <p:nvPr/>
        </p:nvCxnSpPr>
        <p:spPr>
          <a:xfrm>
            <a:off x="2406647" y="1580006"/>
            <a:ext cx="0" cy="150609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B792C3DD-CC75-8EC7-D1F9-010825B218B1}"/>
              </a:ext>
            </a:extLst>
          </p:cNvPr>
          <p:cNvCxnSpPr>
            <a:cxnSpLocks/>
          </p:cNvCxnSpPr>
          <p:nvPr/>
        </p:nvCxnSpPr>
        <p:spPr>
          <a:xfrm flipV="1">
            <a:off x="3086889" y="2820057"/>
            <a:ext cx="0" cy="312467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1D708FAA-76C7-3C0C-B94D-07FCB062134C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207968" cy="0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946C6E8B-DB2C-61F3-D7E8-E3F9696A5CDE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9419" cy="46391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none"/>
          </a:ln>
          <a:effectLst/>
        </p:spPr>
      </p:cxnSp>
      <p:grpSp>
        <p:nvGrpSpPr>
          <p:cNvPr id="126" name="Action plan">
            <a:extLst>
              <a:ext uri="{FF2B5EF4-FFF2-40B4-BE49-F238E27FC236}">
                <a16:creationId xmlns:a16="http://schemas.microsoft.com/office/drawing/2014/main" id="{25E2875E-E504-D46E-1AB9-203563B2F944}"/>
              </a:ext>
            </a:extLst>
          </p:cNvPr>
          <p:cNvGrpSpPr/>
          <p:nvPr/>
        </p:nvGrpSpPr>
        <p:grpSpPr>
          <a:xfrm>
            <a:off x="3351376" y="1544462"/>
            <a:ext cx="5408084" cy="2036066"/>
            <a:chOff x="4468501" y="2059283"/>
            <a:chExt cx="7210779" cy="2714754"/>
          </a:xfrm>
        </p:grpSpPr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8823323F-7779-34F9-F59E-9B36DD8ECC5F}"/>
                </a:ext>
              </a:extLst>
            </p:cNvPr>
            <p:cNvGrpSpPr/>
            <p:nvPr/>
          </p:nvGrpSpPr>
          <p:grpSpPr>
            <a:xfrm>
              <a:off x="6744068" y="2628466"/>
              <a:ext cx="4935212" cy="1565254"/>
              <a:chOff x="4119382" y="4304492"/>
              <a:chExt cx="4935212" cy="1565254"/>
            </a:xfrm>
          </p:grpSpPr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4DCC171C-1CBF-7071-30CD-08ED924D6119}"/>
                  </a:ext>
                </a:extLst>
              </p:cNvPr>
              <p:cNvCxnSpPr>
                <a:cxnSpLocks/>
                <a:endCxn id="133" idx="1"/>
              </p:cNvCxnSpPr>
              <p:nvPr/>
            </p:nvCxnSpPr>
            <p:spPr>
              <a:xfrm>
                <a:off x="4119382" y="5085904"/>
                <a:ext cx="370586" cy="1215"/>
              </a:xfrm>
              <a:prstGeom prst="line">
                <a:avLst/>
              </a:prstGeom>
              <a:noFill/>
              <a:ln w="19050" cap="flat" cmpd="sng" algn="ctr">
                <a:solidFill>
                  <a:schemeClr val="bg1"/>
                </a:solidFill>
                <a:prstDash val="solid"/>
                <a:miter lim="800000"/>
                <a:headEnd type="oval" w="med" len="med"/>
                <a:tailEnd type="oval" w="med" len="med"/>
              </a:ln>
              <a:effectLst/>
            </p:spPr>
          </p:cxnSp>
          <p:sp>
            <p:nvSpPr>
              <p:cNvPr id="133" name="Rounded Rectangle 132">
                <a:extLst>
                  <a:ext uri="{FF2B5EF4-FFF2-40B4-BE49-F238E27FC236}">
                    <a16:creationId xmlns:a16="http://schemas.microsoft.com/office/drawing/2014/main" id="{E6E96B5D-E863-1EA7-CCBC-C2BE18E2603F}"/>
                  </a:ext>
                </a:extLst>
              </p:cNvPr>
              <p:cNvSpPr/>
              <p:nvPr/>
            </p:nvSpPr>
            <p:spPr>
              <a:xfrm>
                <a:off x="4489968" y="4304492"/>
                <a:ext cx="4564626" cy="1565254"/>
              </a:xfrm>
              <a:prstGeom prst="roundRect">
                <a:avLst>
                  <a:gd name="adj" fmla="val 0"/>
                </a:avLst>
              </a:prstGeom>
              <a:solidFill>
                <a:srgbClr val="E8E8E8">
                  <a:lumMod val="75000"/>
                </a:srgbClr>
              </a:solidFill>
              <a:ln w="19050" cap="flat" cmpd="sng" algn="ctr">
                <a:solidFill>
                  <a:sysClr val="windowText" lastClr="000000">
                    <a:shade val="1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defTabSz="685800">
                  <a:buClrTx/>
                  <a:defRPr/>
                </a:pPr>
                <a:r>
                  <a:rPr lang="en-US" sz="1350" dirty="0">
                    <a:solidFill>
                      <a:prstClr val="white"/>
                    </a:solidFill>
                    <a:latin typeface="Aptos" panose="02110004020202020204"/>
                    <a:ea typeface="+mn-ea"/>
                    <a:cs typeface="+mn-cs"/>
                  </a:rPr>
                  <a:t>Action Plan:</a:t>
                </a:r>
              </a:p>
              <a:p>
                <a:pPr marL="257175" indent="-257175" defTabSz="685800">
                  <a:buClrTx/>
                  <a:buFont typeface="+mj-lt"/>
                  <a:buAutoNum type="arabicPeriod"/>
                  <a:defRPr/>
                </a:pPr>
                <a:r>
                  <a:rPr lang="en-US" sz="1350" dirty="0">
                    <a:solidFill>
                      <a:prstClr val="white"/>
                    </a:solidFill>
                    <a:latin typeface="Aptos" panose="02110004020202020204"/>
                    <a:ea typeface="+mn-ea"/>
                    <a:cs typeface="+mn-cs"/>
                  </a:rPr>
                  <a:t>Use </a:t>
                </a:r>
                <a:r>
                  <a:rPr lang="en-US" sz="1350" dirty="0">
                    <a:solidFill>
                      <a:srgbClr val="E97132">
                        <a:lumMod val="20000"/>
                        <a:lumOff val="80000"/>
                      </a:srgbClr>
                    </a:solidFill>
                    <a:latin typeface="Aptos" panose="02110004020202020204"/>
                    <a:ea typeface="+mn-ea"/>
                    <a:cs typeface="+mn-cs"/>
                  </a:rPr>
                  <a:t>Tool: Search Engine  </a:t>
                </a:r>
                <a:r>
                  <a:rPr lang="en-US" sz="1350" dirty="0">
                    <a:solidFill>
                      <a:prstClr val="white"/>
                    </a:solidFill>
                    <a:latin typeface="Aptos" panose="02110004020202020204"/>
                    <a:ea typeface="+mn-ea"/>
                    <a:cs typeface="+mn-cs"/>
                  </a:rPr>
                  <a:t>to find information Keck Observatory location</a:t>
                </a:r>
              </a:p>
              <a:p>
                <a:pPr marL="257175" indent="-257175" defTabSz="685800">
                  <a:buClrTx/>
                  <a:buFont typeface="+mj-lt"/>
                  <a:buAutoNum type="arabicPeriod"/>
                  <a:defRPr/>
                </a:pPr>
                <a:r>
                  <a:rPr lang="en-US" sz="1350" dirty="0">
                    <a:solidFill>
                      <a:prstClr val="white"/>
                    </a:solidFill>
                    <a:latin typeface="Aptos" panose="02110004020202020204"/>
                    <a:ea typeface="+mn-ea"/>
                    <a:cs typeface="+mn-cs"/>
                  </a:rPr>
                  <a:t>Use </a:t>
                </a:r>
                <a:r>
                  <a:rPr lang="en-US" sz="1350" dirty="0">
                    <a:solidFill>
                      <a:srgbClr val="E97132">
                        <a:lumMod val="20000"/>
                        <a:lumOff val="80000"/>
                      </a:srgbClr>
                    </a:solidFill>
                    <a:latin typeface="Aptos" panose="02110004020202020204"/>
                    <a:ea typeface="+mn-ea"/>
                    <a:cs typeface="+mn-cs"/>
                  </a:rPr>
                  <a:t>Tool: Weather API </a:t>
                </a:r>
                <a:r>
                  <a:rPr lang="en-US" sz="1350" dirty="0">
                    <a:solidFill>
                      <a:prstClr val="white"/>
                    </a:solidFill>
                    <a:latin typeface="Aptos" panose="02110004020202020204"/>
                    <a:ea typeface="+mn-ea"/>
                    <a:cs typeface="+mn-cs"/>
                  </a:rPr>
                  <a:t>to find weather at location</a:t>
                </a:r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52D9C09F-9995-EB08-14CF-67E6727AB746}"/>
                </a:ext>
              </a:extLst>
            </p:cNvPr>
            <p:cNvGrpSpPr/>
            <p:nvPr/>
          </p:nvGrpSpPr>
          <p:grpSpPr>
            <a:xfrm>
              <a:off x="4468501" y="2059283"/>
              <a:ext cx="2275567" cy="2714754"/>
              <a:chOff x="4468501" y="2059283"/>
              <a:chExt cx="2275567" cy="2714754"/>
            </a:xfrm>
          </p:grpSpPr>
          <p:cxnSp>
            <p:nvCxnSpPr>
              <p:cNvPr id="129" name="Straight Arrow Connector 128">
                <a:extLst>
                  <a:ext uri="{FF2B5EF4-FFF2-40B4-BE49-F238E27FC236}">
                    <a16:creationId xmlns:a16="http://schemas.microsoft.com/office/drawing/2014/main" id="{AFB95E21-29E7-B57C-5A02-B44B616882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68501" y="4751325"/>
                <a:ext cx="2275567" cy="0"/>
              </a:xfrm>
              <a:prstGeom prst="straightConnector1">
                <a:avLst/>
              </a:prstGeom>
              <a:noFill/>
              <a:ln w="41275" cap="flat" cmpd="sng" algn="ctr">
                <a:solidFill>
                  <a:schemeClr val="bg1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8EA4E7A4-F649-3326-1686-4A783AF765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31510" y="2059283"/>
                <a:ext cx="0" cy="2714754"/>
              </a:xfrm>
              <a:prstGeom prst="straightConnector1">
                <a:avLst/>
              </a:prstGeom>
              <a:noFill/>
              <a:ln w="41275" cap="flat" cmpd="sng" algn="ctr">
                <a:solidFill>
                  <a:schemeClr val="bg1"/>
                </a:solidFill>
                <a:prstDash val="solid"/>
                <a:miter lim="800000"/>
                <a:tailEnd type="none"/>
              </a:ln>
              <a:effectLst/>
            </p:spPr>
          </p:cxnSp>
          <p:cxnSp>
            <p:nvCxnSpPr>
              <p:cNvPr id="131" name="Straight Arrow Connector 130">
                <a:extLst>
                  <a:ext uri="{FF2B5EF4-FFF2-40B4-BE49-F238E27FC236}">
                    <a16:creationId xmlns:a16="http://schemas.microsoft.com/office/drawing/2014/main" id="{CCA117F5-601F-8842-5F94-FBE1FE1379B8}"/>
                  </a:ext>
                </a:extLst>
              </p:cNvPr>
              <p:cNvCxnSpPr>
                <a:cxnSpLocks/>
                <a:endCxn id="91" idx="3"/>
              </p:cNvCxnSpPr>
              <p:nvPr/>
            </p:nvCxnSpPr>
            <p:spPr>
              <a:xfrm flipH="1">
                <a:off x="6095089" y="2067832"/>
                <a:ext cx="648979" cy="16132"/>
              </a:xfrm>
              <a:prstGeom prst="straightConnector1">
                <a:avLst/>
              </a:prstGeom>
              <a:noFill/>
              <a:ln w="41275" cap="flat" cmpd="sng" algn="ctr">
                <a:solidFill>
                  <a:schemeClr val="bg1"/>
                </a:solidFill>
                <a:prstDash val="solid"/>
                <a:miter lim="800000"/>
                <a:tailEnd type="none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325416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2A06B-AC59-3146-105D-4FDD5F12B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52BAA-11B5-44EC-90A0-9CA996458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agent - </a:t>
            </a:r>
            <a:r>
              <a:rPr lang="en-US" dirty="0">
                <a:solidFill>
                  <a:schemeClr val="tx2"/>
                </a:solidFill>
              </a:rPr>
              <a:t>goal decomposition </a:t>
            </a:r>
            <a:r>
              <a:rPr lang="en-US" dirty="0"/>
              <a:t>and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tool use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e</a:t>
            </a:r>
            <a:r>
              <a:rPr lang="en-US" dirty="0"/>
              <a:t>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5C7B3-5699-1808-964D-60789F4C2D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685800"/>
            <a:fld id="{00000000-1234-1234-1234-123412341234}" type="slidenum">
              <a:rPr lang="en-US" kern="1200">
                <a:solidFill>
                  <a:srgbClr val="FFFFFF"/>
                </a:solidFill>
              </a:rPr>
              <a:pPr defTabSz="685800"/>
              <a:t>12</a:t>
            </a:fld>
            <a:endParaRPr lang="en-US" kern="1200" dirty="0">
              <a:solidFill>
                <a:srgbClr val="FFFFFF"/>
              </a:solidFill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5735438-F471-C7EE-1D69-5827B4494DF1}"/>
              </a:ext>
            </a:extLst>
          </p:cNvPr>
          <p:cNvSpPr/>
          <p:nvPr/>
        </p:nvSpPr>
        <p:spPr>
          <a:xfrm>
            <a:off x="3341607" y="1196425"/>
            <a:ext cx="1229710" cy="733097"/>
          </a:xfrm>
          <a:prstGeom prst="roundRect">
            <a:avLst/>
          </a:prstGeom>
          <a:solidFill>
            <a:srgbClr val="0F9ED5"/>
          </a:solidFill>
          <a:ln w="19050" cap="flat" cmpd="sng" algn="ctr">
            <a:solidFill>
              <a:srgbClr val="0F9E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LLM Planner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5E44E141-FB6D-8590-D475-BFE2546864AB}"/>
              </a:ext>
            </a:extLst>
          </p:cNvPr>
          <p:cNvSpPr/>
          <p:nvPr/>
        </p:nvSpPr>
        <p:spPr>
          <a:xfrm>
            <a:off x="684591" y="1399688"/>
            <a:ext cx="768568" cy="360636"/>
          </a:xfrm>
          <a:prstGeom prst="roundRect">
            <a:avLst/>
          </a:prstGeom>
          <a:solidFill>
            <a:srgbClr val="A02B93"/>
          </a:solidFill>
          <a:ln w="19050" cap="flat" cmpd="sng" algn="ctr">
            <a:solidFill>
              <a:srgbClr val="A02B93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Goal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34B88DEC-FC4B-3DEC-FBF2-369C9FE78D24}"/>
              </a:ext>
            </a:extLst>
          </p:cNvPr>
          <p:cNvSpPr/>
          <p:nvPr/>
        </p:nvSpPr>
        <p:spPr>
          <a:xfrm>
            <a:off x="2133901" y="3216164"/>
            <a:ext cx="1229710" cy="733097"/>
          </a:xfrm>
          <a:prstGeom prst="roundRect">
            <a:avLst/>
          </a:prstGeom>
          <a:solidFill>
            <a:srgbClr val="4EA72E"/>
          </a:solidFill>
          <a:ln w="19050" cap="flat" cmpd="sng" algn="ctr">
            <a:solidFill>
              <a:srgbClr val="4EA72E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Memories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16803AC2-D5E1-9341-2D87-A7F638AA3262}"/>
              </a:ext>
            </a:extLst>
          </p:cNvPr>
          <p:cNvSpPr/>
          <p:nvPr/>
        </p:nvSpPr>
        <p:spPr>
          <a:xfrm>
            <a:off x="2664727" y="2286703"/>
            <a:ext cx="863162" cy="496613"/>
          </a:xfrm>
          <a:prstGeom prst="roundRect">
            <a:avLst/>
          </a:prstGeom>
          <a:gradFill rotWithShape="1">
            <a:gsLst>
              <a:gs pos="0">
                <a:srgbClr val="4EA72E">
                  <a:satMod val="103000"/>
                  <a:lumMod val="102000"/>
                  <a:tint val="94000"/>
                </a:srgbClr>
              </a:gs>
              <a:gs pos="50000">
                <a:srgbClr val="4EA72E">
                  <a:satMod val="110000"/>
                  <a:lumMod val="100000"/>
                  <a:shade val="100000"/>
                </a:srgbClr>
              </a:gs>
              <a:gs pos="100000">
                <a:srgbClr val="4EA72E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1270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20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Relevant Memory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E8A78F08-71E6-839E-192D-50348ED9EF6A}"/>
              </a:ext>
            </a:extLst>
          </p:cNvPr>
          <p:cNvCxnSpPr>
            <a:cxnSpLocks/>
            <a:endCxn id="91" idx="1"/>
          </p:cNvCxnSpPr>
          <p:nvPr/>
        </p:nvCxnSpPr>
        <p:spPr>
          <a:xfrm flipV="1">
            <a:off x="1496743" y="1562973"/>
            <a:ext cx="1844864" cy="17033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3268CE7-EAD6-E5FF-19C1-0F169AF26C21}"/>
              </a:ext>
            </a:extLst>
          </p:cNvPr>
          <p:cNvCxnSpPr>
            <a:cxnSpLocks/>
          </p:cNvCxnSpPr>
          <p:nvPr/>
        </p:nvCxnSpPr>
        <p:spPr>
          <a:xfrm>
            <a:off x="2406647" y="1580006"/>
            <a:ext cx="0" cy="150609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4B53AABE-4961-7CA2-6975-E3C75284FA1E}"/>
              </a:ext>
            </a:extLst>
          </p:cNvPr>
          <p:cNvCxnSpPr>
            <a:cxnSpLocks/>
          </p:cNvCxnSpPr>
          <p:nvPr/>
        </p:nvCxnSpPr>
        <p:spPr>
          <a:xfrm flipV="1">
            <a:off x="3086889" y="2820057"/>
            <a:ext cx="0" cy="312467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85CE6D6-E75E-4953-B9E9-DC7C1E750745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207968" cy="0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EA466529-B189-AC80-879C-71F8B33D768A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9419" cy="46391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none"/>
          </a:ln>
          <a:effectLst/>
        </p:spPr>
      </p:cxnSp>
      <p:grpSp>
        <p:nvGrpSpPr>
          <p:cNvPr id="116" name="Generate Action plan">
            <a:extLst>
              <a:ext uri="{FF2B5EF4-FFF2-40B4-BE49-F238E27FC236}">
                <a16:creationId xmlns:a16="http://schemas.microsoft.com/office/drawing/2014/main" id="{1F70C301-405C-9994-0ED0-361261C00A6F}"/>
              </a:ext>
            </a:extLst>
          </p:cNvPr>
          <p:cNvGrpSpPr/>
          <p:nvPr/>
        </p:nvGrpSpPr>
        <p:grpSpPr>
          <a:xfrm>
            <a:off x="3729202" y="1944979"/>
            <a:ext cx="3224327" cy="1839665"/>
            <a:chOff x="3125731" y="4239672"/>
            <a:chExt cx="4299102" cy="2452886"/>
          </a:xfrm>
        </p:grpSpPr>
        <p:sp>
          <p:nvSpPr>
            <p:cNvPr id="117" name="Rounded Rectangle 116">
              <a:extLst>
                <a:ext uri="{FF2B5EF4-FFF2-40B4-BE49-F238E27FC236}">
                  <a16:creationId xmlns:a16="http://schemas.microsoft.com/office/drawing/2014/main" id="{D28D3EBC-489E-AA9D-5B6A-3B2192F92DEE}"/>
                </a:ext>
              </a:extLst>
            </p:cNvPr>
            <p:cNvSpPr/>
            <p:nvPr/>
          </p:nvSpPr>
          <p:spPr>
            <a:xfrm>
              <a:off x="3125731" y="4858790"/>
              <a:ext cx="4299102" cy="1833768"/>
            </a:xfrm>
            <a:prstGeom prst="roundRect">
              <a:avLst>
                <a:gd name="adj" fmla="val 0"/>
              </a:avLst>
            </a:prstGeom>
            <a:solidFill>
              <a:srgbClr val="0F9ED5">
                <a:lumMod val="20000"/>
                <a:lumOff val="80000"/>
              </a:srgbClr>
            </a:solidFill>
            <a:ln w="19050" cap="flat" cmpd="sng" algn="ctr">
              <a:solidFill>
                <a:srgbClr val="A02B93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defTabSz="685800">
                <a:buClrTx/>
                <a:defRPr/>
              </a:pPr>
              <a:r>
                <a:rPr lang="en-US" sz="1350" b="1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LLM prompt:</a:t>
              </a: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Your goal is: </a:t>
              </a:r>
              <a:r>
                <a:rPr lang="en-US" sz="1350" dirty="0">
                  <a:solidFill>
                    <a:srgbClr val="A02B93"/>
                  </a:solidFill>
                  <a:latin typeface="Aptos" panose="02110004020202020204"/>
                  <a:ea typeface="+mn-ea"/>
                  <a:cs typeface="+mn-cs"/>
                </a:rPr>
                <a:t>{goal}</a:t>
              </a:r>
            </a:p>
            <a:p>
              <a:pPr defTabSz="685800">
                <a:buClrTx/>
                <a:defRPr/>
              </a:pPr>
              <a:endParaRPr lang="en-US" sz="135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Relevant memories: </a:t>
              </a:r>
              <a:r>
                <a:rPr lang="en-US" sz="1350" dirty="0">
                  <a:solidFill>
                    <a:srgbClr val="4EA72E"/>
                  </a:solidFill>
                  <a:latin typeface="Aptos" panose="02110004020202020204"/>
                  <a:ea typeface="+mn-ea"/>
                  <a:cs typeface="+mn-cs"/>
                </a:rPr>
                <a:t>{memories}</a:t>
              </a:r>
            </a:p>
            <a:p>
              <a:pPr defTabSz="685800">
                <a:buClrTx/>
                <a:defRPr/>
              </a:pPr>
              <a:endParaRPr lang="en-US" sz="135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Break up your goal into smaller subgoals</a:t>
              </a:r>
            </a:p>
          </p:txBody>
        </p: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0BFB5067-F330-1728-1A9D-CF9920FB2E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8046" y="4239672"/>
              <a:ext cx="1" cy="619118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solid"/>
              <a:miter lim="800000"/>
              <a:headEnd type="oval" w="med" len="med"/>
              <a:tailEnd type="oval" w="med" len="med"/>
            </a:ln>
            <a:effectLst/>
          </p:spPr>
        </p:cxnSp>
      </p:grpSp>
      <p:grpSp>
        <p:nvGrpSpPr>
          <p:cNvPr id="119" name="Prompt with action plan">
            <a:extLst>
              <a:ext uri="{FF2B5EF4-FFF2-40B4-BE49-F238E27FC236}">
                <a16:creationId xmlns:a16="http://schemas.microsoft.com/office/drawing/2014/main" id="{967934BF-E8F0-2C2C-BB7D-0A7DD51D100E}"/>
              </a:ext>
            </a:extLst>
          </p:cNvPr>
          <p:cNvGrpSpPr/>
          <p:nvPr/>
        </p:nvGrpSpPr>
        <p:grpSpPr>
          <a:xfrm>
            <a:off x="3729202" y="1937890"/>
            <a:ext cx="3224327" cy="2142377"/>
            <a:chOff x="3125731" y="4239672"/>
            <a:chExt cx="4299102" cy="2856502"/>
          </a:xfrm>
        </p:grpSpPr>
        <p:sp>
          <p:nvSpPr>
            <p:cNvPr id="120" name="Rounded Rectangle 119">
              <a:extLst>
                <a:ext uri="{FF2B5EF4-FFF2-40B4-BE49-F238E27FC236}">
                  <a16:creationId xmlns:a16="http://schemas.microsoft.com/office/drawing/2014/main" id="{F7B33B28-77A1-8470-2512-F844E8DEBFF3}"/>
                </a:ext>
              </a:extLst>
            </p:cNvPr>
            <p:cNvSpPr/>
            <p:nvPr/>
          </p:nvSpPr>
          <p:spPr>
            <a:xfrm>
              <a:off x="3125731" y="4858789"/>
              <a:ext cx="4299102" cy="2237385"/>
            </a:xfrm>
            <a:prstGeom prst="roundRect">
              <a:avLst>
                <a:gd name="adj" fmla="val 0"/>
              </a:avLst>
            </a:prstGeom>
            <a:solidFill>
              <a:srgbClr val="0F9ED5">
                <a:lumMod val="20000"/>
                <a:lumOff val="80000"/>
              </a:srgbClr>
            </a:solidFill>
            <a:ln w="19050" cap="flat" cmpd="sng" algn="ctr">
              <a:solidFill>
                <a:srgbClr val="A02B93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defTabSz="685800">
                <a:buClrTx/>
                <a:defRPr/>
              </a:pPr>
              <a:r>
                <a:rPr lang="en-US" sz="1350" b="1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LLM prompt:</a:t>
              </a: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Your goal is: </a:t>
              </a:r>
              <a:r>
                <a:rPr lang="en-US" sz="1350" dirty="0">
                  <a:solidFill>
                    <a:srgbClr val="A02B93"/>
                  </a:solidFill>
                  <a:latin typeface="Aptos" panose="02110004020202020204"/>
                  <a:ea typeface="+mn-ea"/>
                  <a:cs typeface="+mn-cs"/>
                </a:rPr>
                <a:t>{goal}</a:t>
              </a:r>
            </a:p>
            <a:p>
              <a:pPr defTabSz="685800">
                <a:buClrTx/>
                <a:defRPr/>
              </a:pPr>
              <a:endParaRPr lang="en-US" sz="135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Relevant memories: </a:t>
              </a:r>
              <a:r>
                <a:rPr lang="en-US" sz="1350" dirty="0">
                  <a:solidFill>
                    <a:srgbClr val="4EA72E"/>
                  </a:solidFill>
                  <a:latin typeface="Aptos" panose="02110004020202020204"/>
                  <a:ea typeface="+mn-ea"/>
                  <a:cs typeface="+mn-cs"/>
                </a:rPr>
                <a:t>{memories}</a:t>
              </a:r>
            </a:p>
            <a:p>
              <a:pPr defTabSz="685800">
                <a:buClrTx/>
                <a:defRPr/>
              </a:pPr>
              <a:endParaRPr lang="en-US" sz="1350" dirty="0">
                <a:solidFill>
                  <a:srgbClr val="4EA72E"/>
                </a:solidFill>
                <a:latin typeface="Aptos" panose="02110004020202020204"/>
                <a:ea typeface="+mn-ea"/>
                <a:cs typeface="+mn-cs"/>
              </a:endParaRP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Action plan: </a:t>
              </a:r>
              <a:r>
                <a:rPr lang="en-US" sz="1350" dirty="0">
                  <a:solidFill>
                    <a:prstClr val="white">
                      <a:lumMod val="50000"/>
                    </a:prstClr>
                  </a:solidFill>
                  <a:latin typeface="Aptos" panose="02110004020202020204"/>
                  <a:ea typeface="+mn-ea"/>
                  <a:cs typeface="+mn-cs"/>
                </a:rPr>
                <a:t>{action plan}</a:t>
              </a:r>
            </a:p>
            <a:p>
              <a:pPr defTabSz="685800">
                <a:buClrTx/>
                <a:defRPr/>
              </a:pPr>
              <a:endParaRPr lang="en-US" sz="1350" dirty="0">
                <a:solidFill>
                  <a:prstClr val="white">
                    <a:lumMod val="50000"/>
                  </a:prstClr>
                </a:solidFill>
                <a:latin typeface="Aptos" panose="02110004020202020204"/>
                <a:ea typeface="+mn-ea"/>
                <a:cs typeface="+mn-cs"/>
              </a:endParaRP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Perform step 1</a:t>
              </a:r>
            </a:p>
          </p:txBody>
        </p: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485AD37E-D152-D0C2-36C8-53035DB44DD9}"/>
                </a:ext>
              </a:extLst>
            </p:cNvPr>
            <p:cNvCxnSpPr>
              <a:cxnSpLocks/>
              <a:stCxn id="91" idx="2"/>
            </p:cNvCxnSpPr>
            <p:nvPr/>
          </p:nvCxnSpPr>
          <p:spPr>
            <a:xfrm flipH="1">
              <a:off x="3598046" y="4239672"/>
              <a:ext cx="1" cy="619118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solid"/>
              <a:miter lim="800000"/>
              <a:headEnd type="oval" w="med" len="med"/>
              <a:tailEnd type="oval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668147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DD087-D3AB-EF02-7BD2-D64A6B21C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3A2D5-BE89-18CB-975B-DB276029F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agent - </a:t>
            </a:r>
            <a:r>
              <a:rPr lang="en-US" dirty="0">
                <a:solidFill>
                  <a:schemeClr val="tx2"/>
                </a:solidFill>
              </a:rPr>
              <a:t>goal decomposition </a:t>
            </a:r>
            <a:r>
              <a:rPr lang="en-US" dirty="0"/>
              <a:t>and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tool use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e</a:t>
            </a:r>
            <a:r>
              <a:rPr lang="en-US" dirty="0"/>
              <a:t>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95F7F-2A58-8CED-0D71-9829F78ACF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685800"/>
            <a:fld id="{00000000-1234-1234-1234-123412341234}" type="slidenum">
              <a:rPr lang="en-US" kern="1200">
                <a:solidFill>
                  <a:srgbClr val="FFFFFF"/>
                </a:solidFill>
              </a:rPr>
              <a:pPr defTabSz="685800"/>
              <a:t>13</a:t>
            </a:fld>
            <a:endParaRPr lang="en-US" kern="1200" dirty="0">
              <a:solidFill>
                <a:srgbClr val="FFFFFF"/>
              </a:solidFill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D04BC66F-47BB-8D31-4E59-C9E8FFCEEE04}"/>
              </a:ext>
            </a:extLst>
          </p:cNvPr>
          <p:cNvSpPr/>
          <p:nvPr/>
        </p:nvSpPr>
        <p:spPr>
          <a:xfrm>
            <a:off x="3341607" y="1196425"/>
            <a:ext cx="1229710" cy="733097"/>
          </a:xfrm>
          <a:prstGeom prst="roundRect">
            <a:avLst/>
          </a:prstGeom>
          <a:solidFill>
            <a:srgbClr val="0F9ED5"/>
          </a:solidFill>
          <a:ln w="19050" cap="flat" cmpd="sng" algn="ctr">
            <a:solidFill>
              <a:srgbClr val="0F9E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LLM Planner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41D4E5B-94A8-90F0-C54B-CB54219202F4}"/>
              </a:ext>
            </a:extLst>
          </p:cNvPr>
          <p:cNvSpPr/>
          <p:nvPr/>
        </p:nvSpPr>
        <p:spPr>
          <a:xfrm>
            <a:off x="684591" y="1399688"/>
            <a:ext cx="768568" cy="360636"/>
          </a:xfrm>
          <a:prstGeom prst="roundRect">
            <a:avLst/>
          </a:prstGeom>
          <a:solidFill>
            <a:srgbClr val="A02B93"/>
          </a:solidFill>
          <a:ln w="19050" cap="flat" cmpd="sng" algn="ctr">
            <a:solidFill>
              <a:srgbClr val="A02B93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Goal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E75D3C20-C4E1-B65E-29A3-7322162BFFF7}"/>
              </a:ext>
            </a:extLst>
          </p:cNvPr>
          <p:cNvSpPr/>
          <p:nvPr/>
        </p:nvSpPr>
        <p:spPr>
          <a:xfrm>
            <a:off x="2133901" y="3216164"/>
            <a:ext cx="1229710" cy="733097"/>
          </a:xfrm>
          <a:prstGeom prst="roundRect">
            <a:avLst/>
          </a:prstGeom>
          <a:solidFill>
            <a:srgbClr val="4EA72E"/>
          </a:solidFill>
          <a:ln w="19050" cap="flat" cmpd="sng" algn="ctr">
            <a:solidFill>
              <a:srgbClr val="4EA72E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Memories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23DF7C24-8BF0-3BEB-A5E0-09EBAA595E91}"/>
              </a:ext>
            </a:extLst>
          </p:cNvPr>
          <p:cNvSpPr/>
          <p:nvPr/>
        </p:nvSpPr>
        <p:spPr>
          <a:xfrm>
            <a:off x="2664727" y="2286703"/>
            <a:ext cx="863162" cy="496613"/>
          </a:xfrm>
          <a:prstGeom prst="roundRect">
            <a:avLst/>
          </a:prstGeom>
          <a:gradFill rotWithShape="1">
            <a:gsLst>
              <a:gs pos="0">
                <a:srgbClr val="4EA72E">
                  <a:satMod val="103000"/>
                  <a:lumMod val="102000"/>
                  <a:tint val="94000"/>
                </a:srgbClr>
              </a:gs>
              <a:gs pos="50000">
                <a:srgbClr val="4EA72E">
                  <a:satMod val="110000"/>
                  <a:lumMod val="100000"/>
                  <a:shade val="100000"/>
                </a:srgbClr>
              </a:gs>
              <a:gs pos="100000">
                <a:srgbClr val="4EA72E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1270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20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Relevant Memory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E2DF538-1D11-FCC5-127C-230577E4D8DB}"/>
              </a:ext>
            </a:extLst>
          </p:cNvPr>
          <p:cNvCxnSpPr>
            <a:cxnSpLocks/>
            <a:endCxn id="91" idx="1"/>
          </p:cNvCxnSpPr>
          <p:nvPr/>
        </p:nvCxnSpPr>
        <p:spPr>
          <a:xfrm flipV="1">
            <a:off x="1496743" y="1562973"/>
            <a:ext cx="1844864" cy="17033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A3A591D-8F9F-11BC-FC38-6B8A7CDFFB05}"/>
              </a:ext>
            </a:extLst>
          </p:cNvPr>
          <p:cNvCxnSpPr>
            <a:cxnSpLocks/>
          </p:cNvCxnSpPr>
          <p:nvPr/>
        </p:nvCxnSpPr>
        <p:spPr>
          <a:xfrm>
            <a:off x="2406647" y="1580006"/>
            <a:ext cx="0" cy="150609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C9A76DBE-6080-4115-2425-ED92F20F9E4A}"/>
              </a:ext>
            </a:extLst>
          </p:cNvPr>
          <p:cNvCxnSpPr>
            <a:cxnSpLocks/>
          </p:cNvCxnSpPr>
          <p:nvPr/>
        </p:nvCxnSpPr>
        <p:spPr>
          <a:xfrm flipV="1">
            <a:off x="3086889" y="2820057"/>
            <a:ext cx="0" cy="312467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21E8EA77-FE24-F880-C810-F03CF5BE14FF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207968" cy="0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2CB1FAA-F4FB-F21A-4D4A-6782D2DDBE2E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9419" cy="46391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none"/>
          </a:ln>
          <a:effectLst/>
        </p:spPr>
      </p:cxnSp>
      <p:grpSp>
        <p:nvGrpSpPr>
          <p:cNvPr id="106" name="Tool">
            <a:extLst>
              <a:ext uri="{FF2B5EF4-FFF2-40B4-BE49-F238E27FC236}">
                <a16:creationId xmlns:a16="http://schemas.microsoft.com/office/drawing/2014/main" id="{D2F7C439-0902-47F9-D125-7AD34EF6A424}"/>
              </a:ext>
            </a:extLst>
          </p:cNvPr>
          <p:cNvGrpSpPr/>
          <p:nvPr/>
        </p:nvGrpSpPr>
        <p:grpSpPr>
          <a:xfrm>
            <a:off x="3363611" y="1147621"/>
            <a:ext cx="4142236" cy="2438136"/>
            <a:chOff x="4484814" y="1530161"/>
            <a:chExt cx="5522981" cy="3250848"/>
          </a:xfrm>
        </p:grpSpPr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1AA1DF75-A875-B923-7F65-50A407A8DBBD}"/>
                </a:ext>
              </a:extLst>
            </p:cNvPr>
            <p:cNvCxnSpPr>
              <a:cxnSpLocks/>
              <a:endCxn id="93" idx="3"/>
            </p:cNvCxnSpPr>
            <p:nvPr/>
          </p:nvCxnSpPr>
          <p:spPr>
            <a:xfrm flipH="1" flipV="1">
              <a:off x="4484814" y="4776950"/>
              <a:ext cx="5508940" cy="4059"/>
            </a:xfrm>
            <a:prstGeom prst="straightConnector1">
              <a:avLst/>
            </a:prstGeom>
            <a:noFill/>
            <a:ln w="41275" cap="flat" cmpd="sng" algn="ctr">
              <a:solidFill>
                <a:schemeClr val="bg1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429D6D86-3D33-94F4-90FE-025CC302710F}"/>
                </a:ext>
              </a:extLst>
            </p:cNvPr>
            <p:cNvCxnSpPr>
              <a:cxnSpLocks/>
            </p:cNvCxnSpPr>
            <p:nvPr/>
          </p:nvCxnSpPr>
          <p:spPr>
            <a:xfrm>
              <a:off x="10007795" y="2017843"/>
              <a:ext cx="0" cy="2763166"/>
            </a:xfrm>
            <a:prstGeom prst="straightConnector1">
              <a:avLst/>
            </a:prstGeom>
            <a:noFill/>
            <a:ln w="41275" cap="flat" cmpd="sng" algn="ctr">
              <a:solidFill>
                <a:schemeClr val="bg1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87162A83-F185-DCF4-B85E-EE50C9F38BCE}"/>
                </a:ext>
              </a:extLst>
            </p:cNvPr>
            <p:cNvCxnSpPr>
              <a:cxnSpLocks/>
              <a:endCxn id="111" idx="3"/>
            </p:cNvCxnSpPr>
            <p:nvPr/>
          </p:nvCxnSpPr>
          <p:spPr>
            <a:xfrm flipH="1">
              <a:off x="9134148" y="2017843"/>
              <a:ext cx="873647" cy="1049"/>
            </a:xfrm>
            <a:prstGeom prst="straightConnector1">
              <a:avLst/>
            </a:prstGeom>
            <a:noFill/>
            <a:ln w="41275" cap="flat" cmpd="sng" algn="ctr">
              <a:solidFill>
                <a:schemeClr val="bg1"/>
              </a:solidFill>
              <a:prstDash val="solid"/>
              <a:miter lim="800000"/>
              <a:tailEnd type="none"/>
            </a:ln>
            <a:effectLst/>
          </p:spPr>
        </p:cxnSp>
        <p:grpSp>
          <p:nvGrpSpPr>
            <p:cNvPr id="110" name="asdasd">
              <a:extLst>
                <a:ext uri="{FF2B5EF4-FFF2-40B4-BE49-F238E27FC236}">
                  <a16:creationId xmlns:a16="http://schemas.microsoft.com/office/drawing/2014/main" id="{55F00011-2F08-41ED-FE3C-981D8C030F94}"/>
                </a:ext>
              </a:extLst>
            </p:cNvPr>
            <p:cNvGrpSpPr/>
            <p:nvPr/>
          </p:nvGrpSpPr>
          <p:grpSpPr>
            <a:xfrm>
              <a:off x="6095089" y="1530161"/>
              <a:ext cx="3039059" cy="977462"/>
              <a:chOff x="6095089" y="1530161"/>
              <a:chExt cx="3039059" cy="977462"/>
            </a:xfrm>
          </p:grpSpPr>
          <p:sp>
            <p:nvSpPr>
              <p:cNvPr id="111" name="Rounded Rectangle 110">
                <a:extLst>
                  <a:ext uri="{FF2B5EF4-FFF2-40B4-BE49-F238E27FC236}">
                    <a16:creationId xmlns:a16="http://schemas.microsoft.com/office/drawing/2014/main" id="{00C22918-C93D-19C2-D049-01F3D16464A9}"/>
                  </a:ext>
                </a:extLst>
              </p:cNvPr>
              <p:cNvSpPr/>
              <p:nvPr/>
            </p:nvSpPr>
            <p:spPr>
              <a:xfrm>
                <a:off x="7494535" y="1530161"/>
                <a:ext cx="1639613" cy="977462"/>
              </a:xfrm>
              <a:prstGeom prst="roundRect">
                <a:avLst/>
              </a:prstGeom>
              <a:solidFill>
                <a:srgbClr val="E97132"/>
              </a:solidFill>
              <a:ln w="19050" cap="flat" cmpd="sng" algn="ctr">
                <a:solidFill>
                  <a:srgbClr val="E97132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r>
                  <a:rPr lang="en-US" sz="1350" dirty="0">
                    <a:solidFill>
                      <a:prstClr val="white"/>
                    </a:solidFill>
                    <a:latin typeface="Aptos" panose="02110004020202020204"/>
                    <a:ea typeface="+mn-ea"/>
                    <a:cs typeface="+mn-cs"/>
                  </a:rPr>
                  <a:t>Tool</a:t>
                </a:r>
              </a:p>
            </p:txBody>
          </p: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D6D88CCF-3A24-95C4-0842-127B94A752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5089" y="2034302"/>
                <a:ext cx="1399446" cy="12920"/>
              </a:xfrm>
              <a:prstGeom prst="straightConnector1">
                <a:avLst/>
              </a:prstGeom>
              <a:noFill/>
              <a:ln w="41275" cap="flat" cmpd="sng" algn="ctr">
                <a:solidFill>
                  <a:schemeClr val="bg1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</p:grpSp>
      <p:sp>
        <p:nvSpPr>
          <p:cNvPr id="122" name="Loop Tools">
            <a:extLst>
              <a:ext uri="{FF2B5EF4-FFF2-40B4-BE49-F238E27FC236}">
                <a16:creationId xmlns:a16="http://schemas.microsoft.com/office/drawing/2014/main" id="{C41954AB-D358-FF2E-1558-C70162262DC6}"/>
              </a:ext>
            </a:extLst>
          </p:cNvPr>
          <p:cNvSpPr/>
          <p:nvPr/>
        </p:nvSpPr>
        <p:spPr>
          <a:xfrm>
            <a:off x="3922839" y="3446730"/>
            <a:ext cx="3264166" cy="335599"/>
          </a:xfrm>
          <a:prstGeom prst="roundRect">
            <a:avLst>
              <a:gd name="adj" fmla="val 50000"/>
            </a:avLst>
          </a:prstGeom>
          <a:solidFill>
            <a:srgbClr val="E8E8E8">
              <a:lumMod val="75000"/>
            </a:srgbClr>
          </a:solidFill>
          <a:ln w="19050" cap="flat" cmpd="sng" algn="ctr">
            <a:solidFill>
              <a:sysClr val="windowText" lastClr="000000">
                <a:shade val="1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Continue through whole action plan…</a:t>
            </a:r>
          </a:p>
        </p:txBody>
      </p:sp>
      <p:grpSp>
        <p:nvGrpSpPr>
          <p:cNvPr id="103" name="Tool text">
            <a:extLst>
              <a:ext uri="{FF2B5EF4-FFF2-40B4-BE49-F238E27FC236}">
                <a16:creationId xmlns:a16="http://schemas.microsoft.com/office/drawing/2014/main" id="{5EDD0CA8-ECC8-4804-D0DA-45B4232B7780}"/>
              </a:ext>
            </a:extLst>
          </p:cNvPr>
          <p:cNvGrpSpPr/>
          <p:nvPr/>
        </p:nvGrpSpPr>
        <p:grpSpPr>
          <a:xfrm>
            <a:off x="4817808" y="1880717"/>
            <a:ext cx="2467606" cy="1076231"/>
            <a:chOff x="6351533" y="3259920"/>
            <a:chExt cx="3290141" cy="1434975"/>
          </a:xfrm>
        </p:grpSpPr>
        <p:sp>
          <p:nvSpPr>
            <p:cNvPr id="104" name="Rounded Rectangle 103">
              <a:extLst>
                <a:ext uri="{FF2B5EF4-FFF2-40B4-BE49-F238E27FC236}">
                  <a16:creationId xmlns:a16="http://schemas.microsoft.com/office/drawing/2014/main" id="{1244998E-30A6-D58F-4F73-26F965A8E46C}"/>
                </a:ext>
              </a:extLst>
            </p:cNvPr>
            <p:cNvSpPr/>
            <p:nvPr/>
          </p:nvSpPr>
          <p:spPr>
            <a:xfrm>
              <a:off x="6351533" y="3534702"/>
              <a:ext cx="3290141" cy="1160193"/>
            </a:xfrm>
            <a:prstGeom prst="roundRect">
              <a:avLst>
                <a:gd name="adj" fmla="val 0"/>
              </a:avLst>
            </a:prstGeom>
            <a:solidFill>
              <a:srgbClr val="E97132">
                <a:lumMod val="20000"/>
                <a:lumOff val="80000"/>
              </a:srgbClr>
            </a:solidFill>
            <a:ln w="19050" cap="flat" cmpd="sng" algn="ctr">
              <a:solidFill>
                <a:srgbClr val="A02B93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API call to search engine with input “Keck Observatory”</a:t>
              </a:r>
            </a:p>
          </p:txBody>
        </p: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8B314ED-2AF6-7543-9BF4-44F9B82158A2}"/>
                </a:ext>
              </a:extLst>
            </p:cNvPr>
            <p:cNvCxnSpPr>
              <a:cxnSpLocks/>
              <a:stCxn id="111" idx="2"/>
            </p:cNvCxnSpPr>
            <p:nvPr/>
          </p:nvCxnSpPr>
          <p:spPr>
            <a:xfrm flipH="1">
              <a:off x="8242129" y="3259920"/>
              <a:ext cx="1" cy="274781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solid"/>
              <a:miter lim="800000"/>
              <a:headEnd type="oval" w="med" len="med"/>
              <a:tailEnd type="oval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784702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BB776-191E-2D4D-068B-BE5C7B2F2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D346-15A3-FC38-F1C9-C60D0EE3E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agent - </a:t>
            </a:r>
            <a:r>
              <a:rPr lang="en-US" dirty="0">
                <a:solidFill>
                  <a:schemeClr val="tx2"/>
                </a:solidFill>
              </a:rPr>
              <a:t>goal decomposition </a:t>
            </a:r>
            <a:r>
              <a:rPr lang="en-US" dirty="0"/>
              <a:t>and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tool use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e</a:t>
            </a:r>
            <a:r>
              <a:rPr lang="en-US" dirty="0"/>
              <a:t>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2A0FC-4B61-96CB-1B93-744B3C6F16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685800"/>
            <a:fld id="{00000000-1234-1234-1234-123412341234}" type="slidenum">
              <a:rPr lang="en-US" kern="1200">
                <a:solidFill>
                  <a:srgbClr val="FFFFFF"/>
                </a:solidFill>
              </a:rPr>
              <a:pPr defTabSz="685800"/>
              <a:t>14</a:t>
            </a:fld>
            <a:endParaRPr lang="en-US" kern="1200" dirty="0">
              <a:solidFill>
                <a:srgbClr val="FFFFFF"/>
              </a:solidFill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ABAE7E6A-0BC7-9BB9-49DC-44381CA2C872}"/>
              </a:ext>
            </a:extLst>
          </p:cNvPr>
          <p:cNvSpPr/>
          <p:nvPr/>
        </p:nvSpPr>
        <p:spPr>
          <a:xfrm>
            <a:off x="3341607" y="1196425"/>
            <a:ext cx="1229710" cy="733097"/>
          </a:xfrm>
          <a:prstGeom prst="roundRect">
            <a:avLst/>
          </a:prstGeom>
          <a:solidFill>
            <a:srgbClr val="0F9ED5"/>
          </a:solidFill>
          <a:ln w="19050" cap="flat" cmpd="sng" algn="ctr">
            <a:solidFill>
              <a:srgbClr val="0F9E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LLM Planner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1EB7C95A-2C36-21B1-4FB6-9C8B9A356124}"/>
              </a:ext>
            </a:extLst>
          </p:cNvPr>
          <p:cNvSpPr/>
          <p:nvPr/>
        </p:nvSpPr>
        <p:spPr>
          <a:xfrm>
            <a:off x="684591" y="1399688"/>
            <a:ext cx="768568" cy="360636"/>
          </a:xfrm>
          <a:prstGeom prst="roundRect">
            <a:avLst/>
          </a:prstGeom>
          <a:solidFill>
            <a:srgbClr val="A02B93"/>
          </a:solidFill>
          <a:ln w="19050" cap="flat" cmpd="sng" algn="ctr">
            <a:solidFill>
              <a:srgbClr val="A02B93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Goal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ECEB31D7-00DB-4386-D6E6-498C6E80D1ED}"/>
              </a:ext>
            </a:extLst>
          </p:cNvPr>
          <p:cNvSpPr/>
          <p:nvPr/>
        </p:nvSpPr>
        <p:spPr>
          <a:xfrm>
            <a:off x="2133901" y="3216164"/>
            <a:ext cx="1229710" cy="733097"/>
          </a:xfrm>
          <a:prstGeom prst="roundRect">
            <a:avLst/>
          </a:prstGeom>
          <a:solidFill>
            <a:srgbClr val="4EA72E"/>
          </a:solidFill>
          <a:ln w="19050" cap="flat" cmpd="sng" algn="ctr">
            <a:solidFill>
              <a:srgbClr val="4EA72E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Memories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F0448456-6468-35DE-9CF0-5C9A0F2BC023}"/>
              </a:ext>
            </a:extLst>
          </p:cNvPr>
          <p:cNvSpPr/>
          <p:nvPr/>
        </p:nvSpPr>
        <p:spPr>
          <a:xfrm>
            <a:off x="2664727" y="2286703"/>
            <a:ext cx="863162" cy="496613"/>
          </a:xfrm>
          <a:prstGeom prst="roundRect">
            <a:avLst/>
          </a:prstGeom>
          <a:gradFill rotWithShape="1">
            <a:gsLst>
              <a:gs pos="0">
                <a:srgbClr val="4EA72E">
                  <a:satMod val="103000"/>
                  <a:lumMod val="102000"/>
                  <a:tint val="94000"/>
                </a:srgbClr>
              </a:gs>
              <a:gs pos="50000">
                <a:srgbClr val="4EA72E">
                  <a:satMod val="110000"/>
                  <a:lumMod val="100000"/>
                  <a:shade val="100000"/>
                </a:srgbClr>
              </a:gs>
              <a:gs pos="100000">
                <a:srgbClr val="4EA72E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1270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20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Relevant Memory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41A0C20-FD34-3CA9-00A0-C441D6F71315}"/>
              </a:ext>
            </a:extLst>
          </p:cNvPr>
          <p:cNvCxnSpPr>
            <a:cxnSpLocks/>
            <a:endCxn id="91" idx="1"/>
          </p:cNvCxnSpPr>
          <p:nvPr/>
        </p:nvCxnSpPr>
        <p:spPr>
          <a:xfrm flipV="1">
            <a:off x="1496743" y="1562973"/>
            <a:ext cx="1844864" cy="17033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0D9B668-3A3C-ED05-5393-261C0023B358}"/>
              </a:ext>
            </a:extLst>
          </p:cNvPr>
          <p:cNvCxnSpPr>
            <a:cxnSpLocks/>
          </p:cNvCxnSpPr>
          <p:nvPr/>
        </p:nvCxnSpPr>
        <p:spPr>
          <a:xfrm>
            <a:off x="2406647" y="1580006"/>
            <a:ext cx="0" cy="150609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EFBD6B2B-70F1-7479-A415-8356254679F4}"/>
              </a:ext>
            </a:extLst>
          </p:cNvPr>
          <p:cNvCxnSpPr>
            <a:cxnSpLocks/>
          </p:cNvCxnSpPr>
          <p:nvPr/>
        </p:nvCxnSpPr>
        <p:spPr>
          <a:xfrm flipV="1">
            <a:off x="3086889" y="2820057"/>
            <a:ext cx="0" cy="312467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D14A225-E96F-FA3B-C07D-742837F6A9F3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207968" cy="0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0F04F6AB-FC59-510C-541C-87787C9C02D2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9419" cy="46391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none"/>
          </a:ln>
          <a:effectLst/>
        </p:spPr>
      </p:cxnSp>
      <p:grpSp>
        <p:nvGrpSpPr>
          <p:cNvPr id="123" name="Final output">
            <a:extLst>
              <a:ext uri="{FF2B5EF4-FFF2-40B4-BE49-F238E27FC236}">
                <a16:creationId xmlns:a16="http://schemas.microsoft.com/office/drawing/2014/main" id="{75D4208E-495E-EDB4-C857-A2D2201E4E8E}"/>
              </a:ext>
            </a:extLst>
          </p:cNvPr>
          <p:cNvGrpSpPr/>
          <p:nvPr/>
        </p:nvGrpSpPr>
        <p:grpSpPr>
          <a:xfrm>
            <a:off x="4618068" y="1164366"/>
            <a:ext cx="4058956" cy="846347"/>
            <a:chOff x="8547456" y="6075491"/>
            <a:chExt cx="5411941" cy="1128463"/>
          </a:xfrm>
        </p:grpSpPr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49FE17BF-54E0-9159-6E16-4426F0E90CF8}"/>
                </a:ext>
              </a:extLst>
            </p:cNvPr>
            <p:cNvSpPr/>
            <p:nvPr/>
          </p:nvSpPr>
          <p:spPr>
            <a:xfrm>
              <a:off x="9962613" y="6075491"/>
              <a:ext cx="3996784" cy="1128463"/>
            </a:xfrm>
            <a:prstGeom prst="roundRect">
              <a:avLst>
                <a:gd name="adj" fmla="val 0"/>
              </a:avLst>
            </a:prstGeom>
            <a:solidFill>
              <a:srgbClr val="A02B93">
                <a:lumMod val="20000"/>
                <a:lumOff val="80000"/>
              </a:srgbClr>
            </a:solidFill>
            <a:ln w="19050" cap="flat" cmpd="sng" algn="ctr">
              <a:solidFill>
                <a:srgbClr val="A02B93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defTabSz="685800">
                <a:buClrTx/>
                <a:defRPr/>
              </a:pPr>
              <a:r>
                <a:rPr lang="en-US" sz="1350" b="1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Final output text:</a:t>
              </a: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Keck Observatory is  located on the summit of Mauna Kea where the current weather is 16°C</a:t>
              </a:r>
            </a:p>
          </p:txBody>
        </p: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B30A31F4-1201-4646-07C0-37F2896D47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7456" y="6547556"/>
              <a:ext cx="1399446" cy="12920"/>
            </a:xfrm>
            <a:prstGeom prst="straightConnector1">
              <a:avLst/>
            </a:prstGeom>
            <a:noFill/>
            <a:ln w="41275" cap="flat" cmpd="sng" algn="ctr">
              <a:solidFill>
                <a:schemeClr val="bg1"/>
              </a:solidFill>
              <a:prstDash val="solid"/>
              <a:miter lim="800000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842768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CF0FE-9A67-C5C3-009F-160BEB0A5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31F1A-3E71-E811-5BB7-F97610D15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0B715-5D68-585B-498F-C90F63B0B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3159" y="1003300"/>
            <a:ext cx="4807485" cy="3361955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ReAct</a:t>
            </a:r>
            <a:r>
              <a:rPr lang="en-US" dirty="0"/>
              <a:t> agents are AI systems that combine reasoning and action to solve problems by analyzing tasks and interacting with their environment.</a:t>
            </a:r>
          </a:p>
          <a:p>
            <a:r>
              <a:rPr lang="en-US" dirty="0"/>
              <a:t>They operate in a loop of reasoning, acting, and observing, allowing for dynamic decision-making and real-time adjustments based on feedback.</a:t>
            </a:r>
          </a:p>
          <a:p>
            <a:r>
              <a:rPr lang="en-US" dirty="0"/>
              <a:t>Contrasting </a:t>
            </a:r>
            <a:r>
              <a:rPr lang="en-US" dirty="0" err="1"/>
              <a:t>ReAct</a:t>
            </a:r>
            <a:r>
              <a:rPr lang="en-US" dirty="0"/>
              <a:t> agents with goal decomposition, </a:t>
            </a:r>
            <a:r>
              <a:rPr lang="en-US" dirty="0" err="1"/>
              <a:t>ReAct</a:t>
            </a:r>
            <a:r>
              <a:rPr lang="en-US" dirty="0"/>
              <a:t> agents only think 1 step ahead when reasoning. If they choose to execute an action they next ingest those results and reason on the next best step.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190BE-712A-4181-2994-62877416AD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026" name="Picture 2" descr="Building a LangGraph + ReAct Agent with LangSmith for Tracking &amp; Tool ...">
            <a:extLst>
              <a:ext uri="{FF2B5EF4-FFF2-40B4-BE49-F238E27FC236}">
                <a16:creationId xmlns:a16="http://schemas.microsoft.com/office/drawing/2014/main" id="{85030C9B-E8F6-DC39-2D2A-59BA9C6AE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6844" y="910855"/>
            <a:ext cx="3285945" cy="345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397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7C268-A3AF-DA49-4F9A-844BA60FE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1F9EA-BCC8-5E96-C162-CA37B1E66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agent – </a:t>
            </a:r>
            <a:r>
              <a:rPr lang="en-US" dirty="0" err="1">
                <a:solidFill>
                  <a:schemeClr val="tx2"/>
                </a:solidFill>
              </a:rPr>
              <a:t>ReAct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/>
              <a:t>and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tool use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e</a:t>
            </a:r>
            <a:r>
              <a:rPr lang="en-US" dirty="0"/>
              <a:t>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66422-7074-0A52-B1D0-C288DAA4C7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685800"/>
            <a:fld id="{00000000-1234-1234-1234-123412341234}" type="slidenum">
              <a:rPr lang="en-US" kern="1200">
                <a:solidFill>
                  <a:srgbClr val="FFFFFF"/>
                </a:solidFill>
              </a:rPr>
              <a:pPr defTabSz="685800"/>
              <a:t>16</a:t>
            </a:fld>
            <a:endParaRPr lang="en-US" kern="1200" dirty="0">
              <a:solidFill>
                <a:srgbClr val="FFFFFF"/>
              </a:solidFill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B58C1-2FDD-BB15-5B62-638354A88E02}"/>
              </a:ext>
            </a:extLst>
          </p:cNvPr>
          <p:cNvSpPr/>
          <p:nvPr/>
        </p:nvSpPr>
        <p:spPr>
          <a:xfrm>
            <a:off x="3341607" y="1196425"/>
            <a:ext cx="1229710" cy="733097"/>
          </a:xfrm>
          <a:prstGeom prst="roundRect">
            <a:avLst/>
          </a:prstGeom>
          <a:solidFill>
            <a:srgbClr val="0F9ED5"/>
          </a:solidFill>
          <a:ln w="19050" cap="flat" cmpd="sng" algn="ctr">
            <a:solidFill>
              <a:srgbClr val="0F9E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LLM Brain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28F5018A-DE91-ADB5-3CC3-4BB37052E46A}"/>
              </a:ext>
            </a:extLst>
          </p:cNvPr>
          <p:cNvSpPr/>
          <p:nvPr/>
        </p:nvSpPr>
        <p:spPr>
          <a:xfrm>
            <a:off x="684591" y="1399688"/>
            <a:ext cx="768568" cy="360636"/>
          </a:xfrm>
          <a:prstGeom prst="roundRect">
            <a:avLst/>
          </a:prstGeom>
          <a:solidFill>
            <a:srgbClr val="A02B93"/>
          </a:solidFill>
          <a:ln w="19050" cap="flat" cmpd="sng" algn="ctr">
            <a:solidFill>
              <a:srgbClr val="A02B93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Goal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B082BF9F-54B2-A393-7D85-801F103A8360}"/>
              </a:ext>
            </a:extLst>
          </p:cNvPr>
          <p:cNvSpPr/>
          <p:nvPr/>
        </p:nvSpPr>
        <p:spPr>
          <a:xfrm>
            <a:off x="2133901" y="3216164"/>
            <a:ext cx="1229710" cy="733097"/>
          </a:xfrm>
          <a:prstGeom prst="roundRect">
            <a:avLst/>
          </a:prstGeom>
          <a:solidFill>
            <a:srgbClr val="4EA72E"/>
          </a:solidFill>
          <a:ln w="19050" cap="flat" cmpd="sng" algn="ctr">
            <a:solidFill>
              <a:srgbClr val="4EA72E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Memories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FFBF0534-54C8-D506-E7E4-45E94A680057}"/>
              </a:ext>
            </a:extLst>
          </p:cNvPr>
          <p:cNvSpPr/>
          <p:nvPr/>
        </p:nvSpPr>
        <p:spPr>
          <a:xfrm>
            <a:off x="2664727" y="2286703"/>
            <a:ext cx="863162" cy="496613"/>
          </a:xfrm>
          <a:prstGeom prst="roundRect">
            <a:avLst/>
          </a:prstGeom>
          <a:gradFill rotWithShape="1">
            <a:gsLst>
              <a:gs pos="0">
                <a:srgbClr val="4EA72E">
                  <a:satMod val="103000"/>
                  <a:lumMod val="102000"/>
                  <a:tint val="94000"/>
                </a:srgbClr>
              </a:gs>
              <a:gs pos="50000">
                <a:srgbClr val="4EA72E">
                  <a:satMod val="110000"/>
                  <a:lumMod val="100000"/>
                  <a:shade val="100000"/>
                </a:srgbClr>
              </a:gs>
              <a:gs pos="100000">
                <a:srgbClr val="4EA72E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1270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20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Relevant Memory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B43D02E-A803-99F9-EAF2-2CB4663F2960}"/>
              </a:ext>
            </a:extLst>
          </p:cNvPr>
          <p:cNvCxnSpPr>
            <a:cxnSpLocks/>
            <a:endCxn id="91" idx="1"/>
          </p:cNvCxnSpPr>
          <p:nvPr/>
        </p:nvCxnSpPr>
        <p:spPr>
          <a:xfrm flipV="1">
            <a:off x="1496743" y="1562973"/>
            <a:ext cx="1844864" cy="17033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96" name="User input">
            <a:extLst>
              <a:ext uri="{FF2B5EF4-FFF2-40B4-BE49-F238E27FC236}">
                <a16:creationId xmlns:a16="http://schemas.microsoft.com/office/drawing/2014/main" id="{67E88203-4A56-916C-4936-C19DE6649795}"/>
              </a:ext>
            </a:extLst>
          </p:cNvPr>
          <p:cNvGrpSpPr/>
          <p:nvPr/>
        </p:nvGrpSpPr>
        <p:grpSpPr>
          <a:xfrm>
            <a:off x="136965" y="1760323"/>
            <a:ext cx="1884962" cy="2319944"/>
            <a:chOff x="182619" y="2347098"/>
            <a:chExt cx="2513283" cy="3093258"/>
          </a:xfrm>
        </p:grpSpPr>
        <p:sp>
          <p:nvSpPr>
            <p:cNvPr id="97" name="Rounded Rectangle 96">
              <a:extLst>
                <a:ext uri="{FF2B5EF4-FFF2-40B4-BE49-F238E27FC236}">
                  <a16:creationId xmlns:a16="http://schemas.microsoft.com/office/drawing/2014/main" id="{EDFDE750-E2A0-6CE6-B2B5-F492A2444AD3}"/>
                </a:ext>
              </a:extLst>
            </p:cNvPr>
            <p:cNvSpPr/>
            <p:nvPr/>
          </p:nvSpPr>
          <p:spPr>
            <a:xfrm>
              <a:off x="182619" y="4114799"/>
              <a:ext cx="2513283" cy="1325557"/>
            </a:xfrm>
            <a:prstGeom prst="roundRect">
              <a:avLst>
                <a:gd name="adj" fmla="val 0"/>
              </a:avLst>
            </a:prstGeom>
            <a:solidFill>
              <a:srgbClr val="A02B93">
                <a:lumMod val="20000"/>
                <a:lumOff val="80000"/>
              </a:srgbClr>
            </a:solidFill>
            <a:ln w="19050" cap="flat" cmpd="sng" algn="ctr">
              <a:solidFill>
                <a:srgbClr val="A02B93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defTabSz="685800">
                <a:buClrTx/>
                <a:defRPr/>
              </a:pPr>
              <a:r>
                <a:rPr lang="en-US" sz="1350" b="1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User input text:</a:t>
              </a: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Look up the current weather at the Keck Observatory</a:t>
              </a: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D661619B-A07E-AF1D-BA71-69A4A243446E}"/>
                </a:ext>
              </a:extLst>
            </p:cNvPr>
            <p:cNvCxnSpPr>
              <a:cxnSpLocks/>
              <a:stCxn id="92" idx="2"/>
              <a:endCxn id="97" idx="0"/>
            </p:cNvCxnSpPr>
            <p:nvPr/>
          </p:nvCxnSpPr>
          <p:spPr>
            <a:xfrm>
              <a:off x="1425167" y="2347098"/>
              <a:ext cx="14094" cy="1767701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solid"/>
              <a:miter lim="800000"/>
              <a:headEnd type="oval" w="med" len="med"/>
              <a:tailEnd type="oval" w="med" len="med"/>
            </a:ln>
            <a:effectLst/>
          </p:spPr>
        </p:cxnSp>
      </p:grp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542732D-7B5A-385D-4099-08F9E748833A}"/>
              </a:ext>
            </a:extLst>
          </p:cNvPr>
          <p:cNvCxnSpPr>
            <a:cxnSpLocks/>
          </p:cNvCxnSpPr>
          <p:nvPr/>
        </p:nvCxnSpPr>
        <p:spPr>
          <a:xfrm>
            <a:off x="2406647" y="1580006"/>
            <a:ext cx="0" cy="150609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8884E59-47AB-1894-0765-E38D042899AF}"/>
              </a:ext>
            </a:extLst>
          </p:cNvPr>
          <p:cNvCxnSpPr>
            <a:cxnSpLocks/>
          </p:cNvCxnSpPr>
          <p:nvPr/>
        </p:nvCxnSpPr>
        <p:spPr>
          <a:xfrm flipV="1">
            <a:off x="3086889" y="2820057"/>
            <a:ext cx="0" cy="312467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E1273C8C-FA08-84B1-6692-A392272E87D8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207968" cy="0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5D63F6B-3595-481B-4372-105C9346A71B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9419" cy="46391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none"/>
          </a:ln>
          <a:effectLst/>
        </p:spPr>
      </p:cxnSp>
      <p:grpSp>
        <p:nvGrpSpPr>
          <p:cNvPr id="113" name="Memories">
            <a:extLst>
              <a:ext uri="{FF2B5EF4-FFF2-40B4-BE49-F238E27FC236}">
                <a16:creationId xmlns:a16="http://schemas.microsoft.com/office/drawing/2014/main" id="{17CF84D8-1EC8-F8BD-74F6-EB7AD4A498E8}"/>
              </a:ext>
            </a:extLst>
          </p:cNvPr>
          <p:cNvGrpSpPr/>
          <p:nvPr/>
        </p:nvGrpSpPr>
        <p:grpSpPr>
          <a:xfrm>
            <a:off x="3381052" y="2956951"/>
            <a:ext cx="3788513" cy="1223983"/>
            <a:chOff x="6079088" y="3567077"/>
            <a:chExt cx="5051351" cy="1631977"/>
          </a:xfrm>
          <a:solidFill>
            <a:srgbClr val="4EA72E">
              <a:lumMod val="20000"/>
              <a:lumOff val="80000"/>
            </a:srgbClr>
          </a:solidFill>
        </p:grpSpPr>
        <p:sp>
          <p:nvSpPr>
            <p:cNvPr id="114" name="Rounded Rectangle 113">
              <a:extLst>
                <a:ext uri="{FF2B5EF4-FFF2-40B4-BE49-F238E27FC236}">
                  <a16:creationId xmlns:a16="http://schemas.microsoft.com/office/drawing/2014/main" id="{34603670-B5C4-6D2A-A1A3-ADB7698B10D0}"/>
                </a:ext>
              </a:extLst>
            </p:cNvPr>
            <p:cNvSpPr/>
            <p:nvPr/>
          </p:nvSpPr>
          <p:spPr>
            <a:xfrm>
              <a:off x="6778216" y="3567077"/>
              <a:ext cx="4352223" cy="1631977"/>
            </a:xfrm>
            <a:prstGeom prst="roundRect">
              <a:avLst>
                <a:gd name="adj" fmla="val 0"/>
              </a:avLst>
            </a:prstGeom>
            <a:grpFill/>
            <a:ln w="19050" cap="flat" cmpd="sng" algn="ctr">
              <a:solidFill>
                <a:srgbClr val="A02B93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List of available tools</a:t>
              </a: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[{‘Tool name’, ‘tool description’}, …]</a:t>
              </a:r>
            </a:p>
            <a:p>
              <a:pPr defTabSz="685800">
                <a:buClrTx/>
                <a:defRPr/>
              </a:pPr>
              <a:endParaRPr lang="en-US" sz="135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List of past actions and results</a:t>
              </a: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[{‘Action summary’, ‘result summary’}, …]</a:t>
              </a:r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7F967BFE-8A59-18C6-9387-3A9620C49B38}"/>
                </a:ext>
              </a:extLst>
            </p:cNvPr>
            <p:cNvCxnSpPr>
              <a:cxnSpLocks/>
            </p:cNvCxnSpPr>
            <p:nvPr/>
          </p:nvCxnSpPr>
          <p:spPr>
            <a:xfrm>
              <a:off x="6079088" y="4401426"/>
              <a:ext cx="699128" cy="0"/>
            </a:xfrm>
            <a:prstGeom prst="line">
              <a:avLst/>
            </a:prstGeom>
            <a:grpFill/>
            <a:ln w="19050" cap="flat" cmpd="sng" algn="ctr">
              <a:solidFill>
                <a:schemeClr val="bg1"/>
              </a:solidFill>
              <a:prstDash val="solid"/>
              <a:miter lim="800000"/>
              <a:headEnd type="oval" w="med" len="med"/>
              <a:tailEnd type="oval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837377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2B59C-1002-8386-FA59-77999C10F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D4B4A-6276-4323-8B20-3870DECF2C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685800"/>
            <a:fld id="{00000000-1234-1234-1234-123412341234}" type="slidenum">
              <a:rPr lang="en-US" kern="1200">
                <a:solidFill>
                  <a:srgbClr val="FFFFFF"/>
                </a:solidFill>
              </a:rPr>
              <a:pPr defTabSz="685800"/>
              <a:t>17</a:t>
            </a:fld>
            <a:endParaRPr lang="en-US" kern="1200" dirty="0">
              <a:solidFill>
                <a:srgbClr val="FFFFFF"/>
              </a:solidFill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2FB858ED-9C39-B0D6-A76A-9F7DF50ADF3A}"/>
              </a:ext>
            </a:extLst>
          </p:cNvPr>
          <p:cNvSpPr/>
          <p:nvPr/>
        </p:nvSpPr>
        <p:spPr>
          <a:xfrm>
            <a:off x="3341607" y="1196425"/>
            <a:ext cx="1229710" cy="733097"/>
          </a:xfrm>
          <a:prstGeom prst="roundRect">
            <a:avLst/>
          </a:prstGeom>
          <a:solidFill>
            <a:srgbClr val="0F9ED5"/>
          </a:solidFill>
          <a:ln w="19050" cap="flat" cmpd="sng" algn="ctr">
            <a:solidFill>
              <a:srgbClr val="0F9E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LLM Brain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59799FD4-F7AF-2AE5-C6A7-D5558A5B45D4}"/>
              </a:ext>
            </a:extLst>
          </p:cNvPr>
          <p:cNvSpPr/>
          <p:nvPr/>
        </p:nvSpPr>
        <p:spPr>
          <a:xfrm>
            <a:off x="684591" y="1399688"/>
            <a:ext cx="768568" cy="360636"/>
          </a:xfrm>
          <a:prstGeom prst="roundRect">
            <a:avLst/>
          </a:prstGeom>
          <a:solidFill>
            <a:srgbClr val="A02B93"/>
          </a:solidFill>
          <a:ln w="19050" cap="flat" cmpd="sng" algn="ctr">
            <a:solidFill>
              <a:srgbClr val="A02B93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Goal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32223AF5-7020-304F-C3A6-4613BFB6B827}"/>
              </a:ext>
            </a:extLst>
          </p:cNvPr>
          <p:cNvSpPr/>
          <p:nvPr/>
        </p:nvSpPr>
        <p:spPr>
          <a:xfrm>
            <a:off x="2133901" y="3216164"/>
            <a:ext cx="1229710" cy="733097"/>
          </a:xfrm>
          <a:prstGeom prst="roundRect">
            <a:avLst/>
          </a:prstGeom>
          <a:solidFill>
            <a:srgbClr val="4EA72E"/>
          </a:solidFill>
          <a:ln w="19050" cap="flat" cmpd="sng" algn="ctr">
            <a:solidFill>
              <a:srgbClr val="4EA72E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Memories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B230F2AB-4E81-CF0C-B14A-02BB7C33609A}"/>
              </a:ext>
            </a:extLst>
          </p:cNvPr>
          <p:cNvSpPr/>
          <p:nvPr/>
        </p:nvSpPr>
        <p:spPr>
          <a:xfrm>
            <a:off x="2664727" y="2286703"/>
            <a:ext cx="863162" cy="496613"/>
          </a:xfrm>
          <a:prstGeom prst="roundRect">
            <a:avLst/>
          </a:prstGeom>
          <a:gradFill rotWithShape="1">
            <a:gsLst>
              <a:gs pos="0">
                <a:srgbClr val="4EA72E">
                  <a:satMod val="103000"/>
                  <a:lumMod val="102000"/>
                  <a:tint val="94000"/>
                </a:srgbClr>
              </a:gs>
              <a:gs pos="50000">
                <a:srgbClr val="4EA72E">
                  <a:satMod val="110000"/>
                  <a:lumMod val="100000"/>
                  <a:shade val="100000"/>
                </a:srgbClr>
              </a:gs>
              <a:gs pos="100000">
                <a:srgbClr val="4EA72E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1270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20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Relevant Memory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9F4E5ADF-2A99-7678-AD63-95073EAE3543}"/>
              </a:ext>
            </a:extLst>
          </p:cNvPr>
          <p:cNvCxnSpPr>
            <a:cxnSpLocks/>
            <a:endCxn id="91" idx="1"/>
          </p:cNvCxnSpPr>
          <p:nvPr/>
        </p:nvCxnSpPr>
        <p:spPr>
          <a:xfrm flipV="1">
            <a:off x="1496743" y="1562973"/>
            <a:ext cx="1844864" cy="17033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D63165AB-8A91-6E2C-25F3-A3839A126546}"/>
              </a:ext>
            </a:extLst>
          </p:cNvPr>
          <p:cNvCxnSpPr>
            <a:cxnSpLocks/>
          </p:cNvCxnSpPr>
          <p:nvPr/>
        </p:nvCxnSpPr>
        <p:spPr>
          <a:xfrm>
            <a:off x="2406647" y="1580006"/>
            <a:ext cx="0" cy="150609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38FEFA50-834F-93FD-33CF-A567E1119376}"/>
              </a:ext>
            </a:extLst>
          </p:cNvPr>
          <p:cNvCxnSpPr>
            <a:cxnSpLocks/>
          </p:cNvCxnSpPr>
          <p:nvPr/>
        </p:nvCxnSpPr>
        <p:spPr>
          <a:xfrm flipV="1">
            <a:off x="3086889" y="2820057"/>
            <a:ext cx="0" cy="312467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46D0660C-2D7B-4B5F-2C8B-DBA77CC26DC2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207968" cy="0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CF4B2F5B-3C89-55D1-6CD6-CD1C59FD7F83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9419" cy="46391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none"/>
          </a:ln>
          <a:effectLst/>
        </p:spPr>
      </p:cxnSp>
      <p:grpSp>
        <p:nvGrpSpPr>
          <p:cNvPr id="116" name="Generate Action plan">
            <a:extLst>
              <a:ext uri="{FF2B5EF4-FFF2-40B4-BE49-F238E27FC236}">
                <a16:creationId xmlns:a16="http://schemas.microsoft.com/office/drawing/2014/main" id="{0B307BD5-A8B2-805A-F1B2-68B536F0055D}"/>
              </a:ext>
            </a:extLst>
          </p:cNvPr>
          <p:cNvGrpSpPr/>
          <p:nvPr/>
        </p:nvGrpSpPr>
        <p:grpSpPr>
          <a:xfrm>
            <a:off x="3729202" y="1944979"/>
            <a:ext cx="3224327" cy="1970433"/>
            <a:chOff x="3125731" y="4239672"/>
            <a:chExt cx="4299102" cy="2627243"/>
          </a:xfrm>
        </p:grpSpPr>
        <p:sp>
          <p:nvSpPr>
            <p:cNvPr id="117" name="Rounded Rectangle 116">
              <a:extLst>
                <a:ext uri="{FF2B5EF4-FFF2-40B4-BE49-F238E27FC236}">
                  <a16:creationId xmlns:a16="http://schemas.microsoft.com/office/drawing/2014/main" id="{2741E285-C144-28DC-3822-AEE3792B5641}"/>
                </a:ext>
              </a:extLst>
            </p:cNvPr>
            <p:cNvSpPr/>
            <p:nvPr/>
          </p:nvSpPr>
          <p:spPr>
            <a:xfrm>
              <a:off x="3125731" y="4858790"/>
              <a:ext cx="4299102" cy="2008125"/>
            </a:xfrm>
            <a:prstGeom prst="roundRect">
              <a:avLst>
                <a:gd name="adj" fmla="val 0"/>
              </a:avLst>
            </a:prstGeom>
            <a:solidFill>
              <a:srgbClr val="0F9ED5">
                <a:lumMod val="20000"/>
                <a:lumOff val="80000"/>
              </a:srgbClr>
            </a:solidFill>
            <a:ln w="19050" cap="flat" cmpd="sng" algn="ctr">
              <a:solidFill>
                <a:srgbClr val="A02B93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defTabSz="685800">
                <a:buClrTx/>
                <a:defRPr/>
              </a:pPr>
              <a:r>
                <a:rPr lang="en-US" sz="1350" b="1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LLM prompt:</a:t>
              </a: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Your goal is: </a:t>
              </a:r>
              <a:r>
                <a:rPr lang="en-US" sz="1350" dirty="0">
                  <a:solidFill>
                    <a:srgbClr val="A02B93"/>
                  </a:solidFill>
                  <a:latin typeface="Aptos" panose="02110004020202020204"/>
                  <a:ea typeface="+mn-ea"/>
                  <a:cs typeface="+mn-cs"/>
                </a:rPr>
                <a:t>{goal}</a:t>
              </a:r>
            </a:p>
            <a:p>
              <a:pPr defTabSz="685800">
                <a:buClrTx/>
                <a:defRPr/>
              </a:pPr>
              <a:endParaRPr lang="en-US" sz="135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Relevant memories: </a:t>
              </a:r>
              <a:r>
                <a:rPr lang="en-US" sz="1350" dirty="0">
                  <a:solidFill>
                    <a:srgbClr val="4EA72E"/>
                  </a:solidFill>
                  <a:latin typeface="Aptos" panose="02110004020202020204"/>
                  <a:ea typeface="+mn-ea"/>
                  <a:cs typeface="+mn-cs"/>
                </a:rPr>
                <a:t>{memories}</a:t>
              </a:r>
            </a:p>
            <a:p>
              <a:pPr defTabSz="685800">
                <a:buClrTx/>
                <a:defRPr/>
              </a:pPr>
              <a:endParaRPr lang="en-US" sz="135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Indicate what you should do next to solve this problem</a:t>
              </a:r>
            </a:p>
          </p:txBody>
        </p: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F9F7397B-53CE-A9F1-3008-2521A8A0D8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8046" y="4239672"/>
              <a:ext cx="1" cy="619118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solid"/>
              <a:miter lim="800000"/>
              <a:headEnd type="oval" w="med" len="med"/>
              <a:tailEnd type="oval" w="med" len="med"/>
            </a:ln>
            <a:effectLst/>
          </p:spPr>
        </p:cxn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0E1E12DA-B871-3A34-11B4-F6794F466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04E7598-7247-CFBD-7809-368243841C2A}"/>
              </a:ext>
            </a:extLst>
          </p:cNvPr>
          <p:cNvSpPr txBox="1">
            <a:spLocks/>
          </p:cNvSpPr>
          <p:nvPr/>
        </p:nvSpPr>
        <p:spPr>
          <a:xfrm>
            <a:off x="574118" y="165337"/>
            <a:ext cx="824583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  <a:defRPr sz="27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LLM agent – </a:t>
            </a:r>
            <a:r>
              <a:rPr lang="en-US">
                <a:solidFill>
                  <a:schemeClr val="tx2"/>
                </a:solidFill>
              </a:rPr>
              <a:t>ReAct </a:t>
            </a:r>
            <a:r>
              <a:rPr lang="en-US"/>
              <a:t>and </a:t>
            </a:r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tool use</a:t>
            </a:r>
            <a:r>
              <a:rPr lang="en-US">
                <a:solidFill>
                  <a:schemeClr val="accent5">
                    <a:lumMod val="20000"/>
                    <a:lumOff val="80000"/>
                  </a:schemeClr>
                </a:solidFill>
              </a:rPr>
              <a:t> e</a:t>
            </a:r>
            <a:r>
              <a:rPr lang="en-US"/>
              <a:t>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297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6B185-7F0E-248B-1128-397372CB7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DB5F5-AC54-49DC-3420-9DF8B8CA0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685800"/>
            <a:fld id="{00000000-1234-1234-1234-123412341234}" type="slidenum">
              <a:rPr lang="en-US" kern="1200">
                <a:solidFill>
                  <a:srgbClr val="FFFFFF"/>
                </a:solidFill>
              </a:rPr>
              <a:pPr defTabSz="685800"/>
              <a:t>18</a:t>
            </a:fld>
            <a:endParaRPr lang="en-US" kern="1200" dirty="0">
              <a:solidFill>
                <a:srgbClr val="FFFFFF"/>
              </a:solidFill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38439588-F690-481F-39B6-829727BBDCC8}"/>
              </a:ext>
            </a:extLst>
          </p:cNvPr>
          <p:cNvSpPr/>
          <p:nvPr/>
        </p:nvSpPr>
        <p:spPr>
          <a:xfrm>
            <a:off x="3341607" y="1196425"/>
            <a:ext cx="1229710" cy="733097"/>
          </a:xfrm>
          <a:prstGeom prst="roundRect">
            <a:avLst/>
          </a:prstGeom>
          <a:solidFill>
            <a:srgbClr val="0F9ED5"/>
          </a:solidFill>
          <a:ln w="19050" cap="flat" cmpd="sng" algn="ctr">
            <a:solidFill>
              <a:srgbClr val="0F9E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LLM Brain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0D86D83-1BBF-47E6-B437-3B35498E47B4}"/>
              </a:ext>
            </a:extLst>
          </p:cNvPr>
          <p:cNvSpPr/>
          <p:nvPr/>
        </p:nvSpPr>
        <p:spPr>
          <a:xfrm>
            <a:off x="684591" y="1399688"/>
            <a:ext cx="768568" cy="360636"/>
          </a:xfrm>
          <a:prstGeom prst="roundRect">
            <a:avLst/>
          </a:prstGeom>
          <a:solidFill>
            <a:srgbClr val="A02B93"/>
          </a:solidFill>
          <a:ln w="19050" cap="flat" cmpd="sng" algn="ctr">
            <a:solidFill>
              <a:srgbClr val="A02B93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Goal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D81F59D9-E2D9-C6D2-F0F8-0AE9099E35F7}"/>
              </a:ext>
            </a:extLst>
          </p:cNvPr>
          <p:cNvSpPr/>
          <p:nvPr/>
        </p:nvSpPr>
        <p:spPr>
          <a:xfrm>
            <a:off x="2133901" y="3216164"/>
            <a:ext cx="1229710" cy="733097"/>
          </a:xfrm>
          <a:prstGeom prst="roundRect">
            <a:avLst/>
          </a:prstGeom>
          <a:solidFill>
            <a:srgbClr val="4EA72E"/>
          </a:solidFill>
          <a:ln w="19050" cap="flat" cmpd="sng" algn="ctr">
            <a:solidFill>
              <a:srgbClr val="4EA72E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Memories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3FBC7BF3-B3B3-DEE8-36C2-B3A4FC728977}"/>
              </a:ext>
            </a:extLst>
          </p:cNvPr>
          <p:cNvSpPr/>
          <p:nvPr/>
        </p:nvSpPr>
        <p:spPr>
          <a:xfrm>
            <a:off x="2664727" y="2286703"/>
            <a:ext cx="863162" cy="496613"/>
          </a:xfrm>
          <a:prstGeom prst="roundRect">
            <a:avLst/>
          </a:prstGeom>
          <a:gradFill rotWithShape="1">
            <a:gsLst>
              <a:gs pos="0">
                <a:srgbClr val="4EA72E">
                  <a:satMod val="103000"/>
                  <a:lumMod val="102000"/>
                  <a:tint val="94000"/>
                </a:srgbClr>
              </a:gs>
              <a:gs pos="50000">
                <a:srgbClr val="4EA72E">
                  <a:satMod val="110000"/>
                  <a:lumMod val="100000"/>
                  <a:shade val="100000"/>
                </a:srgbClr>
              </a:gs>
              <a:gs pos="100000">
                <a:srgbClr val="4EA72E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1270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20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Relevant Memory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57BC609D-387F-74A6-3C4E-CF8251BCEB0D}"/>
              </a:ext>
            </a:extLst>
          </p:cNvPr>
          <p:cNvCxnSpPr>
            <a:cxnSpLocks/>
            <a:endCxn id="91" idx="1"/>
          </p:cNvCxnSpPr>
          <p:nvPr/>
        </p:nvCxnSpPr>
        <p:spPr>
          <a:xfrm flipV="1">
            <a:off x="1496743" y="1562973"/>
            <a:ext cx="1844864" cy="17033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6D886F49-06EB-8635-61F9-156B85EBEB67}"/>
              </a:ext>
            </a:extLst>
          </p:cNvPr>
          <p:cNvCxnSpPr>
            <a:cxnSpLocks/>
          </p:cNvCxnSpPr>
          <p:nvPr/>
        </p:nvCxnSpPr>
        <p:spPr>
          <a:xfrm>
            <a:off x="2406647" y="1580006"/>
            <a:ext cx="0" cy="150609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B792C3DD-CC75-8EC7-D1F9-010825B218B1}"/>
              </a:ext>
            </a:extLst>
          </p:cNvPr>
          <p:cNvCxnSpPr>
            <a:cxnSpLocks/>
          </p:cNvCxnSpPr>
          <p:nvPr/>
        </p:nvCxnSpPr>
        <p:spPr>
          <a:xfrm flipV="1">
            <a:off x="3086889" y="2820057"/>
            <a:ext cx="0" cy="312467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1D708FAA-76C7-3C0C-B94D-07FCB062134C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207968" cy="0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946C6E8B-DB2C-61F3-D7E8-E3F9696A5CDE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9419" cy="46391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none"/>
          </a:ln>
          <a:effectLst/>
        </p:spPr>
      </p:cxnSp>
      <p:grpSp>
        <p:nvGrpSpPr>
          <p:cNvPr id="126" name="Action plan">
            <a:extLst>
              <a:ext uri="{FF2B5EF4-FFF2-40B4-BE49-F238E27FC236}">
                <a16:creationId xmlns:a16="http://schemas.microsoft.com/office/drawing/2014/main" id="{25E2875E-E504-D46E-1AB9-203563B2F944}"/>
              </a:ext>
            </a:extLst>
          </p:cNvPr>
          <p:cNvGrpSpPr/>
          <p:nvPr/>
        </p:nvGrpSpPr>
        <p:grpSpPr>
          <a:xfrm>
            <a:off x="3351376" y="1544462"/>
            <a:ext cx="5408084" cy="2036066"/>
            <a:chOff x="4468501" y="2059283"/>
            <a:chExt cx="7210779" cy="2714754"/>
          </a:xfrm>
        </p:grpSpPr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8823323F-7779-34F9-F59E-9B36DD8ECC5F}"/>
                </a:ext>
              </a:extLst>
            </p:cNvPr>
            <p:cNvGrpSpPr/>
            <p:nvPr/>
          </p:nvGrpSpPr>
          <p:grpSpPr>
            <a:xfrm>
              <a:off x="6744068" y="2628466"/>
              <a:ext cx="4935212" cy="1565254"/>
              <a:chOff x="4119382" y="4304492"/>
              <a:chExt cx="4935212" cy="1565254"/>
            </a:xfrm>
          </p:grpSpPr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4DCC171C-1CBF-7071-30CD-08ED924D6119}"/>
                  </a:ext>
                </a:extLst>
              </p:cNvPr>
              <p:cNvCxnSpPr>
                <a:cxnSpLocks/>
                <a:endCxn id="133" idx="1"/>
              </p:cNvCxnSpPr>
              <p:nvPr/>
            </p:nvCxnSpPr>
            <p:spPr>
              <a:xfrm>
                <a:off x="4119382" y="5085904"/>
                <a:ext cx="370586" cy="1215"/>
              </a:xfrm>
              <a:prstGeom prst="line">
                <a:avLst/>
              </a:prstGeom>
              <a:noFill/>
              <a:ln w="19050" cap="flat" cmpd="sng" algn="ctr">
                <a:solidFill>
                  <a:schemeClr val="bg1"/>
                </a:solidFill>
                <a:prstDash val="solid"/>
                <a:miter lim="800000"/>
                <a:headEnd type="oval" w="med" len="med"/>
                <a:tailEnd type="oval" w="med" len="med"/>
              </a:ln>
              <a:effectLst/>
            </p:spPr>
          </p:cxnSp>
          <p:sp>
            <p:nvSpPr>
              <p:cNvPr id="133" name="Rounded Rectangle 132">
                <a:extLst>
                  <a:ext uri="{FF2B5EF4-FFF2-40B4-BE49-F238E27FC236}">
                    <a16:creationId xmlns:a16="http://schemas.microsoft.com/office/drawing/2014/main" id="{E6E96B5D-E863-1EA7-CCBC-C2BE18E2603F}"/>
                  </a:ext>
                </a:extLst>
              </p:cNvPr>
              <p:cNvSpPr/>
              <p:nvPr/>
            </p:nvSpPr>
            <p:spPr>
              <a:xfrm>
                <a:off x="4489968" y="4304492"/>
                <a:ext cx="4564626" cy="1565254"/>
              </a:xfrm>
              <a:prstGeom prst="roundRect">
                <a:avLst>
                  <a:gd name="adj" fmla="val 0"/>
                </a:avLst>
              </a:prstGeom>
              <a:solidFill>
                <a:srgbClr val="E8E8E8">
                  <a:lumMod val="75000"/>
                </a:srgbClr>
              </a:solidFill>
              <a:ln w="19050" cap="flat" cmpd="sng" algn="ctr">
                <a:solidFill>
                  <a:sysClr val="windowText" lastClr="000000">
                    <a:shade val="1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defTabSz="685800">
                  <a:buClrTx/>
                  <a:defRPr/>
                </a:pPr>
                <a:r>
                  <a:rPr lang="en-US" sz="1350" dirty="0">
                    <a:solidFill>
                      <a:prstClr val="white"/>
                    </a:solidFill>
                    <a:latin typeface="Aptos" panose="02110004020202020204"/>
                    <a:ea typeface="+mn-ea"/>
                    <a:cs typeface="+mn-cs"/>
                  </a:rPr>
                  <a:t>Next Step:</a:t>
                </a:r>
              </a:p>
              <a:p>
                <a:pPr marL="257175" indent="-257175" defTabSz="685800">
                  <a:buClrTx/>
                  <a:buFont typeface="+mj-lt"/>
                  <a:buAutoNum type="arabicPeriod"/>
                  <a:defRPr/>
                </a:pPr>
                <a:r>
                  <a:rPr lang="en-US" sz="1350" dirty="0">
                    <a:solidFill>
                      <a:prstClr val="white"/>
                    </a:solidFill>
                    <a:latin typeface="Aptos" panose="02110004020202020204"/>
                    <a:ea typeface="+mn-ea"/>
                    <a:cs typeface="+mn-cs"/>
                  </a:rPr>
                  <a:t>Use </a:t>
                </a:r>
                <a:r>
                  <a:rPr lang="en-US" sz="1350" dirty="0">
                    <a:solidFill>
                      <a:srgbClr val="E97132">
                        <a:lumMod val="20000"/>
                        <a:lumOff val="80000"/>
                      </a:srgbClr>
                    </a:solidFill>
                    <a:latin typeface="Aptos" panose="02110004020202020204"/>
                    <a:ea typeface="+mn-ea"/>
                    <a:cs typeface="+mn-cs"/>
                  </a:rPr>
                  <a:t>Tool: Search Engine  </a:t>
                </a:r>
                <a:r>
                  <a:rPr lang="en-US" sz="1350" dirty="0">
                    <a:solidFill>
                      <a:prstClr val="white"/>
                    </a:solidFill>
                    <a:latin typeface="Aptos" panose="02110004020202020204"/>
                    <a:ea typeface="+mn-ea"/>
                    <a:cs typeface="+mn-cs"/>
                  </a:rPr>
                  <a:t>to find information Keck Observatory location</a:t>
                </a:r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52D9C09F-9995-EB08-14CF-67E6727AB746}"/>
                </a:ext>
              </a:extLst>
            </p:cNvPr>
            <p:cNvGrpSpPr/>
            <p:nvPr/>
          </p:nvGrpSpPr>
          <p:grpSpPr>
            <a:xfrm>
              <a:off x="4468501" y="2059283"/>
              <a:ext cx="2275567" cy="2714754"/>
              <a:chOff x="4468501" y="2059283"/>
              <a:chExt cx="2275567" cy="2714754"/>
            </a:xfrm>
          </p:grpSpPr>
          <p:cxnSp>
            <p:nvCxnSpPr>
              <p:cNvPr id="129" name="Straight Arrow Connector 128">
                <a:extLst>
                  <a:ext uri="{FF2B5EF4-FFF2-40B4-BE49-F238E27FC236}">
                    <a16:creationId xmlns:a16="http://schemas.microsoft.com/office/drawing/2014/main" id="{AFB95E21-29E7-B57C-5A02-B44B616882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68501" y="4751325"/>
                <a:ext cx="2275567" cy="0"/>
              </a:xfrm>
              <a:prstGeom prst="straightConnector1">
                <a:avLst/>
              </a:prstGeom>
              <a:noFill/>
              <a:ln w="41275" cap="flat" cmpd="sng" algn="ctr">
                <a:solidFill>
                  <a:schemeClr val="bg1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8EA4E7A4-F649-3326-1686-4A783AF765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31510" y="2059283"/>
                <a:ext cx="0" cy="2714754"/>
              </a:xfrm>
              <a:prstGeom prst="straightConnector1">
                <a:avLst/>
              </a:prstGeom>
              <a:noFill/>
              <a:ln w="41275" cap="flat" cmpd="sng" algn="ctr">
                <a:solidFill>
                  <a:schemeClr val="bg1"/>
                </a:solidFill>
                <a:prstDash val="solid"/>
                <a:miter lim="800000"/>
                <a:tailEnd type="none"/>
              </a:ln>
              <a:effectLst/>
            </p:spPr>
          </p:cxnSp>
          <p:cxnSp>
            <p:nvCxnSpPr>
              <p:cNvPr id="131" name="Straight Arrow Connector 130">
                <a:extLst>
                  <a:ext uri="{FF2B5EF4-FFF2-40B4-BE49-F238E27FC236}">
                    <a16:creationId xmlns:a16="http://schemas.microsoft.com/office/drawing/2014/main" id="{CCA117F5-601F-8842-5F94-FBE1FE1379B8}"/>
                  </a:ext>
                </a:extLst>
              </p:cNvPr>
              <p:cNvCxnSpPr>
                <a:cxnSpLocks/>
                <a:endCxn id="91" idx="3"/>
              </p:cNvCxnSpPr>
              <p:nvPr/>
            </p:nvCxnSpPr>
            <p:spPr>
              <a:xfrm flipH="1">
                <a:off x="6095089" y="2067832"/>
                <a:ext cx="648979" cy="16132"/>
              </a:xfrm>
              <a:prstGeom prst="straightConnector1">
                <a:avLst/>
              </a:prstGeom>
              <a:noFill/>
              <a:ln w="41275" cap="flat" cmpd="sng" algn="ctr">
                <a:solidFill>
                  <a:schemeClr val="bg1"/>
                </a:solidFill>
                <a:prstDash val="solid"/>
                <a:miter lim="800000"/>
                <a:tailEnd type="none"/>
              </a:ln>
              <a:effectLst/>
            </p:spPr>
          </p:cxnSp>
        </p:grp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B1D3B25C-F34C-1E78-D9F2-3B68BAE10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159" y="169693"/>
            <a:ext cx="8245830" cy="1130300"/>
          </a:xfrm>
        </p:spPr>
        <p:txBody>
          <a:bodyPr/>
          <a:lstStyle/>
          <a:p>
            <a:r>
              <a:rPr lang="en-US" dirty="0"/>
              <a:t>LLM agent – </a:t>
            </a:r>
            <a:r>
              <a:rPr lang="en-US" dirty="0" err="1">
                <a:solidFill>
                  <a:schemeClr val="tx2"/>
                </a:solidFill>
              </a:rPr>
              <a:t>ReAct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/>
              <a:t>and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tool use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e</a:t>
            </a:r>
            <a:r>
              <a:rPr lang="en-US" dirty="0"/>
              <a:t>xample</a:t>
            </a:r>
          </a:p>
        </p:txBody>
      </p:sp>
    </p:spTree>
    <p:extLst>
      <p:ext uri="{BB962C8B-B14F-4D97-AF65-F5344CB8AC3E}">
        <p14:creationId xmlns:p14="http://schemas.microsoft.com/office/powerpoint/2010/main" val="2124754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2A06B-AC59-3146-105D-4FDD5F12B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5C7B3-5699-1808-964D-60789F4C2D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685800"/>
            <a:fld id="{00000000-1234-1234-1234-123412341234}" type="slidenum">
              <a:rPr lang="en-US" kern="1200">
                <a:solidFill>
                  <a:srgbClr val="FFFFFF"/>
                </a:solidFill>
              </a:rPr>
              <a:pPr defTabSz="685800"/>
              <a:t>19</a:t>
            </a:fld>
            <a:endParaRPr lang="en-US" kern="1200" dirty="0">
              <a:solidFill>
                <a:srgbClr val="FFFFFF"/>
              </a:solidFill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5735438-F471-C7EE-1D69-5827B4494DF1}"/>
              </a:ext>
            </a:extLst>
          </p:cNvPr>
          <p:cNvSpPr/>
          <p:nvPr/>
        </p:nvSpPr>
        <p:spPr>
          <a:xfrm>
            <a:off x="3341607" y="1196425"/>
            <a:ext cx="1229710" cy="733097"/>
          </a:xfrm>
          <a:prstGeom prst="roundRect">
            <a:avLst/>
          </a:prstGeom>
          <a:solidFill>
            <a:srgbClr val="0F9ED5"/>
          </a:solidFill>
          <a:ln w="19050" cap="flat" cmpd="sng" algn="ctr">
            <a:solidFill>
              <a:srgbClr val="0F9E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LLM Brain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5E44E141-FB6D-8590-D475-BFE2546864AB}"/>
              </a:ext>
            </a:extLst>
          </p:cNvPr>
          <p:cNvSpPr/>
          <p:nvPr/>
        </p:nvSpPr>
        <p:spPr>
          <a:xfrm>
            <a:off x="684591" y="1399688"/>
            <a:ext cx="768568" cy="360636"/>
          </a:xfrm>
          <a:prstGeom prst="roundRect">
            <a:avLst/>
          </a:prstGeom>
          <a:solidFill>
            <a:srgbClr val="A02B93"/>
          </a:solidFill>
          <a:ln w="19050" cap="flat" cmpd="sng" algn="ctr">
            <a:solidFill>
              <a:srgbClr val="A02B93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Goal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34B88DEC-FC4B-3DEC-FBF2-369C9FE78D24}"/>
              </a:ext>
            </a:extLst>
          </p:cNvPr>
          <p:cNvSpPr/>
          <p:nvPr/>
        </p:nvSpPr>
        <p:spPr>
          <a:xfrm>
            <a:off x="2133901" y="3216164"/>
            <a:ext cx="1229710" cy="733097"/>
          </a:xfrm>
          <a:prstGeom prst="roundRect">
            <a:avLst/>
          </a:prstGeom>
          <a:solidFill>
            <a:srgbClr val="4EA72E"/>
          </a:solidFill>
          <a:ln w="19050" cap="flat" cmpd="sng" algn="ctr">
            <a:solidFill>
              <a:srgbClr val="4EA72E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Memories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16803AC2-D5E1-9341-2D87-A7F638AA3262}"/>
              </a:ext>
            </a:extLst>
          </p:cNvPr>
          <p:cNvSpPr/>
          <p:nvPr/>
        </p:nvSpPr>
        <p:spPr>
          <a:xfrm>
            <a:off x="2664727" y="2286703"/>
            <a:ext cx="863162" cy="496613"/>
          </a:xfrm>
          <a:prstGeom prst="roundRect">
            <a:avLst/>
          </a:prstGeom>
          <a:gradFill rotWithShape="1">
            <a:gsLst>
              <a:gs pos="0">
                <a:srgbClr val="4EA72E">
                  <a:satMod val="103000"/>
                  <a:lumMod val="102000"/>
                  <a:tint val="94000"/>
                </a:srgbClr>
              </a:gs>
              <a:gs pos="50000">
                <a:srgbClr val="4EA72E">
                  <a:satMod val="110000"/>
                  <a:lumMod val="100000"/>
                  <a:shade val="100000"/>
                </a:srgbClr>
              </a:gs>
              <a:gs pos="100000">
                <a:srgbClr val="4EA72E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1270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20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Relevant Memory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E8A78F08-71E6-839E-192D-50348ED9EF6A}"/>
              </a:ext>
            </a:extLst>
          </p:cNvPr>
          <p:cNvCxnSpPr>
            <a:cxnSpLocks/>
            <a:endCxn id="91" idx="1"/>
          </p:cNvCxnSpPr>
          <p:nvPr/>
        </p:nvCxnSpPr>
        <p:spPr>
          <a:xfrm flipV="1">
            <a:off x="1496743" y="1562973"/>
            <a:ext cx="1844864" cy="17033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3268CE7-EAD6-E5FF-19C1-0F169AF26C21}"/>
              </a:ext>
            </a:extLst>
          </p:cNvPr>
          <p:cNvCxnSpPr>
            <a:cxnSpLocks/>
          </p:cNvCxnSpPr>
          <p:nvPr/>
        </p:nvCxnSpPr>
        <p:spPr>
          <a:xfrm>
            <a:off x="2406647" y="1580006"/>
            <a:ext cx="0" cy="150609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4B53AABE-4961-7CA2-6975-E3C75284FA1E}"/>
              </a:ext>
            </a:extLst>
          </p:cNvPr>
          <p:cNvCxnSpPr>
            <a:cxnSpLocks/>
          </p:cNvCxnSpPr>
          <p:nvPr/>
        </p:nvCxnSpPr>
        <p:spPr>
          <a:xfrm flipV="1">
            <a:off x="3086889" y="2820057"/>
            <a:ext cx="0" cy="312467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85CE6D6-E75E-4953-B9E9-DC7C1E750745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207968" cy="0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EA466529-B189-AC80-879C-71F8B33D768A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9419" cy="46391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none"/>
          </a:ln>
          <a:effectLst/>
        </p:spPr>
      </p:cxnSp>
      <p:grpSp>
        <p:nvGrpSpPr>
          <p:cNvPr id="116" name="Generate Action plan">
            <a:extLst>
              <a:ext uri="{FF2B5EF4-FFF2-40B4-BE49-F238E27FC236}">
                <a16:creationId xmlns:a16="http://schemas.microsoft.com/office/drawing/2014/main" id="{1F70C301-405C-9994-0ED0-361261C00A6F}"/>
              </a:ext>
            </a:extLst>
          </p:cNvPr>
          <p:cNvGrpSpPr/>
          <p:nvPr/>
        </p:nvGrpSpPr>
        <p:grpSpPr>
          <a:xfrm>
            <a:off x="3729202" y="1944979"/>
            <a:ext cx="3224327" cy="1839665"/>
            <a:chOff x="3125731" y="4239672"/>
            <a:chExt cx="4299102" cy="2452886"/>
          </a:xfrm>
        </p:grpSpPr>
        <p:sp>
          <p:nvSpPr>
            <p:cNvPr id="117" name="Rounded Rectangle 116">
              <a:extLst>
                <a:ext uri="{FF2B5EF4-FFF2-40B4-BE49-F238E27FC236}">
                  <a16:creationId xmlns:a16="http://schemas.microsoft.com/office/drawing/2014/main" id="{D28D3EBC-489E-AA9D-5B6A-3B2192F92DEE}"/>
                </a:ext>
              </a:extLst>
            </p:cNvPr>
            <p:cNvSpPr/>
            <p:nvPr/>
          </p:nvSpPr>
          <p:spPr>
            <a:xfrm>
              <a:off x="3125731" y="4858790"/>
              <a:ext cx="4299102" cy="1833768"/>
            </a:xfrm>
            <a:prstGeom prst="roundRect">
              <a:avLst>
                <a:gd name="adj" fmla="val 0"/>
              </a:avLst>
            </a:prstGeom>
            <a:solidFill>
              <a:srgbClr val="0F9ED5">
                <a:lumMod val="20000"/>
                <a:lumOff val="80000"/>
              </a:srgbClr>
            </a:solidFill>
            <a:ln w="19050" cap="flat" cmpd="sng" algn="ctr">
              <a:solidFill>
                <a:srgbClr val="A02B93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defTabSz="685800">
                <a:buClrTx/>
                <a:defRPr/>
              </a:pPr>
              <a:r>
                <a:rPr lang="en-US" sz="1350" b="1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LLM prompt:</a:t>
              </a: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Your goal is: </a:t>
              </a:r>
              <a:r>
                <a:rPr lang="en-US" sz="1350" dirty="0">
                  <a:solidFill>
                    <a:srgbClr val="A02B93"/>
                  </a:solidFill>
                  <a:latin typeface="Aptos" panose="02110004020202020204"/>
                  <a:ea typeface="+mn-ea"/>
                  <a:cs typeface="+mn-cs"/>
                </a:rPr>
                <a:t>{goal}</a:t>
              </a:r>
            </a:p>
            <a:p>
              <a:pPr defTabSz="685800">
                <a:buClrTx/>
                <a:defRPr/>
              </a:pPr>
              <a:endParaRPr lang="en-US" sz="135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Relevant memories: </a:t>
              </a:r>
              <a:r>
                <a:rPr lang="en-US" sz="1350" dirty="0">
                  <a:solidFill>
                    <a:srgbClr val="4EA72E"/>
                  </a:solidFill>
                  <a:latin typeface="Aptos" panose="02110004020202020204"/>
                  <a:ea typeface="+mn-ea"/>
                  <a:cs typeface="+mn-cs"/>
                </a:rPr>
                <a:t>{memories}</a:t>
              </a:r>
            </a:p>
            <a:p>
              <a:pPr defTabSz="685800">
                <a:buClrTx/>
                <a:defRPr/>
              </a:pPr>
              <a:endParaRPr lang="en-US" sz="135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Break up your goal into smaller subgoals</a:t>
              </a:r>
            </a:p>
          </p:txBody>
        </p: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0BFB5067-F330-1728-1A9D-CF9920FB2E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8046" y="4239672"/>
              <a:ext cx="1" cy="619118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solid"/>
              <a:miter lim="800000"/>
              <a:headEnd type="oval" w="med" len="med"/>
              <a:tailEnd type="oval" w="med" len="med"/>
            </a:ln>
            <a:effectLst/>
          </p:spPr>
        </p:cxnSp>
      </p:grpSp>
      <p:grpSp>
        <p:nvGrpSpPr>
          <p:cNvPr id="119" name="Prompt with action plan">
            <a:extLst>
              <a:ext uri="{FF2B5EF4-FFF2-40B4-BE49-F238E27FC236}">
                <a16:creationId xmlns:a16="http://schemas.microsoft.com/office/drawing/2014/main" id="{967934BF-E8F0-2C2C-BB7D-0A7DD51D100E}"/>
              </a:ext>
            </a:extLst>
          </p:cNvPr>
          <p:cNvGrpSpPr/>
          <p:nvPr/>
        </p:nvGrpSpPr>
        <p:grpSpPr>
          <a:xfrm>
            <a:off x="3729202" y="1937890"/>
            <a:ext cx="3224327" cy="2142377"/>
            <a:chOff x="3125731" y="4239672"/>
            <a:chExt cx="4299102" cy="2856502"/>
          </a:xfrm>
        </p:grpSpPr>
        <p:sp>
          <p:nvSpPr>
            <p:cNvPr id="120" name="Rounded Rectangle 119">
              <a:extLst>
                <a:ext uri="{FF2B5EF4-FFF2-40B4-BE49-F238E27FC236}">
                  <a16:creationId xmlns:a16="http://schemas.microsoft.com/office/drawing/2014/main" id="{F7B33B28-77A1-8470-2512-F844E8DEBFF3}"/>
                </a:ext>
              </a:extLst>
            </p:cNvPr>
            <p:cNvSpPr/>
            <p:nvPr/>
          </p:nvSpPr>
          <p:spPr>
            <a:xfrm>
              <a:off x="3125731" y="4858789"/>
              <a:ext cx="4299102" cy="2237385"/>
            </a:xfrm>
            <a:prstGeom prst="roundRect">
              <a:avLst>
                <a:gd name="adj" fmla="val 0"/>
              </a:avLst>
            </a:prstGeom>
            <a:solidFill>
              <a:srgbClr val="0F9ED5">
                <a:lumMod val="20000"/>
                <a:lumOff val="80000"/>
              </a:srgbClr>
            </a:solidFill>
            <a:ln w="19050" cap="flat" cmpd="sng" algn="ctr">
              <a:solidFill>
                <a:srgbClr val="A02B93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defTabSz="685800">
                <a:buClrTx/>
                <a:defRPr/>
              </a:pPr>
              <a:r>
                <a:rPr lang="en-US" sz="1350" b="1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LLM prompt:</a:t>
              </a: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Your goal is: </a:t>
              </a:r>
              <a:r>
                <a:rPr lang="en-US" sz="1350" dirty="0">
                  <a:solidFill>
                    <a:srgbClr val="A02B93"/>
                  </a:solidFill>
                  <a:latin typeface="Aptos" panose="02110004020202020204"/>
                  <a:ea typeface="+mn-ea"/>
                  <a:cs typeface="+mn-cs"/>
                </a:rPr>
                <a:t>{goal}</a:t>
              </a:r>
            </a:p>
            <a:p>
              <a:pPr defTabSz="685800">
                <a:buClrTx/>
                <a:defRPr/>
              </a:pPr>
              <a:endParaRPr lang="en-US" sz="135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Relevant memories: </a:t>
              </a:r>
              <a:r>
                <a:rPr lang="en-US" sz="1350" dirty="0">
                  <a:solidFill>
                    <a:srgbClr val="4EA72E"/>
                  </a:solidFill>
                  <a:latin typeface="Aptos" panose="02110004020202020204"/>
                  <a:ea typeface="+mn-ea"/>
                  <a:cs typeface="+mn-cs"/>
                </a:rPr>
                <a:t>{memories}</a:t>
              </a:r>
            </a:p>
            <a:p>
              <a:pPr defTabSz="685800">
                <a:buClrTx/>
                <a:defRPr/>
              </a:pPr>
              <a:endParaRPr lang="en-US" sz="1350" dirty="0">
                <a:solidFill>
                  <a:srgbClr val="4EA72E"/>
                </a:solidFill>
                <a:latin typeface="Aptos" panose="02110004020202020204"/>
                <a:ea typeface="+mn-ea"/>
                <a:cs typeface="+mn-cs"/>
              </a:endParaRP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Next step: </a:t>
              </a:r>
              <a:r>
                <a:rPr lang="en-US" sz="1350" dirty="0">
                  <a:solidFill>
                    <a:prstClr val="white">
                      <a:lumMod val="50000"/>
                    </a:prstClr>
                  </a:solidFill>
                  <a:latin typeface="Aptos" panose="02110004020202020204"/>
                  <a:ea typeface="+mn-ea"/>
                  <a:cs typeface="+mn-cs"/>
                </a:rPr>
                <a:t>{Next tool call}</a:t>
              </a:r>
            </a:p>
            <a:p>
              <a:pPr defTabSz="685800">
                <a:buClrTx/>
                <a:defRPr/>
              </a:pPr>
              <a:endParaRPr lang="en-US" sz="1350" dirty="0">
                <a:solidFill>
                  <a:prstClr val="white">
                    <a:lumMod val="50000"/>
                  </a:prstClr>
                </a:solidFill>
                <a:latin typeface="Aptos" panose="02110004020202020204"/>
                <a:ea typeface="+mn-ea"/>
                <a:cs typeface="+mn-cs"/>
              </a:endParaRP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Perform requested tool call.</a:t>
              </a:r>
            </a:p>
          </p:txBody>
        </p: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485AD37E-D152-D0C2-36C8-53035DB44DD9}"/>
                </a:ext>
              </a:extLst>
            </p:cNvPr>
            <p:cNvCxnSpPr>
              <a:cxnSpLocks/>
              <a:stCxn id="91" idx="2"/>
            </p:cNvCxnSpPr>
            <p:nvPr/>
          </p:nvCxnSpPr>
          <p:spPr>
            <a:xfrm flipH="1">
              <a:off x="3598046" y="4239672"/>
              <a:ext cx="1" cy="619118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solid"/>
              <a:miter lim="800000"/>
              <a:headEnd type="oval" w="med" len="med"/>
              <a:tailEnd type="oval" w="med" len="med"/>
            </a:ln>
            <a:effectLst/>
          </p:spPr>
        </p:cxn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CBE91593-89D3-D67D-5063-069B6B892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63D74D1-738A-2C7C-D30A-5288FD667725}"/>
              </a:ext>
            </a:extLst>
          </p:cNvPr>
          <p:cNvSpPr txBox="1">
            <a:spLocks/>
          </p:cNvSpPr>
          <p:nvPr/>
        </p:nvSpPr>
        <p:spPr>
          <a:xfrm>
            <a:off x="665559" y="322093"/>
            <a:ext cx="824583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  <a:defRPr sz="27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LLM agent – </a:t>
            </a:r>
            <a:r>
              <a:rPr lang="en-US">
                <a:solidFill>
                  <a:schemeClr val="tx2"/>
                </a:solidFill>
              </a:rPr>
              <a:t>ReAct </a:t>
            </a:r>
            <a:r>
              <a:rPr lang="en-US"/>
              <a:t>and </a:t>
            </a:r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tool use</a:t>
            </a:r>
            <a:r>
              <a:rPr lang="en-US">
                <a:solidFill>
                  <a:schemeClr val="accent5">
                    <a:lumMod val="20000"/>
                    <a:lumOff val="80000"/>
                  </a:schemeClr>
                </a:solidFill>
              </a:rPr>
              <a:t> e</a:t>
            </a:r>
            <a:r>
              <a:rPr lang="en-US"/>
              <a:t>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499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62C82-1756-3186-C0EB-B8B2FDDBF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D0D7D-E5FE-C367-9DD7-135FD37D50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685800"/>
            <a:fld id="{00000000-1234-1234-1234-123412341234}" type="slidenum">
              <a:rPr lang="en-US" kern="1200">
                <a:solidFill>
                  <a:srgbClr val="FFFFFF"/>
                </a:solidFill>
              </a:rPr>
              <a:pPr defTabSz="685800"/>
              <a:t>20</a:t>
            </a:fld>
            <a:endParaRPr lang="en-US" kern="1200" dirty="0">
              <a:solidFill>
                <a:srgbClr val="FFFFFF"/>
              </a:solidFill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083B2FAD-3C95-EB3F-18BD-E86989ABAD1B}"/>
              </a:ext>
            </a:extLst>
          </p:cNvPr>
          <p:cNvSpPr/>
          <p:nvPr/>
        </p:nvSpPr>
        <p:spPr>
          <a:xfrm>
            <a:off x="3341607" y="1196425"/>
            <a:ext cx="1229710" cy="733097"/>
          </a:xfrm>
          <a:prstGeom prst="roundRect">
            <a:avLst/>
          </a:prstGeom>
          <a:solidFill>
            <a:srgbClr val="0F9ED5"/>
          </a:solidFill>
          <a:ln w="19050" cap="flat" cmpd="sng" algn="ctr">
            <a:solidFill>
              <a:srgbClr val="0F9E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LLM Brain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A84AE753-4492-3010-8769-57B552517181}"/>
              </a:ext>
            </a:extLst>
          </p:cNvPr>
          <p:cNvSpPr/>
          <p:nvPr/>
        </p:nvSpPr>
        <p:spPr>
          <a:xfrm>
            <a:off x="684591" y="1399688"/>
            <a:ext cx="768568" cy="360636"/>
          </a:xfrm>
          <a:prstGeom prst="roundRect">
            <a:avLst/>
          </a:prstGeom>
          <a:solidFill>
            <a:srgbClr val="A02B93"/>
          </a:solidFill>
          <a:ln w="19050" cap="flat" cmpd="sng" algn="ctr">
            <a:solidFill>
              <a:srgbClr val="A02B93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Goal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201E64FE-80F0-1817-4D20-94775988B3A4}"/>
              </a:ext>
            </a:extLst>
          </p:cNvPr>
          <p:cNvSpPr/>
          <p:nvPr/>
        </p:nvSpPr>
        <p:spPr>
          <a:xfrm>
            <a:off x="2133901" y="3216164"/>
            <a:ext cx="1229710" cy="733097"/>
          </a:xfrm>
          <a:prstGeom prst="roundRect">
            <a:avLst/>
          </a:prstGeom>
          <a:solidFill>
            <a:srgbClr val="4EA72E"/>
          </a:solidFill>
          <a:ln w="19050" cap="flat" cmpd="sng" algn="ctr">
            <a:solidFill>
              <a:srgbClr val="4EA72E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Memories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1D65B4EF-3D51-491A-E4C5-AD3D63A2579E}"/>
              </a:ext>
            </a:extLst>
          </p:cNvPr>
          <p:cNvSpPr/>
          <p:nvPr/>
        </p:nvSpPr>
        <p:spPr>
          <a:xfrm>
            <a:off x="2664727" y="2286703"/>
            <a:ext cx="863162" cy="496613"/>
          </a:xfrm>
          <a:prstGeom prst="roundRect">
            <a:avLst/>
          </a:prstGeom>
          <a:gradFill rotWithShape="1">
            <a:gsLst>
              <a:gs pos="0">
                <a:srgbClr val="4EA72E">
                  <a:satMod val="103000"/>
                  <a:lumMod val="102000"/>
                  <a:tint val="94000"/>
                </a:srgbClr>
              </a:gs>
              <a:gs pos="50000">
                <a:srgbClr val="4EA72E">
                  <a:satMod val="110000"/>
                  <a:lumMod val="100000"/>
                  <a:shade val="100000"/>
                </a:srgbClr>
              </a:gs>
              <a:gs pos="100000">
                <a:srgbClr val="4EA72E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1270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20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Relevant Memory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10B925F-4DEC-E64C-2E83-4CD25F8EE785}"/>
              </a:ext>
            </a:extLst>
          </p:cNvPr>
          <p:cNvCxnSpPr>
            <a:cxnSpLocks/>
            <a:endCxn id="91" idx="1"/>
          </p:cNvCxnSpPr>
          <p:nvPr/>
        </p:nvCxnSpPr>
        <p:spPr>
          <a:xfrm flipV="1">
            <a:off x="1496743" y="1562973"/>
            <a:ext cx="1844864" cy="17033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2BDE1485-8D5F-7734-8417-02DBFE57005C}"/>
              </a:ext>
            </a:extLst>
          </p:cNvPr>
          <p:cNvCxnSpPr>
            <a:cxnSpLocks/>
          </p:cNvCxnSpPr>
          <p:nvPr/>
        </p:nvCxnSpPr>
        <p:spPr>
          <a:xfrm>
            <a:off x="2406647" y="1580006"/>
            <a:ext cx="0" cy="150609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0CB831B7-7DC0-B514-B28E-7AE66F05EE5A}"/>
              </a:ext>
            </a:extLst>
          </p:cNvPr>
          <p:cNvCxnSpPr>
            <a:cxnSpLocks/>
          </p:cNvCxnSpPr>
          <p:nvPr/>
        </p:nvCxnSpPr>
        <p:spPr>
          <a:xfrm flipV="1">
            <a:off x="3086889" y="2820057"/>
            <a:ext cx="0" cy="312467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52C9C53-1BEF-1279-4296-AE8F0D45AB08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207968" cy="0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1F6795C1-C988-0BD5-369C-FCCD379D27E9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9419" cy="46391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none"/>
          </a:ln>
          <a:effectLst/>
        </p:spPr>
      </p:cxnSp>
      <p:grpSp>
        <p:nvGrpSpPr>
          <p:cNvPr id="106" name="Tool">
            <a:extLst>
              <a:ext uri="{FF2B5EF4-FFF2-40B4-BE49-F238E27FC236}">
                <a16:creationId xmlns:a16="http://schemas.microsoft.com/office/drawing/2014/main" id="{6F088864-D341-66DD-3BF5-5174AC445E82}"/>
              </a:ext>
            </a:extLst>
          </p:cNvPr>
          <p:cNvGrpSpPr/>
          <p:nvPr/>
        </p:nvGrpSpPr>
        <p:grpSpPr>
          <a:xfrm>
            <a:off x="3363611" y="1147621"/>
            <a:ext cx="4142236" cy="2438136"/>
            <a:chOff x="4484814" y="1530161"/>
            <a:chExt cx="5522981" cy="3250848"/>
          </a:xfrm>
        </p:grpSpPr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A2F95441-1E6B-26A6-A71B-2F903282C249}"/>
                </a:ext>
              </a:extLst>
            </p:cNvPr>
            <p:cNvCxnSpPr>
              <a:cxnSpLocks/>
              <a:endCxn id="93" idx="3"/>
            </p:cNvCxnSpPr>
            <p:nvPr/>
          </p:nvCxnSpPr>
          <p:spPr>
            <a:xfrm flipH="1" flipV="1">
              <a:off x="4484814" y="4776950"/>
              <a:ext cx="5508940" cy="4059"/>
            </a:xfrm>
            <a:prstGeom prst="straightConnector1">
              <a:avLst/>
            </a:prstGeom>
            <a:noFill/>
            <a:ln w="41275" cap="flat" cmpd="sng" algn="ctr">
              <a:solidFill>
                <a:schemeClr val="bg1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D43483A8-835F-77CA-E078-EAD3AE2B79AD}"/>
                </a:ext>
              </a:extLst>
            </p:cNvPr>
            <p:cNvCxnSpPr>
              <a:cxnSpLocks/>
            </p:cNvCxnSpPr>
            <p:nvPr/>
          </p:nvCxnSpPr>
          <p:spPr>
            <a:xfrm>
              <a:off x="10007795" y="2017843"/>
              <a:ext cx="0" cy="2763166"/>
            </a:xfrm>
            <a:prstGeom prst="straightConnector1">
              <a:avLst/>
            </a:prstGeom>
            <a:noFill/>
            <a:ln w="41275" cap="flat" cmpd="sng" algn="ctr">
              <a:solidFill>
                <a:schemeClr val="bg1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BB091BE0-C5DC-8FAE-91F2-430A9404DEC0}"/>
                </a:ext>
              </a:extLst>
            </p:cNvPr>
            <p:cNvCxnSpPr>
              <a:cxnSpLocks/>
              <a:endCxn id="111" idx="3"/>
            </p:cNvCxnSpPr>
            <p:nvPr/>
          </p:nvCxnSpPr>
          <p:spPr>
            <a:xfrm flipH="1">
              <a:off x="9134148" y="2017843"/>
              <a:ext cx="873647" cy="1049"/>
            </a:xfrm>
            <a:prstGeom prst="straightConnector1">
              <a:avLst/>
            </a:prstGeom>
            <a:noFill/>
            <a:ln w="41275" cap="flat" cmpd="sng" algn="ctr">
              <a:solidFill>
                <a:schemeClr val="bg1"/>
              </a:solidFill>
              <a:prstDash val="solid"/>
              <a:miter lim="800000"/>
              <a:tailEnd type="none"/>
            </a:ln>
            <a:effectLst/>
          </p:spPr>
        </p:cxnSp>
        <p:grpSp>
          <p:nvGrpSpPr>
            <p:cNvPr id="110" name="asdasd">
              <a:extLst>
                <a:ext uri="{FF2B5EF4-FFF2-40B4-BE49-F238E27FC236}">
                  <a16:creationId xmlns:a16="http://schemas.microsoft.com/office/drawing/2014/main" id="{B319E45E-508C-9B5B-EF65-FA75E62A8734}"/>
                </a:ext>
              </a:extLst>
            </p:cNvPr>
            <p:cNvGrpSpPr/>
            <p:nvPr/>
          </p:nvGrpSpPr>
          <p:grpSpPr>
            <a:xfrm>
              <a:off x="6095089" y="1530161"/>
              <a:ext cx="3039059" cy="977462"/>
              <a:chOff x="6095089" y="1530161"/>
              <a:chExt cx="3039059" cy="977462"/>
            </a:xfrm>
          </p:grpSpPr>
          <p:sp>
            <p:nvSpPr>
              <p:cNvPr id="111" name="Rounded Rectangle 110">
                <a:extLst>
                  <a:ext uri="{FF2B5EF4-FFF2-40B4-BE49-F238E27FC236}">
                    <a16:creationId xmlns:a16="http://schemas.microsoft.com/office/drawing/2014/main" id="{509A39D3-10A8-7D15-A158-22F0D149F605}"/>
                  </a:ext>
                </a:extLst>
              </p:cNvPr>
              <p:cNvSpPr/>
              <p:nvPr/>
            </p:nvSpPr>
            <p:spPr>
              <a:xfrm>
                <a:off x="7494535" y="1530161"/>
                <a:ext cx="1639613" cy="977462"/>
              </a:xfrm>
              <a:prstGeom prst="roundRect">
                <a:avLst/>
              </a:prstGeom>
              <a:solidFill>
                <a:srgbClr val="E97132"/>
              </a:solidFill>
              <a:ln w="19050" cap="flat" cmpd="sng" algn="ctr">
                <a:solidFill>
                  <a:srgbClr val="E97132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r>
                  <a:rPr lang="en-US" sz="1350" dirty="0">
                    <a:solidFill>
                      <a:prstClr val="white"/>
                    </a:solidFill>
                    <a:latin typeface="Aptos" panose="02110004020202020204"/>
                    <a:ea typeface="+mn-ea"/>
                    <a:cs typeface="+mn-cs"/>
                  </a:rPr>
                  <a:t>Tool</a:t>
                </a:r>
              </a:p>
            </p:txBody>
          </p: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2BBBD0F9-2D1B-1082-1593-66BF63EFCD9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5089" y="2034302"/>
                <a:ext cx="1399446" cy="12920"/>
              </a:xfrm>
              <a:prstGeom prst="straightConnector1">
                <a:avLst/>
              </a:prstGeom>
              <a:noFill/>
              <a:ln w="41275" cap="flat" cmpd="sng" algn="ctr">
                <a:solidFill>
                  <a:schemeClr val="bg1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</p:grpSp>
      <p:grpSp>
        <p:nvGrpSpPr>
          <p:cNvPr id="103" name="Tool text">
            <a:extLst>
              <a:ext uri="{FF2B5EF4-FFF2-40B4-BE49-F238E27FC236}">
                <a16:creationId xmlns:a16="http://schemas.microsoft.com/office/drawing/2014/main" id="{774D10A6-677F-8BE2-5518-0AE605000364}"/>
              </a:ext>
            </a:extLst>
          </p:cNvPr>
          <p:cNvGrpSpPr/>
          <p:nvPr/>
        </p:nvGrpSpPr>
        <p:grpSpPr>
          <a:xfrm>
            <a:off x="4817808" y="1880717"/>
            <a:ext cx="2467606" cy="1076231"/>
            <a:chOff x="6351533" y="3259920"/>
            <a:chExt cx="3290141" cy="1434975"/>
          </a:xfrm>
        </p:grpSpPr>
        <p:sp>
          <p:nvSpPr>
            <p:cNvPr id="104" name="Rounded Rectangle 103">
              <a:extLst>
                <a:ext uri="{FF2B5EF4-FFF2-40B4-BE49-F238E27FC236}">
                  <a16:creationId xmlns:a16="http://schemas.microsoft.com/office/drawing/2014/main" id="{4A8668B4-D067-F836-F223-DA8B5D06FD12}"/>
                </a:ext>
              </a:extLst>
            </p:cNvPr>
            <p:cNvSpPr/>
            <p:nvPr/>
          </p:nvSpPr>
          <p:spPr>
            <a:xfrm>
              <a:off x="6351533" y="3534702"/>
              <a:ext cx="3290141" cy="1160193"/>
            </a:xfrm>
            <a:prstGeom prst="roundRect">
              <a:avLst>
                <a:gd name="adj" fmla="val 0"/>
              </a:avLst>
            </a:prstGeom>
            <a:solidFill>
              <a:srgbClr val="E97132">
                <a:lumMod val="20000"/>
                <a:lumOff val="80000"/>
              </a:srgbClr>
            </a:solidFill>
            <a:ln w="19050" cap="flat" cmpd="sng" algn="ctr">
              <a:solidFill>
                <a:srgbClr val="A02B93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API call to search engine with input “Keck Observatory”</a:t>
              </a:r>
            </a:p>
          </p:txBody>
        </p: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BF77DBE-6357-49DC-BF02-75C488252521}"/>
                </a:ext>
              </a:extLst>
            </p:cNvPr>
            <p:cNvCxnSpPr>
              <a:cxnSpLocks/>
              <a:stCxn id="111" idx="2"/>
            </p:cNvCxnSpPr>
            <p:nvPr/>
          </p:nvCxnSpPr>
          <p:spPr>
            <a:xfrm flipH="1">
              <a:off x="8242129" y="3259920"/>
              <a:ext cx="1" cy="274781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solid"/>
              <a:miter lim="800000"/>
              <a:headEnd type="oval" w="med" len="med"/>
              <a:tailEnd type="oval" w="med" len="med"/>
            </a:ln>
            <a:effectLst/>
          </p:spPr>
        </p:cxn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55A837E8-6020-503E-9C53-51DD495F5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9565691-8D46-EA59-0094-221ABEED635B}"/>
              </a:ext>
            </a:extLst>
          </p:cNvPr>
          <p:cNvSpPr txBox="1">
            <a:spLocks/>
          </p:cNvSpPr>
          <p:nvPr/>
        </p:nvSpPr>
        <p:spPr>
          <a:xfrm>
            <a:off x="665559" y="322093"/>
            <a:ext cx="824583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  <a:defRPr sz="27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LLM agent – </a:t>
            </a:r>
            <a:r>
              <a:rPr lang="en-US">
                <a:solidFill>
                  <a:schemeClr val="tx2"/>
                </a:solidFill>
              </a:rPr>
              <a:t>ReAct </a:t>
            </a:r>
            <a:r>
              <a:rPr lang="en-US"/>
              <a:t>and </a:t>
            </a:r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tool use</a:t>
            </a:r>
            <a:r>
              <a:rPr lang="en-US">
                <a:solidFill>
                  <a:schemeClr val="accent5">
                    <a:lumMod val="20000"/>
                    <a:lumOff val="80000"/>
                  </a:schemeClr>
                </a:solidFill>
              </a:rPr>
              <a:t> e</a:t>
            </a:r>
            <a:r>
              <a:rPr lang="en-US"/>
              <a:t>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731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F5C84-EB89-7A57-86BC-B763B735B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7A91F-E3C6-2F7E-339A-295F91B659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685800"/>
            <a:fld id="{00000000-1234-1234-1234-123412341234}" type="slidenum">
              <a:rPr lang="en-US" kern="1200">
                <a:solidFill>
                  <a:srgbClr val="FFFFFF"/>
                </a:solidFill>
              </a:rPr>
              <a:pPr defTabSz="685800"/>
              <a:t>21</a:t>
            </a:fld>
            <a:endParaRPr lang="en-US" kern="1200" dirty="0">
              <a:solidFill>
                <a:srgbClr val="FFFFFF"/>
              </a:solidFill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407A903F-50AC-3DB6-7204-6B2700F03F7C}"/>
              </a:ext>
            </a:extLst>
          </p:cNvPr>
          <p:cNvSpPr/>
          <p:nvPr/>
        </p:nvSpPr>
        <p:spPr>
          <a:xfrm>
            <a:off x="3341607" y="1196425"/>
            <a:ext cx="1229710" cy="733097"/>
          </a:xfrm>
          <a:prstGeom prst="roundRect">
            <a:avLst/>
          </a:prstGeom>
          <a:solidFill>
            <a:srgbClr val="0F9ED5"/>
          </a:solidFill>
          <a:ln w="19050" cap="flat" cmpd="sng" algn="ctr">
            <a:solidFill>
              <a:srgbClr val="0F9E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LLM Brain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6CED8EE2-1ECC-B4F4-172B-658AC73230C8}"/>
              </a:ext>
            </a:extLst>
          </p:cNvPr>
          <p:cNvSpPr/>
          <p:nvPr/>
        </p:nvSpPr>
        <p:spPr>
          <a:xfrm>
            <a:off x="684591" y="1399688"/>
            <a:ext cx="768568" cy="360636"/>
          </a:xfrm>
          <a:prstGeom prst="roundRect">
            <a:avLst/>
          </a:prstGeom>
          <a:solidFill>
            <a:srgbClr val="A02B93"/>
          </a:solidFill>
          <a:ln w="19050" cap="flat" cmpd="sng" algn="ctr">
            <a:solidFill>
              <a:srgbClr val="A02B93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Goal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A9EE7F85-6867-C6A2-6A81-C4D8B469825D}"/>
              </a:ext>
            </a:extLst>
          </p:cNvPr>
          <p:cNvSpPr/>
          <p:nvPr/>
        </p:nvSpPr>
        <p:spPr>
          <a:xfrm>
            <a:off x="2133901" y="3216164"/>
            <a:ext cx="1229710" cy="733097"/>
          </a:xfrm>
          <a:prstGeom prst="roundRect">
            <a:avLst/>
          </a:prstGeom>
          <a:solidFill>
            <a:srgbClr val="4EA72E"/>
          </a:solidFill>
          <a:ln w="19050" cap="flat" cmpd="sng" algn="ctr">
            <a:solidFill>
              <a:srgbClr val="4EA72E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Memories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EE0CEBCB-EA88-A2A2-02B4-C3810069CF26}"/>
              </a:ext>
            </a:extLst>
          </p:cNvPr>
          <p:cNvSpPr/>
          <p:nvPr/>
        </p:nvSpPr>
        <p:spPr>
          <a:xfrm>
            <a:off x="2664727" y="2286703"/>
            <a:ext cx="863162" cy="496613"/>
          </a:xfrm>
          <a:prstGeom prst="roundRect">
            <a:avLst/>
          </a:prstGeom>
          <a:gradFill rotWithShape="1">
            <a:gsLst>
              <a:gs pos="0">
                <a:srgbClr val="4EA72E">
                  <a:satMod val="103000"/>
                  <a:lumMod val="102000"/>
                  <a:tint val="94000"/>
                </a:srgbClr>
              </a:gs>
              <a:gs pos="50000">
                <a:srgbClr val="4EA72E">
                  <a:satMod val="110000"/>
                  <a:lumMod val="100000"/>
                  <a:shade val="100000"/>
                </a:srgbClr>
              </a:gs>
              <a:gs pos="100000">
                <a:srgbClr val="4EA72E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1270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20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Relevant Memory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F72C90F-4787-8233-8902-A329D7EA9164}"/>
              </a:ext>
            </a:extLst>
          </p:cNvPr>
          <p:cNvCxnSpPr>
            <a:cxnSpLocks/>
            <a:endCxn id="91" idx="1"/>
          </p:cNvCxnSpPr>
          <p:nvPr/>
        </p:nvCxnSpPr>
        <p:spPr>
          <a:xfrm flipV="1">
            <a:off x="1496743" y="1562973"/>
            <a:ext cx="1844864" cy="17033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7F908FB3-2B40-C192-718B-7C69B25DF0F7}"/>
              </a:ext>
            </a:extLst>
          </p:cNvPr>
          <p:cNvCxnSpPr>
            <a:cxnSpLocks/>
          </p:cNvCxnSpPr>
          <p:nvPr/>
        </p:nvCxnSpPr>
        <p:spPr>
          <a:xfrm>
            <a:off x="2406647" y="1580006"/>
            <a:ext cx="0" cy="150609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44FBD33-9F57-1C48-596D-523D2AE41EF8}"/>
              </a:ext>
            </a:extLst>
          </p:cNvPr>
          <p:cNvCxnSpPr>
            <a:cxnSpLocks/>
          </p:cNvCxnSpPr>
          <p:nvPr/>
        </p:nvCxnSpPr>
        <p:spPr>
          <a:xfrm flipV="1">
            <a:off x="3086889" y="2820057"/>
            <a:ext cx="0" cy="312467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E4923269-5CD8-CD99-27B2-ADCE06641FB1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207968" cy="0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4333AA5B-096A-100C-84B7-E1F295FD2BBD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9419" cy="46391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none"/>
          </a:ln>
          <a:effectLst/>
        </p:spPr>
      </p:cxnSp>
      <p:grpSp>
        <p:nvGrpSpPr>
          <p:cNvPr id="116" name="Generate Action plan">
            <a:extLst>
              <a:ext uri="{FF2B5EF4-FFF2-40B4-BE49-F238E27FC236}">
                <a16:creationId xmlns:a16="http://schemas.microsoft.com/office/drawing/2014/main" id="{E844592E-90E2-0397-30BA-F3702863215D}"/>
              </a:ext>
            </a:extLst>
          </p:cNvPr>
          <p:cNvGrpSpPr/>
          <p:nvPr/>
        </p:nvGrpSpPr>
        <p:grpSpPr>
          <a:xfrm>
            <a:off x="3729202" y="1944978"/>
            <a:ext cx="3224327" cy="2373020"/>
            <a:chOff x="3125731" y="4239672"/>
            <a:chExt cx="4299102" cy="3164026"/>
          </a:xfrm>
        </p:grpSpPr>
        <p:sp>
          <p:nvSpPr>
            <p:cNvPr id="117" name="Rounded Rectangle 116">
              <a:extLst>
                <a:ext uri="{FF2B5EF4-FFF2-40B4-BE49-F238E27FC236}">
                  <a16:creationId xmlns:a16="http://schemas.microsoft.com/office/drawing/2014/main" id="{7422F061-AE21-86EF-697F-6D8FAA02680A}"/>
                </a:ext>
              </a:extLst>
            </p:cNvPr>
            <p:cNvSpPr/>
            <p:nvPr/>
          </p:nvSpPr>
          <p:spPr>
            <a:xfrm>
              <a:off x="3125731" y="4858790"/>
              <a:ext cx="4299102" cy="2544908"/>
            </a:xfrm>
            <a:prstGeom prst="roundRect">
              <a:avLst>
                <a:gd name="adj" fmla="val 0"/>
              </a:avLst>
            </a:prstGeom>
            <a:solidFill>
              <a:srgbClr val="0F9ED5">
                <a:lumMod val="20000"/>
                <a:lumOff val="80000"/>
              </a:srgbClr>
            </a:solidFill>
            <a:ln w="19050" cap="flat" cmpd="sng" algn="ctr">
              <a:solidFill>
                <a:srgbClr val="A02B93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defTabSz="685800">
                <a:buClrTx/>
                <a:defRPr/>
              </a:pPr>
              <a:r>
                <a:rPr lang="en-US" sz="1350" b="1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LLM prompt:</a:t>
              </a: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Your goal is: </a:t>
              </a:r>
              <a:r>
                <a:rPr lang="en-US" sz="1350" dirty="0">
                  <a:solidFill>
                    <a:srgbClr val="A02B93"/>
                  </a:solidFill>
                  <a:latin typeface="Aptos" panose="02110004020202020204"/>
                  <a:ea typeface="+mn-ea"/>
                  <a:cs typeface="+mn-cs"/>
                </a:rPr>
                <a:t>{goal}</a:t>
              </a:r>
            </a:p>
            <a:p>
              <a:pPr defTabSz="685800">
                <a:buClrTx/>
                <a:defRPr/>
              </a:pPr>
              <a:endParaRPr lang="en-US" sz="135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Relevant memories: </a:t>
              </a:r>
              <a:r>
                <a:rPr lang="en-US" sz="1350" dirty="0">
                  <a:solidFill>
                    <a:srgbClr val="4EA72E"/>
                  </a:solidFill>
                  <a:latin typeface="Aptos" panose="02110004020202020204"/>
                  <a:ea typeface="+mn-ea"/>
                  <a:cs typeface="+mn-cs"/>
                </a:rPr>
                <a:t>{memories… including keck observatory is located in </a:t>
              </a:r>
              <a:r>
                <a:rPr lang="en-US" sz="1350" dirty="0" err="1">
                  <a:solidFill>
                    <a:srgbClr val="4EA72E"/>
                  </a:solidFill>
                  <a:latin typeface="Aptos" panose="02110004020202020204"/>
                  <a:ea typeface="+mn-ea"/>
                  <a:cs typeface="+mn-cs"/>
                </a:rPr>
                <a:t>Maunaki</a:t>
              </a:r>
              <a:r>
                <a:rPr lang="en-US" sz="1350" dirty="0">
                  <a:solidFill>
                    <a:srgbClr val="4EA72E"/>
                  </a:solidFill>
                  <a:latin typeface="Aptos" panose="02110004020202020204"/>
                  <a:ea typeface="+mn-ea"/>
                  <a:cs typeface="+mn-cs"/>
                </a:rPr>
                <a:t>, Hawaii}</a:t>
              </a:r>
            </a:p>
            <a:p>
              <a:pPr defTabSz="685800">
                <a:buClrTx/>
                <a:defRPr/>
              </a:pPr>
              <a:endParaRPr lang="en-US" sz="135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Indicate what you should do next to solve this problem</a:t>
              </a:r>
            </a:p>
          </p:txBody>
        </p: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C93DB742-9C05-0BEF-D040-B52DFF9F1A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8046" y="4239672"/>
              <a:ext cx="1" cy="619118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solid"/>
              <a:miter lim="800000"/>
              <a:headEnd type="oval" w="med" len="med"/>
              <a:tailEnd type="oval" w="med" len="med"/>
            </a:ln>
            <a:effectLst/>
          </p:spPr>
        </p:cxn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1A8BA44F-B753-BD5E-8756-E9B250E17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3CC92CE-0836-3989-78BD-07F70BD9012F}"/>
              </a:ext>
            </a:extLst>
          </p:cNvPr>
          <p:cNvSpPr txBox="1">
            <a:spLocks/>
          </p:cNvSpPr>
          <p:nvPr/>
        </p:nvSpPr>
        <p:spPr>
          <a:xfrm>
            <a:off x="665559" y="322093"/>
            <a:ext cx="824583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  <a:defRPr sz="27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LLM agent – </a:t>
            </a:r>
            <a:r>
              <a:rPr lang="en-US">
                <a:solidFill>
                  <a:schemeClr val="tx2"/>
                </a:solidFill>
              </a:rPr>
              <a:t>ReAct </a:t>
            </a:r>
            <a:r>
              <a:rPr lang="en-US"/>
              <a:t>and </a:t>
            </a:r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tool use</a:t>
            </a:r>
            <a:r>
              <a:rPr lang="en-US">
                <a:solidFill>
                  <a:schemeClr val="accent5">
                    <a:lumMod val="20000"/>
                    <a:lumOff val="80000"/>
                  </a:schemeClr>
                </a:solidFill>
              </a:rPr>
              <a:t> e</a:t>
            </a:r>
            <a:r>
              <a:rPr lang="en-US"/>
              <a:t>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9291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05CE4-ED89-928D-EE03-2F985AFE7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3A4A9-9808-1B75-C926-8AE48AC85E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685800"/>
            <a:fld id="{00000000-1234-1234-1234-123412341234}" type="slidenum">
              <a:rPr lang="en-US" kern="1200">
                <a:solidFill>
                  <a:srgbClr val="FFFFFF"/>
                </a:solidFill>
              </a:rPr>
              <a:pPr defTabSz="685800"/>
              <a:t>22</a:t>
            </a:fld>
            <a:endParaRPr lang="en-US" kern="1200" dirty="0">
              <a:solidFill>
                <a:srgbClr val="FFFFFF"/>
              </a:solidFill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2C9E9DB0-0AAB-B2C6-8AA8-6A6BA6EC977B}"/>
              </a:ext>
            </a:extLst>
          </p:cNvPr>
          <p:cNvSpPr/>
          <p:nvPr/>
        </p:nvSpPr>
        <p:spPr>
          <a:xfrm>
            <a:off x="3341607" y="1196425"/>
            <a:ext cx="1229710" cy="733097"/>
          </a:xfrm>
          <a:prstGeom prst="roundRect">
            <a:avLst/>
          </a:prstGeom>
          <a:solidFill>
            <a:srgbClr val="0F9ED5"/>
          </a:solidFill>
          <a:ln w="19050" cap="flat" cmpd="sng" algn="ctr">
            <a:solidFill>
              <a:srgbClr val="0F9E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LLM Brain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FBA696DA-A37C-8677-FFD8-F6308CA0C8A7}"/>
              </a:ext>
            </a:extLst>
          </p:cNvPr>
          <p:cNvSpPr/>
          <p:nvPr/>
        </p:nvSpPr>
        <p:spPr>
          <a:xfrm>
            <a:off x="684591" y="1399688"/>
            <a:ext cx="768568" cy="360636"/>
          </a:xfrm>
          <a:prstGeom prst="roundRect">
            <a:avLst/>
          </a:prstGeom>
          <a:solidFill>
            <a:srgbClr val="A02B93"/>
          </a:solidFill>
          <a:ln w="19050" cap="flat" cmpd="sng" algn="ctr">
            <a:solidFill>
              <a:srgbClr val="A02B93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Goal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E47151D2-6542-B7B1-5144-B2434D497017}"/>
              </a:ext>
            </a:extLst>
          </p:cNvPr>
          <p:cNvSpPr/>
          <p:nvPr/>
        </p:nvSpPr>
        <p:spPr>
          <a:xfrm>
            <a:off x="2133901" y="3216164"/>
            <a:ext cx="1229710" cy="733097"/>
          </a:xfrm>
          <a:prstGeom prst="roundRect">
            <a:avLst/>
          </a:prstGeom>
          <a:solidFill>
            <a:srgbClr val="4EA72E"/>
          </a:solidFill>
          <a:ln w="19050" cap="flat" cmpd="sng" algn="ctr">
            <a:solidFill>
              <a:srgbClr val="4EA72E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Memories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4A401B6E-9BEF-7A5C-77A7-8EAFB268E046}"/>
              </a:ext>
            </a:extLst>
          </p:cNvPr>
          <p:cNvSpPr/>
          <p:nvPr/>
        </p:nvSpPr>
        <p:spPr>
          <a:xfrm>
            <a:off x="2664727" y="2286703"/>
            <a:ext cx="863162" cy="496613"/>
          </a:xfrm>
          <a:prstGeom prst="roundRect">
            <a:avLst/>
          </a:prstGeom>
          <a:gradFill rotWithShape="1">
            <a:gsLst>
              <a:gs pos="0">
                <a:srgbClr val="4EA72E">
                  <a:satMod val="103000"/>
                  <a:lumMod val="102000"/>
                  <a:tint val="94000"/>
                </a:srgbClr>
              </a:gs>
              <a:gs pos="50000">
                <a:srgbClr val="4EA72E">
                  <a:satMod val="110000"/>
                  <a:lumMod val="100000"/>
                  <a:shade val="100000"/>
                </a:srgbClr>
              </a:gs>
              <a:gs pos="100000">
                <a:srgbClr val="4EA72E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1270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20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Relevant Memory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810F59F-FA83-4291-73B6-57A64251CDC8}"/>
              </a:ext>
            </a:extLst>
          </p:cNvPr>
          <p:cNvCxnSpPr>
            <a:cxnSpLocks/>
            <a:endCxn id="91" idx="1"/>
          </p:cNvCxnSpPr>
          <p:nvPr/>
        </p:nvCxnSpPr>
        <p:spPr>
          <a:xfrm flipV="1">
            <a:off x="1496743" y="1562973"/>
            <a:ext cx="1844864" cy="17033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DCA83FFC-322A-08B2-BFD2-A12512D8EFAD}"/>
              </a:ext>
            </a:extLst>
          </p:cNvPr>
          <p:cNvCxnSpPr>
            <a:cxnSpLocks/>
          </p:cNvCxnSpPr>
          <p:nvPr/>
        </p:nvCxnSpPr>
        <p:spPr>
          <a:xfrm>
            <a:off x="2406647" y="1580006"/>
            <a:ext cx="0" cy="150609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EC37F94F-8061-34CE-92E5-85655E82E440}"/>
              </a:ext>
            </a:extLst>
          </p:cNvPr>
          <p:cNvCxnSpPr>
            <a:cxnSpLocks/>
          </p:cNvCxnSpPr>
          <p:nvPr/>
        </p:nvCxnSpPr>
        <p:spPr>
          <a:xfrm flipV="1">
            <a:off x="3086889" y="2820057"/>
            <a:ext cx="0" cy="312467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3C71E9A5-CD7A-98BA-973D-FCD674CEF0E6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207968" cy="0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F731F806-F817-F1C0-6BBF-9596F96D031C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9419" cy="46391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none"/>
          </a:ln>
          <a:effectLst/>
        </p:spPr>
      </p:cxnSp>
      <p:grpSp>
        <p:nvGrpSpPr>
          <p:cNvPr id="126" name="Action plan">
            <a:extLst>
              <a:ext uri="{FF2B5EF4-FFF2-40B4-BE49-F238E27FC236}">
                <a16:creationId xmlns:a16="http://schemas.microsoft.com/office/drawing/2014/main" id="{2CE41A32-FB4E-1D0C-EBF3-B64C78C3032F}"/>
              </a:ext>
            </a:extLst>
          </p:cNvPr>
          <p:cNvGrpSpPr/>
          <p:nvPr/>
        </p:nvGrpSpPr>
        <p:grpSpPr>
          <a:xfrm>
            <a:off x="3351376" y="1544462"/>
            <a:ext cx="5408084" cy="2036066"/>
            <a:chOff x="4468501" y="2059283"/>
            <a:chExt cx="7210779" cy="2714754"/>
          </a:xfrm>
        </p:grpSpPr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BE835B58-8104-2FDB-E088-A86993A01488}"/>
                </a:ext>
              </a:extLst>
            </p:cNvPr>
            <p:cNvGrpSpPr/>
            <p:nvPr/>
          </p:nvGrpSpPr>
          <p:grpSpPr>
            <a:xfrm>
              <a:off x="6744068" y="2628466"/>
              <a:ext cx="4935212" cy="1565254"/>
              <a:chOff x="4119382" y="4304492"/>
              <a:chExt cx="4935212" cy="1565254"/>
            </a:xfrm>
          </p:grpSpPr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1FE44018-46B7-25D4-901C-2C2632BE0DA1}"/>
                  </a:ext>
                </a:extLst>
              </p:cNvPr>
              <p:cNvCxnSpPr>
                <a:cxnSpLocks/>
                <a:endCxn id="133" idx="1"/>
              </p:cNvCxnSpPr>
              <p:nvPr/>
            </p:nvCxnSpPr>
            <p:spPr>
              <a:xfrm>
                <a:off x="4119382" y="5085904"/>
                <a:ext cx="370586" cy="1215"/>
              </a:xfrm>
              <a:prstGeom prst="line">
                <a:avLst/>
              </a:prstGeom>
              <a:noFill/>
              <a:ln w="19050" cap="flat" cmpd="sng" algn="ctr">
                <a:solidFill>
                  <a:schemeClr val="bg1"/>
                </a:solidFill>
                <a:prstDash val="solid"/>
                <a:miter lim="800000"/>
                <a:headEnd type="oval" w="med" len="med"/>
                <a:tailEnd type="oval" w="med" len="med"/>
              </a:ln>
              <a:effectLst/>
            </p:spPr>
          </p:cxnSp>
          <p:sp>
            <p:nvSpPr>
              <p:cNvPr id="133" name="Rounded Rectangle 132">
                <a:extLst>
                  <a:ext uri="{FF2B5EF4-FFF2-40B4-BE49-F238E27FC236}">
                    <a16:creationId xmlns:a16="http://schemas.microsoft.com/office/drawing/2014/main" id="{6F5997E9-F84F-AC93-BE1C-8D0DF14D4F06}"/>
                  </a:ext>
                </a:extLst>
              </p:cNvPr>
              <p:cNvSpPr/>
              <p:nvPr/>
            </p:nvSpPr>
            <p:spPr>
              <a:xfrm>
                <a:off x="4489968" y="4304492"/>
                <a:ext cx="4564626" cy="1565254"/>
              </a:xfrm>
              <a:prstGeom prst="roundRect">
                <a:avLst>
                  <a:gd name="adj" fmla="val 0"/>
                </a:avLst>
              </a:prstGeom>
              <a:solidFill>
                <a:srgbClr val="E8E8E8">
                  <a:lumMod val="75000"/>
                </a:srgbClr>
              </a:solidFill>
              <a:ln w="19050" cap="flat" cmpd="sng" algn="ctr">
                <a:solidFill>
                  <a:sysClr val="windowText" lastClr="000000">
                    <a:shade val="1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defTabSz="685800">
                  <a:buClrTx/>
                  <a:defRPr/>
                </a:pPr>
                <a:r>
                  <a:rPr lang="en-US" sz="1350" dirty="0">
                    <a:solidFill>
                      <a:prstClr val="white"/>
                    </a:solidFill>
                    <a:latin typeface="Aptos" panose="02110004020202020204"/>
                    <a:ea typeface="+mn-ea"/>
                    <a:cs typeface="+mn-cs"/>
                  </a:rPr>
                  <a:t>Next Step: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2. Use </a:t>
                </a:r>
                <a:r>
                  <a:rPr lang="en-US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rPr>
                  <a:t>Tool: Weather API </a:t>
                </a:r>
                <a:r>
                  <a:rPr lang="en-US" dirty="0">
                    <a:solidFill>
                      <a:schemeClr val="bg1"/>
                    </a:solidFill>
                  </a:rPr>
                  <a:t>to find weather at location</a:t>
                </a:r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F1A3EC7A-8A27-E5A2-2A67-1A50C8C05EF2}"/>
                </a:ext>
              </a:extLst>
            </p:cNvPr>
            <p:cNvGrpSpPr/>
            <p:nvPr/>
          </p:nvGrpSpPr>
          <p:grpSpPr>
            <a:xfrm>
              <a:off x="4468501" y="2059283"/>
              <a:ext cx="2275567" cy="2714754"/>
              <a:chOff x="4468501" y="2059283"/>
              <a:chExt cx="2275567" cy="2714754"/>
            </a:xfrm>
          </p:grpSpPr>
          <p:cxnSp>
            <p:nvCxnSpPr>
              <p:cNvPr id="129" name="Straight Arrow Connector 128">
                <a:extLst>
                  <a:ext uri="{FF2B5EF4-FFF2-40B4-BE49-F238E27FC236}">
                    <a16:creationId xmlns:a16="http://schemas.microsoft.com/office/drawing/2014/main" id="{FEEEF3DB-49B2-224E-B920-A330278F2D9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68501" y="4751325"/>
                <a:ext cx="2275567" cy="0"/>
              </a:xfrm>
              <a:prstGeom prst="straightConnector1">
                <a:avLst/>
              </a:prstGeom>
              <a:noFill/>
              <a:ln w="41275" cap="flat" cmpd="sng" algn="ctr">
                <a:solidFill>
                  <a:schemeClr val="bg1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D1B8893F-D381-6449-67E5-0D63B62C99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31510" y="2059283"/>
                <a:ext cx="0" cy="2714754"/>
              </a:xfrm>
              <a:prstGeom prst="straightConnector1">
                <a:avLst/>
              </a:prstGeom>
              <a:noFill/>
              <a:ln w="41275" cap="flat" cmpd="sng" algn="ctr">
                <a:solidFill>
                  <a:schemeClr val="bg1"/>
                </a:solidFill>
                <a:prstDash val="solid"/>
                <a:miter lim="800000"/>
                <a:tailEnd type="none"/>
              </a:ln>
              <a:effectLst/>
            </p:spPr>
          </p:cxnSp>
          <p:cxnSp>
            <p:nvCxnSpPr>
              <p:cNvPr id="131" name="Straight Arrow Connector 130">
                <a:extLst>
                  <a:ext uri="{FF2B5EF4-FFF2-40B4-BE49-F238E27FC236}">
                    <a16:creationId xmlns:a16="http://schemas.microsoft.com/office/drawing/2014/main" id="{883E28C5-13F5-271D-BAD0-84848F9C873D}"/>
                  </a:ext>
                </a:extLst>
              </p:cNvPr>
              <p:cNvCxnSpPr>
                <a:cxnSpLocks/>
                <a:endCxn id="91" idx="3"/>
              </p:cNvCxnSpPr>
              <p:nvPr/>
            </p:nvCxnSpPr>
            <p:spPr>
              <a:xfrm flipH="1">
                <a:off x="6095089" y="2067832"/>
                <a:ext cx="648979" cy="16132"/>
              </a:xfrm>
              <a:prstGeom prst="straightConnector1">
                <a:avLst/>
              </a:prstGeom>
              <a:noFill/>
              <a:ln w="41275" cap="flat" cmpd="sng" algn="ctr">
                <a:solidFill>
                  <a:schemeClr val="bg1"/>
                </a:solidFill>
                <a:prstDash val="solid"/>
                <a:miter lim="800000"/>
                <a:tailEnd type="none"/>
              </a:ln>
              <a:effectLst/>
            </p:spPr>
          </p:cxnSp>
        </p:grp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CFBC263B-69E2-C561-5584-EFF83A902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77BF1F7-C556-3232-C817-066E3DD7A75A}"/>
              </a:ext>
            </a:extLst>
          </p:cNvPr>
          <p:cNvSpPr txBox="1">
            <a:spLocks/>
          </p:cNvSpPr>
          <p:nvPr/>
        </p:nvSpPr>
        <p:spPr>
          <a:xfrm>
            <a:off x="587181" y="178400"/>
            <a:ext cx="824583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  <a:defRPr sz="27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LLM agent – </a:t>
            </a:r>
            <a:r>
              <a:rPr lang="en-US">
                <a:solidFill>
                  <a:schemeClr val="tx2"/>
                </a:solidFill>
              </a:rPr>
              <a:t>ReAct </a:t>
            </a:r>
            <a:r>
              <a:rPr lang="en-US"/>
              <a:t>and </a:t>
            </a:r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tool use</a:t>
            </a:r>
            <a:r>
              <a:rPr lang="en-US">
                <a:solidFill>
                  <a:schemeClr val="accent5">
                    <a:lumMod val="20000"/>
                    <a:lumOff val="80000"/>
                  </a:schemeClr>
                </a:solidFill>
              </a:rPr>
              <a:t> e</a:t>
            </a:r>
            <a:r>
              <a:rPr lang="en-US"/>
              <a:t>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8328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DD087-D3AB-EF02-7BD2-D64A6B21C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95F7F-2A58-8CED-0D71-9829F78ACF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685800"/>
            <a:fld id="{00000000-1234-1234-1234-123412341234}" type="slidenum">
              <a:rPr lang="en-US" kern="1200">
                <a:solidFill>
                  <a:srgbClr val="FFFFFF"/>
                </a:solidFill>
              </a:rPr>
              <a:pPr defTabSz="685800"/>
              <a:t>23</a:t>
            </a:fld>
            <a:endParaRPr lang="en-US" kern="1200" dirty="0">
              <a:solidFill>
                <a:srgbClr val="FFFFFF"/>
              </a:solidFill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D04BC66F-47BB-8D31-4E59-C9E8FFCEEE04}"/>
              </a:ext>
            </a:extLst>
          </p:cNvPr>
          <p:cNvSpPr/>
          <p:nvPr/>
        </p:nvSpPr>
        <p:spPr>
          <a:xfrm>
            <a:off x="3341607" y="1196425"/>
            <a:ext cx="1229710" cy="733097"/>
          </a:xfrm>
          <a:prstGeom prst="roundRect">
            <a:avLst/>
          </a:prstGeom>
          <a:solidFill>
            <a:srgbClr val="0F9ED5"/>
          </a:solidFill>
          <a:ln w="19050" cap="flat" cmpd="sng" algn="ctr">
            <a:solidFill>
              <a:srgbClr val="0F9E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LLM brain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41D4E5B-94A8-90F0-C54B-CB54219202F4}"/>
              </a:ext>
            </a:extLst>
          </p:cNvPr>
          <p:cNvSpPr/>
          <p:nvPr/>
        </p:nvSpPr>
        <p:spPr>
          <a:xfrm>
            <a:off x="684591" y="1399688"/>
            <a:ext cx="768568" cy="360636"/>
          </a:xfrm>
          <a:prstGeom prst="roundRect">
            <a:avLst/>
          </a:prstGeom>
          <a:solidFill>
            <a:srgbClr val="A02B93"/>
          </a:solidFill>
          <a:ln w="19050" cap="flat" cmpd="sng" algn="ctr">
            <a:solidFill>
              <a:srgbClr val="A02B93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Goal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E75D3C20-C4E1-B65E-29A3-7322162BFFF7}"/>
              </a:ext>
            </a:extLst>
          </p:cNvPr>
          <p:cNvSpPr/>
          <p:nvPr/>
        </p:nvSpPr>
        <p:spPr>
          <a:xfrm>
            <a:off x="2133901" y="3216164"/>
            <a:ext cx="1229710" cy="733097"/>
          </a:xfrm>
          <a:prstGeom prst="roundRect">
            <a:avLst/>
          </a:prstGeom>
          <a:solidFill>
            <a:srgbClr val="4EA72E"/>
          </a:solidFill>
          <a:ln w="19050" cap="flat" cmpd="sng" algn="ctr">
            <a:solidFill>
              <a:srgbClr val="4EA72E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Memories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23DF7C24-8BF0-3BEB-A5E0-09EBAA595E91}"/>
              </a:ext>
            </a:extLst>
          </p:cNvPr>
          <p:cNvSpPr/>
          <p:nvPr/>
        </p:nvSpPr>
        <p:spPr>
          <a:xfrm>
            <a:off x="2664727" y="2286703"/>
            <a:ext cx="863162" cy="496613"/>
          </a:xfrm>
          <a:prstGeom prst="roundRect">
            <a:avLst/>
          </a:prstGeom>
          <a:gradFill rotWithShape="1">
            <a:gsLst>
              <a:gs pos="0">
                <a:srgbClr val="4EA72E">
                  <a:satMod val="103000"/>
                  <a:lumMod val="102000"/>
                  <a:tint val="94000"/>
                </a:srgbClr>
              </a:gs>
              <a:gs pos="50000">
                <a:srgbClr val="4EA72E">
                  <a:satMod val="110000"/>
                  <a:lumMod val="100000"/>
                  <a:shade val="100000"/>
                </a:srgbClr>
              </a:gs>
              <a:gs pos="100000">
                <a:srgbClr val="4EA72E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1270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20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Relevant Memory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E2DF538-1D11-FCC5-127C-230577E4D8DB}"/>
              </a:ext>
            </a:extLst>
          </p:cNvPr>
          <p:cNvCxnSpPr>
            <a:cxnSpLocks/>
            <a:endCxn id="91" idx="1"/>
          </p:cNvCxnSpPr>
          <p:nvPr/>
        </p:nvCxnSpPr>
        <p:spPr>
          <a:xfrm flipV="1">
            <a:off x="1496743" y="1562973"/>
            <a:ext cx="1844864" cy="17033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A3A591D-8F9F-11BC-FC38-6B8A7CDFFB05}"/>
              </a:ext>
            </a:extLst>
          </p:cNvPr>
          <p:cNvCxnSpPr>
            <a:cxnSpLocks/>
          </p:cNvCxnSpPr>
          <p:nvPr/>
        </p:nvCxnSpPr>
        <p:spPr>
          <a:xfrm>
            <a:off x="2406647" y="1580006"/>
            <a:ext cx="0" cy="150609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C9A76DBE-6080-4115-2425-ED92F20F9E4A}"/>
              </a:ext>
            </a:extLst>
          </p:cNvPr>
          <p:cNvCxnSpPr>
            <a:cxnSpLocks/>
          </p:cNvCxnSpPr>
          <p:nvPr/>
        </p:nvCxnSpPr>
        <p:spPr>
          <a:xfrm flipV="1">
            <a:off x="3086889" y="2820057"/>
            <a:ext cx="0" cy="312467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21E8EA77-FE24-F880-C810-F03CF5BE14FF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207968" cy="0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2CB1FAA-F4FB-F21A-4D4A-6782D2DDBE2E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9419" cy="46391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none"/>
          </a:ln>
          <a:effectLst/>
        </p:spPr>
      </p:cxnSp>
      <p:grpSp>
        <p:nvGrpSpPr>
          <p:cNvPr id="106" name="Tool">
            <a:extLst>
              <a:ext uri="{FF2B5EF4-FFF2-40B4-BE49-F238E27FC236}">
                <a16:creationId xmlns:a16="http://schemas.microsoft.com/office/drawing/2014/main" id="{D2F7C439-0902-47F9-D125-7AD34EF6A424}"/>
              </a:ext>
            </a:extLst>
          </p:cNvPr>
          <p:cNvGrpSpPr/>
          <p:nvPr/>
        </p:nvGrpSpPr>
        <p:grpSpPr>
          <a:xfrm>
            <a:off x="3363611" y="1147621"/>
            <a:ext cx="4142236" cy="2438136"/>
            <a:chOff x="4484814" y="1530161"/>
            <a:chExt cx="5522981" cy="3250848"/>
          </a:xfrm>
        </p:grpSpPr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1AA1DF75-A875-B923-7F65-50A407A8DBBD}"/>
                </a:ext>
              </a:extLst>
            </p:cNvPr>
            <p:cNvCxnSpPr>
              <a:cxnSpLocks/>
              <a:endCxn id="93" idx="3"/>
            </p:cNvCxnSpPr>
            <p:nvPr/>
          </p:nvCxnSpPr>
          <p:spPr>
            <a:xfrm flipH="1" flipV="1">
              <a:off x="4484814" y="4776950"/>
              <a:ext cx="5508940" cy="4059"/>
            </a:xfrm>
            <a:prstGeom prst="straightConnector1">
              <a:avLst/>
            </a:prstGeom>
            <a:noFill/>
            <a:ln w="41275" cap="flat" cmpd="sng" algn="ctr">
              <a:solidFill>
                <a:schemeClr val="bg1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429D6D86-3D33-94F4-90FE-025CC302710F}"/>
                </a:ext>
              </a:extLst>
            </p:cNvPr>
            <p:cNvCxnSpPr>
              <a:cxnSpLocks/>
            </p:cNvCxnSpPr>
            <p:nvPr/>
          </p:nvCxnSpPr>
          <p:spPr>
            <a:xfrm>
              <a:off x="10007795" y="2017843"/>
              <a:ext cx="0" cy="2763166"/>
            </a:xfrm>
            <a:prstGeom prst="straightConnector1">
              <a:avLst/>
            </a:prstGeom>
            <a:noFill/>
            <a:ln w="41275" cap="flat" cmpd="sng" algn="ctr">
              <a:solidFill>
                <a:schemeClr val="bg1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87162A83-F185-DCF4-B85E-EE50C9F38BCE}"/>
                </a:ext>
              </a:extLst>
            </p:cNvPr>
            <p:cNvCxnSpPr>
              <a:cxnSpLocks/>
              <a:endCxn id="111" idx="3"/>
            </p:cNvCxnSpPr>
            <p:nvPr/>
          </p:nvCxnSpPr>
          <p:spPr>
            <a:xfrm flipH="1">
              <a:off x="9134148" y="2017843"/>
              <a:ext cx="873647" cy="1049"/>
            </a:xfrm>
            <a:prstGeom prst="straightConnector1">
              <a:avLst/>
            </a:prstGeom>
            <a:noFill/>
            <a:ln w="41275" cap="flat" cmpd="sng" algn="ctr">
              <a:solidFill>
                <a:schemeClr val="bg1"/>
              </a:solidFill>
              <a:prstDash val="solid"/>
              <a:miter lim="800000"/>
              <a:tailEnd type="none"/>
            </a:ln>
            <a:effectLst/>
          </p:spPr>
        </p:cxnSp>
        <p:grpSp>
          <p:nvGrpSpPr>
            <p:cNvPr id="110" name="asdasd">
              <a:extLst>
                <a:ext uri="{FF2B5EF4-FFF2-40B4-BE49-F238E27FC236}">
                  <a16:creationId xmlns:a16="http://schemas.microsoft.com/office/drawing/2014/main" id="{55F00011-2F08-41ED-FE3C-981D8C030F94}"/>
                </a:ext>
              </a:extLst>
            </p:cNvPr>
            <p:cNvGrpSpPr/>
            <p:nvPr/>
          </p:nvGrpSpPr>
          <p:grpSpPr>
            <a:xfrm>
              <a:off x="6095089" y="1530161"/>
              <a:ext cx="3039059" cy="977462"/>
              <a:chOff x="6095089" y="1530161"/>
              <a:chExt cx="3039059" cy="977462"/>
            </a:xfrm>
          </p:grpSpPr>
          <p:sp>
            <p:nvSpPr>
              <p:cNvPr id="111" name="Rounded Rectangle 110">
                <a:extLst>
                  <a:ext uri="{FF2B5EF4-FFF2-40B4-BE49-F238E27FC236}">
                    <a16:creationId xmlns:a16="http://schemas.microsoft.com/office/drawing/2014/main" id="{00C22918-C93D-19C2-D049-01F3D16464A9}"/>
                  </a:ext>
                </a:extLst>
              </p:cNvPr>
              <p:cNvSpPr/>
              <p:nvPr/>
            </p:nvSpPr>
            <p:spPr>
              <a:xfrm>
                <a:off x="7494535" y="1530161"/>
                <a:ext cx="1639613" cy="977462"/>
              </a:xfrm>
              <a:prstGeom prst="roundRect">
                <a:avLst/>
              </a:prstGeom>
              <a:solidFill>
                <a:srgbClr val="E97132"/>
              </a:solidFill>
              <a:ln w="19050" cap="flat" cmpd="sng" algn="ctr">
                <a:solidFill>
                  <a:srgbClr val="E97132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r>
                  <a:rPr lang="en-US" sz="1350" dirty="0">
                    <a:solidFill>
                      <a:prstClr val="white"/>
                    </a:solidFill>
                    <a:latin typeface="Aptos" panose="02110004020202020204"/>
                    <a:ea typeface="+mn-ea"/>
                    <a:cs typeface="+mn-cs"/>
                  </a:rPr>
                  <a:t>Tool</a:t>
                </a:r>
              </a:p>
            </p:txBody>
          </p: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D6D88CCF-3A24-95C4-0842-127B94A752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5089" y="2034302"/>
                <a:ext cx="1399446" cy="12920"/>
              </a:xfrm>
              <a:prstGeom prst="straightConnector1">
                <a:avLst/>
              </a:prstGeom>
              <a:noFill/>
              <a:ln w="41275" cap="flat" cmpd="sng" algn="ctr">
                <a:solidFill>
                  <a:schemeClr val="bg1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</p:grpSp>
      <p:sp>
        <p:nvSpPr>
          <p:cNvPr id="122" name="Loop Tools">
            <a:extLst>
              <a:ext uri="{FF2B5EF4-FFF2-40B4-BE49-F238E27FC236}">
                <a16:creationId xmlns:a16="http://schemas.microsoft.com/office/drawing/2014/main" id="{C41954AB-D358-FF2E-1558-C70162262DC6}"/>
              </a:ext>
            </a:extLst>
          </p:cNvPr>
          <p:cNvSpPr/>
          <p:nvPr/>
        </p:nvSpPr>
        <p:spPr>
          <a:xfrm>
            <a:off x="3922839" y="3276600"/>
            <a:ext cx="3264166" cy="505729"/>
          </a:xfrm>
          <a:prstGeom prst="roundRect">
            <a:avLst>
              <a:gd name="adj" fmla="val 50000"/>
            </a:avLst>
          </a:prstGeom>
          <a:solidFill>
            <a:srgbClr val="E8E8E8">
              <a:lumMod val="75000"/>
            </a:srgbClr>
          </a:solidFill>
          <a:ln w="19050" cap="flat" cmpd="sng" algn="ctr">
            <a:solidFill>
              <a:sysClr val="windowText" lastClr="000000">
                <a:shade val="1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Continue until LLM brain decides to send message back to user.</a:t>
            </a:r>
          </a:p>
        </p:txBody>
      </p:sp>
      <p:grpSp>
        <p:nvGrpSpPr>
          <p:cNvPr id="103" name="Tool text">
            <a:extLst>
              <a:ext uri="{FF2B5EF4-FFF2-40B4-BE49-F238E27FC236}">
                <a16:creationId xmlns:a16="http://schemas.microsoft.com/office/drawing/2014/main" id="{5EDD0CA8-ECC8-4804-D0DA-45B4232B7780}"/>
              </a:ext>
            </a:extLst>
          </p:cNvPr>
          <p:cNvGrpSpPr/>
          <p:nvPr/>
        </p:nvGrpSpPr>
        <p:grpSpPr>
          <a:xfrm>
            <a:off x="4817808" y="1880717"/>
            <a:ext cx="2467606" cy="1076231"/>
            <a:chOff x="6351533" y="3259920"/>
            <a:chExt cx="3290141" cy="1434975"/>
          </a:xfrm>
        </p:grpSpPr>
        <p:sp>
          <p:nvSpPr>
            <p:cNvPr id="104" name="Rounded Rectangle 103">
              <a:extLst>
                <a:ext uri="{FF2B5EF4-FFF2-40B4-BE49-F238E27FC236}">
                  <a16:creationId xmlns:a16="http://schemas.microsoft.com/office/drawing/2014/main" id="{1244998E-30A6-D58F-4F73-26F965A8E46C}"/>
                </a:ext>
              </a:extLst>
            </p:cNvPr>
            <p:cNvSpPr/>
            <p:nvPr/>
          </p:nvSpPr>
          <p:spPr>
            <a:xfrm>
              <a:off x="6351533" y="3534702"/>
              <a:ext cx="3290141" cy="1160193"/>
            </a:xfrm>
            <a:prstGeom prst="roundRect">
              <a:avLst>
                <a:gd name="adj" fmla="val 0"/>
              </a:avLst>
            </a:prstGeom>
            <a:solidFill>
              <a:srgbClr val="E97132">
                <a:lumMod val="20000"/>
                <a:lumOff val="80000"/>
              </a:srgbClr>
            </a:solidFill>
            <a:ln w="19050" cap="flat" cmpd="sng" algn="ctr">
              <a:solidFill>
                <a:srgbClr val="A02B93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API call to get weather in Hawaii</a:t>
              </a:r>
            </a:p>
          </p:txBody>
        </p: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8B314ED-2AF6-7543-9BF4-44F9B82158A2}"/>
                </a:ext>
              </a:extLst>
            </p:cNvPr>
            <p:cNvCxnSpPr>
              <a:cxnSpLocks/>
              <a:stCxn id="111" idx="2"/>
            </p:cNvCxnSpPr>
            <p:nvPr/>
          </p:nvCxnSpPr>
          <p:spPr>
            <a:xfrm flipH="1">
              <a:off x="8242129" y="3259920"/>
              <a:ext cx="1" cy="274781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solid"/>
              <a:miter lim="800000"/>
              <a:headEnd type="oval" w="med" len="med"/>
              <a:tailEnd type="oval" w="med" len="med"/>
            </a:ln>
            <a:effectLst/>
          </p:spPr>
        </p:cxn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5BF20950-0DA2-749C-4AA5-8FC984154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975944B-029C-F8F1-2B2A-E4D6E9BBF194}"/>
              </a:ext>
            </a:extLst>
          </p:cNvPr>
          <p:cNvSpPr txBox="1">
            <a:spLocks/>
          </p:cNvSpPr>
          <p:nvPr/>
        </p:nvSpPr>
        <p:spPr>
          <a:xfrm>
            <a:off x="574118" y="165337"/>
            <a:ext cx="824583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  <a:defRPr sz="27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LLM agent – </a:t>
            </a:r>
            <a:r>
              <a:rPr lang="en-US">
                <a:solidFill>
                  <a:schemeClr val="tx2"/>
                </a:solidFill>
              </a:rPr>
              <a:t>ReAct </a:t>
            </a:r>
            <a:r>
              <a:rPr lang="en-US"/>
              <a:t>and </a:t>
            </a:r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tool use</a:t>
            </a:r>
            <a:r>
              <a:rPr lang="en-US">
                <a:solidFill>
                  <a:schemeClr val="accent5">
                    <a:lumMod val="20000"/>
                    <a:lumOff val="80000"/>
                  </a:schemeClr>
                </a:solidFill>
              </a:rPr>
              <a:t> e</a:t>
            </a:r>
            <a:r>
              <a:rPr lang="en-US"/>
              <a:t>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1586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BB776-191E-2D4D-068B-BE5C7B2F2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2A0FC-4B61-96CB-1B93-744B3C6F16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685800"/>
            <a:fld id="{00000000-1234-1234-1234-123412341234}" type="slidenum">
              <a:rPr lang="en-US" kern="1200">
                <a:solidFill>
                  <a:srgbClr val="FFFFFF"/>
                </a:solidFill>
              </a:rPr>
              <a:pPr defTabSz="685800"/>
              <a:t>24</a:t>
            </a:fld>
            <a:endParaRPr lang="en-US" kern="1200" dirty="0">
              <a:solidFill>
                <a:srgbClr val="FFFFFF"/>
              </a:solidFill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ABAE7E6A-0BC7-9BB9-49DC-44381CA2C872}"/>
              </a:ext>
            </a:extLst>
          </p:cNvPr>
          <p:cNvSpPr/>
          <p:nvPr/>
        </p:nvSpPr>
        <p:spPr>
          <a:xfrm>
            <a:off x="3341607" y="1196425"/>
            <a:ext cx="1229710" cy="733097"/>
          </a:xfrm>
          <a:prstGeom prst="roundRect">
            <a:avLst/>
          </a:prstGeom>
          <a:solidFill>
            <a:srgbClr val="0F9ED5"/>
          </a:solidFill>
          <a:ln w="19050" cap="flat" cmpd="sng" algn="ctr">
            <a:solidFill>
              <a:srgbClr val="0F9E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LLM Brain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1EB7C95A-2C36-21B1-4FB6-9C8B9A356124}"/>
              </a:ext>
            </a:extLst>
          </p:cNvPr>
          <p:cNvSpPr/>
          <p:nvPr/>
        </p:nvSpPr>
        <p:spPr>
          <a:xfrm>
            <a:off x="684591" y="1399688"/>
            <a:ext cx="768568" cy="360636"/>
          </a:xfrm>
          <a:prstGeom prst="roundRect">
            <a:avLst/>
          </a:prstGeom>
          <a:solidFill>
            <a:srgbClr val="A02B93"/>
          </a:solidFill>
          <a:ln w="19050" cap="flat" cmpd="sng" algn="ctr">
            <a:solidFill>
              <a:srgbClr val="A02B93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Goal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ECEB31D7-00DB-4386-D6E6-498C6E80D1ED}"/>
              </a:ext>
            </a:extLst>
          </p:cNvPr>
          <p:cNvSpPr/>
          <p:nvPr/>
        </p:nvSpPr>
        <p:spPr>
          <a:xfrm>
            <a:off x="2133901" y="3216164"/>
            <a:ext cx="1229710" cy="733097"/>
          </a:xfrm>
          <a:prstGeom prst="roundRect">
            <a:avLst/>
          </a:prstGeom>
          <a:solidFill>
            <a:srgbClr val="4EA72E"/>
          </a:solidFill>
          <a:ln w="19050" cap="flat" cmpd="sng" algn="ctr">
            <a:solidFill>
              <a:srgbClr val="4EA72E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Memories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F0448456-6468-35DE-9CF0-5C9A0F2BC023}"/>
              </a:ext>
            </a:extLst>
          </p:cNvPr>
          <p:cNvSpPr/>
          <p:nvPr/>
        </p:nvSpPr>
        <p:spPr>
          <a:xfrm>
            <a:off x="2664727" y="2286703"/>
            <a:ext cx="863162" cy="496613"/>
          </a:xfrm>
          <a:prstGeom prst="roundRect">
            <a:avLst/>
          </a:prstGeom>
          <a:gradFill rotWithShape="1">
            <a:gsLst>
              <a:gs pos="0">
                <a:srgbClr val="4EA72E">
                  <a:satMod val="103000"/>
                  <a:lumMod val="102000"/>
                  <a:tint val="94000"/>
                </a:srgbClr>
              </a:gs>
              <a:gs pos="50000">
                <a:srgbClr val="4EA72E">
                  <a:satMod val="110000"/>
                  <a:lumMod val="100000"/>
                  <a:shade val="100000"/>
                </a:srgbClr>
              </a:gs>
              <a:gs pos="100000">
                <a:srgbClr val="4EA72E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1270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20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Relevant Memory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41A0C20-FD34-3CA9-00A0-C441D6F71315}"/>
              </a:ext>
            </a:extLst>
          </p:cNvPr>
          <p:cNvCxnSpPr>
            <a:cxnSpLocks/>
            <a:endCxn id="91" idx="1"/>
          </p:cNvCxnSpPr>
          <p:nvPr/>
        </p:nvCxnSpPr>
        <p:spPr>
          <a:xfrm flipV="1">
            <a:off x="1496743" y="1562973"/>
            <a:ext cx="1844864" cy="17033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0D9B668-3A3C-ED05-5393-261C0023B358}"/>
              </a:ext>
            </a:extLst>
          </p:cNvPr>
          <p:cNvCxnSpPr>
            <a:cxnSpLocks/>
          </p:cNvCxnSpPr>
          <p:nvPr/>
        </p:nvCxnSpPr>
        <p:spPr>
          <a:xfrm>
            <a:off x="2406647" y="1580006"/>
            <a:ext cx="0" cy="150609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EFBD6B2B-70F1-7479-A415-8356254679F4}"/>
              </a:ext>
            </a:extLst>
          </p:cNvPr>
          <p:cNvCxnSpPr>
            <a:cxnSpLocks/>
          </p:cNvCxnSpPr>
          <p:nvPr/>
        </p:nvCxnSpPr>
        <p:spPr>
          <a:xfrm flipV="1">
            <a:off x="3086889" y="2820057"/>
            <a:ext cx="0" cy="312467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D14A225-E96F-FA3B-C07D-742837F6A9F3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207968" cy="0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0F04F6AB-FC59-510C-541C-87787C9C02D2}"/>
              </a:ext>
            </a:extLst>
          </p:cNvPr>
          <p:cNvCxnSpPr>
            <a:cxnSpLocks/>
          </p:cNvCxnSpPr>
          <p:nvPr/>
        </p:nvCxnSpPr>
        <p:spPr>
          <a:xfrm>
            <a:off x="3086889" y="1760324"/>
            <a:ext cx="9419" cy="463914"/>
          </a:xfrm>
          <a:prstGeom prst="straightConnector1">
            <a:avLst/>
          </a:prstGeom>
          <a:noFill/>
          <a:ln w="41275" cap="flat" cmpd="sng" algn="ctr">
            <a:solidFill>
              <a:schemeClr val="bg1"/>
            </a:solidFill>
            <a:prstDash val="solid"/>
            <a:miter lim="800000"/>
            <a:tailEnd type="none"/>
          </a:ln>
          <a:effectLst/>
        </p:spPr>
      </p:cxnSp>
      <p:grpSp>
        <p:nvGrpSpPr>
          <p:cNvPr id="123" name="Final output">
            <a:extLst>
              <a:ext uri="{FF2B5EF4-FFF2-40B4-BE49-F238E27FC236}">
                <a16:creationId xmlns:a16="http://schemas.microsoft.com/office/drawing/2014/main" id="{75D4208E-495E-EDB4-C857-A2D2201E4E8E}"/>
              </a:ext>
            </a:extLst>
          </p:cNvPr>
          <p:cNvGrpSpPr/>
          <p:nvPr/>
        </p:nvGrpSpPr>
        <p:grpSpPr>
          <a:xfrm>
            <a:off x="4618068" y="1164366"/>
            <a:ext cx="4058956" cy="846347"/>
            <a:chOff x="8547456" y="6075491"/>
            <a:chExt cx="5411941" cy="1128463"/>
          </a:xfrm>
        </p:grpSpPr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49FE17BF-54E0-9159-6E16-4426F0E90CF8}"/>
                </a:ext>
              </a:extLst>
            </p:cNvPr>
            <p:cNvSpPr/>
            <p:nvPr/>
          </p:nvSpPr>
          <p:spPr>
            <a:xfrm>
              <a:off x="9962613" y="6075491"/>
              <a:ext cx="3996784" cy="1128463"/>
            </a:xfrm>
            <a:prstGeom prst="roundRect">
              <a:avLst>
                <a:gd name="adj" fmla="val 0"/>
              </a:avLst>
            </a:prstGeom>
            <a:solidFill>
              <a:srgbClr val="A02B93">
                <a:lumMod val="20000"/>
                <a:lumOff val="80000"/>
              </a:srgbClr>
            </a:solidFill>
            <a:ln w="19050" cap="flat" cmpd="sng" algn="ctr">
              <a:solidFill>
                <a:srgbClr val="A02B93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defTabSz="685800">
                <a:buClrTx/>
                <a:defRPr/>
              </a:pPr>
              <a:r>
                <a:rPr lang="en-US" sz="1350" b="1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Final output text:</a:t>
              </a:r>
            </a:p>
            <a:p>
              <a:pPr defTabSz="685800">
                <a:buClrTx/>
                <a:defRPr/>
              </a:pPr>
              <a:r>
                <a:rPr lang="en-US" sz="135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Keck Observatory is  located on the summit of Mauna Kea where the current weather is 16°C</a:t>
              </a:r>
            </a:p>
          </p:txBody>
        </p: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B30A31F4-1201-4646-07C0-37F2896D47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7456" y="6547556"/>
              <a:ext cx="1399446" cy="12920"/>
            </a:xfrm>
            <a:prstGeom prst="straightConnector1">
              <a:avLst/>
            </a:prstGeom>
            <a:noFill/>
            <a:ln w="41275" cap="flat" cmpd="sng" algn="ctr">
              <a:solidFill>
                <a:schemeClr val="bg1"/>
              </a:solidFill>
              <a:prstDash val="solid"/>
              <a:miter lim="800000"/>
              <a:tailEnd type="triangle"/>
            </a:ln>
            <a:effectLst/>
          </p:spPr>
        </p:cxn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904FBAD8-75F8-7215-FD06-97D531497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A17A96-1051-0B74-9192-BF47A879B6C3}"/>
              </a:ext>
            </a:extLst>
          </p:cNvPr>
          <p:cNvSpPr txBox="1">
            <a:spLocks/>
          </p:cNvSpPr>
          <p:nvPr/>
        </p:nvSpPr>
        <p:spPr>
          <a:xfrm>
            <a:off x="534929" y="126148"/>
            <a:ext cx="824583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  <a:defRPr sz="27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LLM agent – </a:t>
            </a:r>
            <a:r>
              <a:rPr lang="en-US">
                <a:solidFill>
                  <a:schemeClr val="tx2"/>
                </a:solidFill>
              </a:rPr>
              <a:t>ReAct </a:t>
            </a:r>
            <a:r>
              <a:rPr lang="en-US"/>
              <a:t>and </a:t>
            </a:r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tool use</a:t>
            </a:r>
            <a:r>
              <a:rPr lang="en-US">
                <a:solidFill>
                  <a:schemeClr val="accent5">
                    <a:lumMod val="20000"/>
                    <a:lumOff val="80000"/>
                  </a:schemeClr>
                </a:solidFill>
              </a:rPr>
              <a:t> e</a:t>
            </a:r>
            <a:r>
              <a:rPr lang="en-US"/>
              <a:t>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1038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B0F0B-6B27-DA0F-4566-C14779C69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Capabilities of LLM-based agentic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2FBA5-8982-9818-849F-5ABD247E7D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685800"/>
            <a:fld id="{00000000-1234-1234-1234-123412341234}" type="slidenum">
              <a:rPr lang="en-US" kern="1200">
                <a:solidFill>
                  <a:srgbClr val="FFFFFF"/>
                </a:solidFill>
              </a:rPr>
              <a:pPr defTabSz="685800"/>
              <a:t>25</a:t>
            </a:fld>
            <a:endParaRPr lang="en-US" kern="1200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1E72FF-7F6B-2ECF-BBFB-93846A9DA768}"/>
              </a:ext>
            </a:extLst>
          </p:cNvPr>
          <p:cNvSpPr txBox="1"/>
          <p:nvPr/>
        </p:nvSpPr>
        <p:spPr>
          <a:xfrm>
            <a:off x="513160" y="1506684"/>
            <a:ext cx="7282763" cy="2985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14313" indent="-214313" defTabSz="685800">
              <a:buClrTx/>
              <a:buFont typeface="Arial" panose="020B0604020202020204" pitchFamily="34" charset="0"/>
              <a:buChar char="•"/>
            </a:pPr>
            <a:r>
              <a:rPr lang="en-US" sz="1350" kern="1200" dirty="0">
                <a:solidFill>
                  <a:srgbClr val="FFFFFF"/>
                </a:solidFill>
                <a:ea typeface="+mn-ea"/>
                <a:cs typeface="+mn-cs"/>
              </a:rPr>
              <a:t>LLMs can only directly provide solutions to word problems</a:t>
            </a:r>
          </a:p>
          <a:p>
            <a:pPr marL="557213" lvl="1" indent="-214313" defTabSz="685800">
              <a:buClrTx/>
              <a:buFont typeface="Arial" panose="020B0604020202020204" pitchFamily="34" charset="0"/>
              <a:buChar char="•"/>
            </a:pPr>
            <a:r>
              <a:rPr lang="en-US" sz="1350" kern="1200" dirty="0">
                <a:solidFill>
                  <a:srgbClr val="FFFFFF"/>
                </a:solidFill>
                <a:ea typeface="+mn-ea"/>
                <a:cs typeface="+mn-cs"/>
              </a:rPr>
              <a:t>knowledge retrieval</a:t>
            </a:r>
          </a:p>
          <a:p>
            <a:pPr marL="557213" lvl="1" indent="-214313" defTabSz="685800">
              <a:buClrTx/>
              <a:buFont typeface="Arial" panose="020B0604020202020204" pitchFamily="34" charset="0"/>
              <a:buChar char="•"/>
            </a:pPr>
            <a:r>
              <a:rPr lang="en-US" sz="1350" kern="1200" dirty="0">
                <a:solidFill>
                  <a:srgbClr val="FFFFFF"/>
                </a:solidFill>
                <a:ea typeface="+mn-ea"/>
                <a:cs typeface="+mn-cs"/>
              </a:rPr>
              <a:t>structure unstructured text</a:t>
            </a:r>
          </a:p>
          <a:p>
            <a:pPr marL="557213" lvl="1" indent="-214313" defTabSz="685800">
              <a:buClrTx/>
              <a:buFont typeface="Arial" panose="020B0604020202020204" pitchFamily="34" charset="0"/>
              <a:buChar char="•"/>
            </a:pPr>
            <a:r>
              <a:rPr lang="en-US" sz="1350" kern="1200" dirty="0">
                <a:solidFill>
                  <a:srgbClr val="FFFFFF"/>
                </a:solidFill>
                <a:ea typeface="+mn-ea"/>
                <a:cs typeface="+mn-cs"/>
              </a:rPr>
              <a:t>generate code</a:t>
            </a:r>
          </a:p>
          <a:p>
            <a:pPr marL="557213" lvl="1" indent="-214313" defTabSz="685800">
              <a:buClrTx/>
              <a:buFont typeface="Arial" panose="020B0604020202020204" pitchFamily="34" charset="0"/>
              <a:buChar char="•"/>
            </a:pPr>
            <a:r>
              <a:rPr lang="en-US" sz="1350" kern="1200" dirty="0">
                <a:solidFill>
                  <a:srgbClr val="FFFFFF"/>
                </a:solidFill>
                <a:ea typeface="+mn-ea"/>
                <a:cs typeface="+mn-cs"/>
              </a:rPr>
              <a:t>classify text/images</a:t>
            </a:r>
          </a:p>
          <a:p>
            <a:pPr marL="557213" lvl="1" indent="-214313" defTabSz="685800">
              <a:buClrTx/>
              <a:buFont typeface="Arial" panose="020B0604020202020204" pitchFamily="34" charset="0"/>
              <a:buChar char="•"/>
            </a:pPr>
            <a:r>
              <a:rPr lang="en-US" sz="1350" kern="1200" dirty="0">
                <a:solidFill>
                  <a:srgbClr val="FFFFFF"/>
                </a:solidFill>
                <a:ea typeface="+mn-ea"/>
                <a:cs typeface="+mn-cs"/>
              </a:rPr>
              <a:t>solve logic puzzles (given </a:t>
            </a:r>
            <a:r>
              <a:rPr lang="en-US" sz="1350" i="1" kern="1200" dirty="0">
                <a:solidFill>
                  <a:srgbClr val="FFFFFF"/>
                </a:solidFill>
                <a:ea typeface="+mn-ea"/>
                <a:cs typeface="+mn-cs"/>
              </a:rPr>
              <a:t>X</a:t>
            </a:r>
            <a:r>
              <a:rPr lang="en-US" sz="1350" kern="1200" dirty="0">
                <a:solidFill>
                  <a:srgbClr val="FFFFFF"/>
                </a:solidFill>
                <a:ea typeface="+mn-ea"/>
                <a:cs typeface="+mn-cs"/>
              </a:rPr>
              <a:t> what should I do next?)</a:t>
            </a:r>
          </a:p>
          <a:p>
            <a:pPr marL="214313" indent="-214313" defTabSz="685800">
              <a:spcBef>
                <a:spcPts val="450"/>
              </a:spcBef>
              <a:buClrTx/>
              <a:buFont typeface="Arial" panose="020B0604020202020204" pitchFamily="34" charset="0"/>
              <a:buChar char="•"/>
            </a:pPr>
            <a:r>
              <a:rPr lang="en-US" sz="1350" kern="1200" dirty="0">
                <a:solidFill>
                  <a:srgbClr val="FFFFFF"/>
                </a:solidFill>
                <a:ea typeface="+mn-ea"/>
                <a:cs typeface="+mn-cs"/>
              </a:rPr>
              <a:t>Most of what agents </a:t>
            </a:r>
            <a:r>
              <a:rPr lang="en-US" sz="1350" i="1" kern="1200" dirty="0">
                <a:solidFill>
                  <a:srgbClr val="FFFFFF"/>
                </a:solidFill>
                <a:ea typeface="+mn-ea"/>
                <a:cs typeface="+mn-cs"/>
              </a:rPr>
              <a:t>do</a:t>
            </a:r>
            <a:r>
              <a:rPr lang="en-US" sz="1350" kern="1200" dirty="0">
                <a:solidFill>
                  <a:srgbClr val="FFFFFF"/>
                </a:solidFill>
                <a:ea typeface="+mn-ea"/>
                <a:cs typeface="+mn-cs"/>
              </a:rPr>
              <a:t> is autonomously execute existing software</a:t>
            </a:r>
          </a:p>
          <a:p>
            <a:pPr marL="257175" indent="-257175" defTabSz="685800">
              <a:buClrTx/>
              <a:buFont typeface="+mj-lt"/>
              <a:buAutoNum type="arabicPeriod"/>
            </a:pPr>
            <a:endParaRPr lang="en-US" sz="1350" kern="1200" dirty="0">
              <a:solidFill>
                <a:srgbClr val="FFFFFF"/>
              </a:solidFill>
              <a:ea typeface="+mn-ea"/>
              <a:cs typeface="+mn-cs"/>
            </a:endParaRPr>
          </a:p>
          <a:p>
            <a:pPr defTabSz="685800">
              <a:buClrTx/>
            </a:pPr>
            <a:r>
              <a:rPr lang="en-US" sz="1350" b="1" u="sng" kern="1200" dirty="0">
                <a:solidFill>
                  <a:srgbClr val="FFFFFF"/>
                </a:solidFill>
                <a:ea typeface="+mn-ea"/>
                <a:cs typeface="+mn-cs"/>
              </a:rPr>
              <a:t>How to build an agent checklist</a:t>
            </a:r>
            <a:endParaRPr lang="en-US" sz="1350" kern="1200" dirty="0">
              <a:solidFill>
                <a:srgbClr val="FFFFFF"/>
              </a:solidFill>
              <a:ea typeface="+mn-ea"/>
              <a:cs typeface="+mn-cs"/>
            </a:endParaRPr>
          </a:p>
          <a:p>
            <a:pPr marL="257175" indent="-257175" defTabSz="685800">
              <a:spcBef>
                <a:spcPts val="450"/>
              </a:spcBef>
              <a:buClrTx/>
              <a:buFont typeface="+mj-lt"/>
              <a:buAutoNum type="arabicPeriod"/>
            </a:pPr>
            <a:r>
              <a:rPr lang="en-US" sz="1350" kern="1200" dirty="0">
                <a:solidFill>
                  <a:srgbClr val="FFFFFF"/>
                </a:solidFill>
                <a:ea typeface="+mn-ea"/>
                <a:cs typeface="+mn-cs"/>
              </a:rPr>
              <a:t>How do I organize the information that I send to the LLM so that it can solve my problem?</a:t>
            </a:r>
          </a:p>
          <a:p>
            <a:pPr marL="557213" lvl="1" indent="-214313" defTabSz="685800">
              <a:buClrTx/>
              <a:buFont typeface="Arial" panose="020B0604020202020204" pitchFamily="34" charset="0"/>
              <a:buChar char="•"/>
            </a:pPr>
            <a:r>
              <a:rPr lang="en-US" sz="1350" kern="1200" dirty="0">
                <a:solidFill>
                  <a:srgbClr val="FFFFFF"/>
                </a:solidFill>
                <a:ea typeface="+mn-ea"/>
                <a:cs typeface="+mn-cs"/>
              </a:rPr>
              <a:t>How much text can I input and generate at once?</a:t>
            </a:r>
          </a:p>
          <a:p>
            <a:pPr marL="557213" lvl="1" indent="-214313" defTabSz="685800">
              <a:buClrTx/>
              <a:buFont typeface="Arial" panose="020B0604020202020204" pitchFamily="34" charset="0"/>
              <a:buChar char="•"/>
            </a:pPr>
            <a:r>
              <a:rPr lang="en-US" sz="1350" kern="1200" dirty="0">
                <a:solidFill>
                  <a:srgbClr val="FFFFFF"/>
                </a:solidFill>
                <a:ea typeface="+mn-ea"/>
                <a:cs typeface="+mn-cs"/>
              </a:rPr>
              <a:t>How fast can I run my model? </a:t>
            </a:r>
          </a:p>
          <a:p>
            <a:pPr marL="257175" indent="-257175" defTabSz="685800">
              <a:spcBef>
                <a:spcPts val="450"/>
              </a:spcBef>
              <a:buClrTx/>
              <a:buFont typeface="+mj-lt"/>
              <a:buAutoNum type="arabicPeriod"/>
            </a:pPr>
            <a:r>
              <a:rPr lang="en-US" sz="1350" kern="1200" dirty="0">
                <a:solidFill>
                  <a:srgbClr val="FFFFFF"/>
                </a:solidFill>
                <a:ea typeface="+mn-ea"/>
                <a:cs typeface="+mn-cs"/>
              </a:rPr>
              <a:t>What software do I need to write for my agent to use?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34AE9A-2E54-93F3-5CE3-7EA19452EC1B}"/>
              </a:ext>
            </a:extLst>
          </p:cNvPr>
          <p:cNvSpPr/>
          <p:nvPr/>
        </p:nvSpPr>
        <p:spPr>
          <a:xfrm>
            <a:off x="728664" y="2806789"/>
            <a:ext cx="5154215" cy="278606"/>
          </a:xfrm>
          <a:prstGeom prst="rect">
            <a:avLst/>
          </a:prstGeom>
          <a:solidFill>
            <a:srgbClr val="FFFF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endParaRPr lang="en-US" sz="1350" kern="120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9781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theme/theme1.xml><?xml version="1.0" encoding="utf-8"?>
<a:theme xmlns:a="http://schemas.openxmlformats.org/drawingml/2006/main" name="SC-15">
  <a:themeElements>
    <a:clrScheme name="Custom 1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FEFB00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C-15">
  <a:themeElements>
    <a:clrScheme name="Custom 1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FEFB00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29542</TotalTime>
  <Words>1648</Words>
  <Application>Microsoft Macintosh PowerPoint</Application>
  <PresentationFormat>On-screen Show (16:9)</PresentationFormat>
  <Paragraphs>332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Aptos</vt:lpstr>
      <vt:lpstr>Aptos Narrow</vt:lpstr>
      <vt:lpstr>Arial</vt:lpstr>
      <vt:lpstr>Cambria Math</vt:lpstr>
      <vt:lpstr>Century Gothic</vt:lpstr>
      <vt:lpstr>NimbusRomNo9L</vt:lpstr>
      <vt:lpstr>Noto Sans Symbols</vt:lpstr>
      <vt:lpstr>Wingdings</vt:lpstr>
      <vt:lpstr>SC-15</vt:lpstr>
      <vt:lpstr>1_SC-15</vt:lpstr>
      <vt:lpstr>Brief Overview of LLMs, and RAG, Plus Optional Content on AI Agents</vt:lpstr>
      <vt:lpstr>LLM is just text in and text out</vt:lpstr>
      <vt:lpstr>Retrieval Augmented Generation (RAG)</vt:lpstr>
      <vt:lpstr>Capabilities and Limitations of LLMs and RAG</vt:lpstr>
      <vt:lpstr>Extra Slides</vt:lpstr>
      <vt:lpstr>How fast can I run my model?</vt:lpstr>
      <vt:lpstr>What are AI agents?</vt:lpstr>
      <vt:lpstr>Key functionalities an agent needs</vt:lpstr>
      <vt:lpstr>LLM agent - goal decomposition and tool use example</vt:lpstr>
      <vt:lpstr>LLM agent - goal decomposition and tool use example</vt:lpstr>
      <vt:lpstr>LLM agent - goal decomposition and tool use example</vt:lpstr>
      <vt:lpstr>LLM agent - goal decomposition and tool use example</vt:lpstr>
      <vt:lpstr>LLM agent - goal decomposition and tool use example</vt:lpstr>
      <vt:lpstr>LLM agent - goal decomposition and tool use example</vt:lpstr>
      <vt:lpstr>ReAct</vt:lpstr>
      <vt:lpstr>LLM agent – ReAct and tool use example</vt:lpstr>
      <vt:lpstr>PowerPoint Presentation</vt:lpstr>
      <vt:lpstr>LLM agent – ReAct and tool use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Capabilities of LLM-based agentic systems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Duncan, Juliana</cp:lastModifiedBy>
  <cp:revision>50</cp:revision>
  <dcterms:modified xsi:type="dcterms:W3CDTF">2026-04-21T21:02:57Z</dcterms:modified>
</cp:coreProperties>
</file>